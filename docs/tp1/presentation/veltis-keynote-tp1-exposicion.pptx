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ee7c8cfea949a7" /><Relationship Type="http://schemas.openxmlformats.org/officeDocument/2006/relationships/extended-properties" Target="/docProps/app.xml" Id="Rfbac7ec4a0134bd8" /><Relationship Type="http://schemas.openxmlformats.org/officeDocument/2006/relationships/officeDocument" Target="/ppt/presentation.xml" Id="R31b68bb3094e4b05"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652a22ac45134b1f"/>
  </p:sldMasterIdLst>
  <p:notesMasterIdLst>
    <p:notesMasterId xmlns:r="http://schemas.openxmlformats.org/officeDocument/2006/relationships" r:id="R57a64cba51cf4e89"/>
  </p:notesMasterIdLst>
  <p:sldIdLst>
    <p:sldId xmlns:r="http://schemas.openxmlformats.org/officeDocument/2006/relationships" id="256" r:id="Ra1b9885d65cc4599"/>
    <p:sldId xmlns:r="http://schemas.openxmlformats.org/officeDocument/2006/relationships" id="257" r:id="R4084b82ffb4e4af6"/>
    <p:sldId xmlns:r="http://schemas.openxmlformats.org/officeDocument/2006/relationships" id="258" r:id="R0990d827ca0d489a"/>
    <p:sldId xmlns:r="http://schemas.openxmlformats.org/officeDocument/2006/relationships" id="259" r:id="Re6b469915095411e"/>
    <p:sldId xmlns:r="http://schemas.openxmlformats.org/officeDocument/2006/relationships" id="260" r:id="R2137443306964523"/>
    <p:sldId xmlns:r="http://schemas.openxmlformats.org/officeDocument/2006/relationships" id="261" r:id="R547b6fd49e56495a"/>
    <p:sldId xmlns:r="http://schemas.openxmlformats.org/officeDocument/2006/relationships" id="262" r:id="Rf72aebadb0b64672"/>
    <p:sldId xmlns:r="http://schemas.openxmlformats.org/officeDocument/2006/relationships" id="263" r:id="R8bd593ca53da4fea"/>
    <p:sldId xmlns:r="http://schemas.openxmlformats.org/officeDocument/2006/relationships" id="264" r:id="Rd3e19404b669483b"/>
    <p:sldId xmlns:r="http://schemas.openxmlformats.org/officeDocument/2006/relationships" id="265" r:id="Rf2127a87e45d4165"/>
    <p:sldId xmlns:r="http://schemas.openxmlformats.org/officeDocument/2006/relationships" id="266" r:id="Raebc5fb84d794442"/>
    <p:sldId xmlns:r="http://schemas.openxmlformats.org/officeDocument/2006/relationships" id="267" r:id="R7a74b3aa63174a7e"/>
    <p:sldId xmlns:r="http://schemas.openxmlformats.org/officeDocument/2006/relationships" id="268" r:id="R1711ca2f9acc43ce"/>
    <p:sldId xmlns:r="http://schemas.openxmlformats.org/officeDocument/2006/relationships" id="269" r:id="Ra7767fc7b78f429f"/>
    <p:sldId xmlns:r="http://schemas.openxmlformats.org/officeDocument/2006/relationships" id="270" r:id="R9853798a72ca4a70"/>
    <p:sldId xmlns:r="http://schemas.openxmlformats.org/officeDocument/2006/relationships" id="271" r:id="R01587acc005e400a"/>
    <p:sldId xmlns:r="http://schemas.openxmlformats.org/officeDocument/2006/relationships" id="272" r:id="Ra79eea1be4c34c23"/>
    <p:sldId xmlns:r="http://schemas.openxmlformats.org/officeDocument/2006/relationships" id="273" r:id="R3eaf3be2f40d4c04"/>
    <p:sldId xmlns:r="http://schemas.openxmlformats.org/officeDocument/2006/relationships" id="274" r:id="Rddbffe04481e438e"/>
    <p:sldId xmlns:r="http://schemas.openxmlformats.org/officeDocument/2006/relationships" id="275" r:id="Rf32f20f34a0d474a"/>
    <p:sldId xmlns:r="http://schemas.openxmlformats.org/officeDocument/2006/relationships" id="276" r:id="R59af1bc498a84ba2"/>
    <p:sldId xmlns:r="http://schemas.openxmlformats.org/officeDocument/2006/relationships" id="277" r:id="Rcd34f25b07434c7b"/>
    <p:sldId xmlns:r="http://schemas.openxmlformats.org/officeDocument/2006/relationships" id="278" r:id="R9ef371abcd8b4697"/>
    <p:sldId xmlns:r="http://schemas.openxmlformats.org/officeDocument/2006/relationships" id="279" r:id="Racdae649e10b4733"/>
    <p:sldId xmlns:r="http://schemas.openxmlformats.org/officeDocument/2006/relationships" id="280" r:id="R7058c5d9a1554c7b"/>
    <p:sldId xmlns:r="http://schemas.openxmlformats.org/officeDocument/2006/relationships" id="281" r:id="R6b6d03351d354e5e"/>
    <p:sldId xmlns:r="http://schemas.openxmlformats.org/officeDocument/2006/relationships" id="282" r:id="R1471da51ae064655"/>
    <p:sldId xmlns:r="http://schemas.openxmlformats.org/officeDocument/2006/relationships" id="283" r:id="R3223ab66765b41af"/>
    <p:sldId xmlns:r="http://schemas.openxmlformats.org/officeDocument/2006/relationships" id="284" r:id="Rea22c4df41914702"/>
    <p:sldId xmlns:r="http://schemas.openxmlformats.org/officeDocument/2006/relationships" id="285" r:id="R57ad7547316d4a8f"/>
    <p:sldId xmlns:r="http://schemas.openxmlformats.org/officeDocument/2006/relationships" id="286" r:id="R66519288f374438a"/>
    <p:sldId xmlns:r="http://schemas.openxmlformats.org/officeDocument/2006/relationships" id="287" r:id="Rc4fcb051ee0546e9"/>
    <p:sldId xmlns:r="http://schemas.openxmlformats.org/officeDocument/2006/relationships" id="288" r:id="R1e9305720b0947af"/>
    <p:sldId xmlns:r="http://schemas.openxmlformats.org/officeDocument/2006/relationships" id="289" r:id="Rdc8d03ad274848e2"/>
    <p:sldId xmlns:r="http://schemas.openxmlformats.org/officeDocument/2006/relationships" id="290" r:id="R37bd5acf960d4a3f"/>
    <p:sldId xmlns:r="http://schemas.openxmlformats.org/officeDocument/2006/relationships" id="291" r:id="R12443ce8fe454a29"/>
  </p:sldIdLst>
  <p:sldSz cx="18288000" cy="10287000"/>
  <p:notesSz cx="6858000" cy="9144000"/>
  <p:embeddedFontLst>
    <p:embeddedFont>
      <p:font typeface="Calibri (MS)"/>
      <p:regular xmlns:r="http://schemas.openxmlformats.org/officeDocument/2006/relationships" r:id="R8fd04e7f3165408a"/>
    </p:embeddedFont>
    <p:embeddedFont>
      <p:font typeface="Calibri (MS) Bold"/>
      <p:regular xmlns:r="http://schemas.openxmlformats.org/officeDocument/2006/relationships" r:id="Re9cfc3f04bbb4103"/>
    </p:embeddedFont>
    <p:embeddedFont>
      <p:font typeface="Calibri (MS) Italics"/>
      <p:regular xmlns:r="http://schemas.openxmlformats.org/officeDocument/2006/relationships" r:id="Rcd4fdd629e594485"/>
    </p:embeddedFont>
    <p:embeddedFont>
      <p:font typeface="Cambria Bold"/>
      <p:bold xmlns:r="http://schemas.openxmlformats.org/officeDocument/2006/relationships" r:id="R5391dbb5e2ba45ee"/>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b021f7867dc49b2" /><Relationship Type="http://schemas.openxmlformats.org/officeDocument/2006/relationships/slideMaster" Target="/ppt/slideMasters/slideMaster1.xml" Id="R652a22ac45134b1f" /><Relationship Type="http://schemas.openxmlformats.org/officeDocument/2006/relationships/notesMaster" Target="/ppt/notesMasters/notesMaster1.xml" Id="R57a64cba51cf4e89" /><Relationship Type="http://schemas.openxmlformats.org/officeDocument/2006/relationships/presProps" Target="/ppt/presProps.xml" Id="Raaae163312324d2d" /><Relationship Type="http://schemas.openxmlformats.org/officeDocument/2006/relationships/viewProps" Target="/ppt/viewProps.xml" Id="R8211fe3cd3cc4fad" /><Relationship Type="http://schemas.openxmlformats.org/officeDocument/2006/relationships/tableStyles" Target="/ppt/tableStyles.xml" Id="R69d2fc5fdd6e4b0b" /><Relationship Type="http://schemas.openxmlformats.org/officeDocument/2006/relationships/font" Target="/ppt/fonts/font.dat" Id="R8fd04e7f3165408a" /><Relationship Type="http://schemas.openxmlformats.org/officeDocument/2006/relationships/font" Target="/ppt/fonts/font2.dat" Id="Re9cfc3f04bbb4103" /><Relationship Type="http://schemas.openxmlformats.org/officeDocument/2006/relationships/font" Target="/ppt/fonts/font3.dat" Id="Rcd4fdd629e594485" /><Relationship Type="http://schemas.openxmlformats.org/officeDocument/2006/relationships/font" Target="/ppt/fonts/font4.dat" Id="R5391dbb5e2ba45ee" /><Relationship Type="http://schemas.openxmlformats.org/officeDocument/2006/relationships/slide" Target="/ppt/slides/slide1.xml" Id="Ra1b9885d65cc4599" /><Relationship Type="http://schemas.openxmlformats.org/officeDocument/2006/relationships/slide" Target="/ppt/slides/slide2.xml" Id="R4084b82ffb4e4af6" /><Relationship Type="http://schemas.openxmlformats.org/officeDocument/2006/relationships/slide" Target="/ppt/slides/slide3.xml" Id="R0990d827ca0d489a" /><Relationship Type="http://schemas.openxmlformats.org/officeDocument/2006/relationships/slide" Target="/ppt/slides/slide4.xml" Id="Re6b469915095411e" /><Relationship Type="http://schemas.openxmlformats.org/officeDocument/2006/relationships/slide" Target="/ppt/slides/slide5.xml" Id="R2137443306964523" /><Relationship Type="http://schemas.openxmlformats.org/officeDocument/2006/relationships/slide" Target="/ppt/slides/slide6.xml" Id="R547b6fd49e56495a" /><Relationship Type="http://schemas.openxmlformats.org/officeDocument/2006/relationships/slide" Target="/ppt/slides/slide7.xml" Id="Rf72aebadb0b64672" /><Relationship Type="http://schemas.openxmlformats.org/officeDocument/2006/relationships/slide" Target="/ppt/slides/slide8.xml" Id="R8bd593ca53da4fea" /><Relationship Type="http://schemas.openxmlformats.org/officeDocument/2006/relationships/slide" Target="/ppt/slides/slide9.xml" Id="Rd3e19404b669483b" /><Relationship Type="http://schemas.openxmlformats.org/officeDocument/2006/relationships/slide" Target="/ppt/slides/slide10.xml" Id="Rf2127a87e45d4165" /><Relationship Type="http://schemas.openxmlformats.org/officeDocument/2006/relationships/slide" Target="/ppt/slides/slide11.xml" Id="Raebc5fb84d794442" /><Relationship Type="http://schemas.openxmlformats.org/officeDocument/2006/relationships/slide" Target="/ppt/slides/slide12.xml" Id="R7a74b3aa63174a7e" /><Relationship Type="http://schemas.openxmlformats.org/officeDocument/2006/relationships/slide" Target="/ppt/slides/slide13.xml" Id="R1711ca2f9acc43ce" /><Relationship Type="http://schemas.openxmlformats.org/officeDocument/2006/relationships/slide" Target="/ppt/slides/slide14.xml" Id="Ra7767fc7b78f429f" /><Relationship Type="http://schemas.openxmlformats.org/officeDocument/2006/relationships/slide" Target="/ppt/slides/slide15.xml" Id="R9853798a72ca4a70" /><Relationship Type="http://schemas.openxmlformats.org/officeDocument/2006/relationships/slide" Target="/ppt/slides/slide16.xml" Id="R01587acc005e400a" /><Relationship Type="http://schemas.openxmlformats.org/officeDocument/2006/relationships/slide" Target="/ppt/slides/slide17.xml" Id="Ra79eea1be4c34c23" /><Relationship Type="http://schemas.openxmlformats.org/officeDocument/2006/relationships/slide" Target="/ppt/slides/slide18.xml" Id="R3eaf3be2f40d4c04" /><Relationship Type="http://schemas.openxmlformats.org/officeDocument/2006/relationships/slide" Target="/ppt/slides/slide19.xml" Id="Rddbffe04481e438e" /><Relationship Type="http://schemas.openxmlformats.org/officeDocument/2006/relationships/slide" Target="/ppt/slides/slide20.xml" Id="Rf32f20f34a0d474a" /><Relationship Type="http://schemas.openxmlformats.org/officeDocument/2006/relationships/slide" Target="/ppt/slides/slide21.xml" Id="R59af1bc498a84ba2" /><Relationship Type="http://schemas.openxmlformats.org/officeDocument/2006/relationships/slide" Target="/ppt/slides/slide22.xml" Id="Rcd34f25b07434c7b" /><Relationship Type="http://schemas.openxmlformats.org/officeDocument/2006/relationships/slide" Target="/ppt/slides/slide23.xml" Id="R9ef371abcd8b4697" /><Relationship Type="http://schemas.openxmlformats.org/officeDocument/2006/relationships/slide" Target="/ppt/slides/slide24.xml" Id="Racdae649e10b4733" /><Relationship Type="http://schemas.openxmlformats.org/officeDocument/2006/relationships/slide" Target="/ppt/slides/slide25.xml" Id="R7058c5d9a1554c7b" /><Relationship Type="http://schemas.openxmlformats.org/officeDocument/2006/relationships/slide" Target="/ppt/slides/slide26.xml" Id="R6b6d03351d354e5e" /><Relationship Type="http://schemas.openxmlformats.org/officeDocument/2006/relationships/slide" Target="/ppt/slides/slide27.xml" Id="R1471da51ae064655" /><Relationship Type="http://schemas.openxmlformats.org/officeDocument/2006/relationships/slide" Target="/ppt/slides/slide28.xml" Id="R3223ab66765b41af" /><Relationship Type="http://schemas.openxmlformats.org/officeDocument/2006/relationships/slide" Target="/ppt/slides/slide29.xml" Id="Rea22c4df41914702" /><Relationship Type="http://schemas.openxmlformats.org/officeDocument/2006/relationships/slide" Target="/ppt/slides/slide30.xml" Id="R57ad7547316d4a8f" /><Relationship Type="http://schemas.openxmlformats.org/officeDocument/2006/relationships/slide" Target="/ppt/slides/slide31.xml" Id="R66519288f374438a" /><Relationship Type="http://schemas.openxmlformats.org/officeDocument/2006/relationships/slide" Target="/ppt/slides/slide32.xml" Id="Rc4fcb051ee0546e9" /><Relationship Type="http://schemas.openxmlformats.org/officeDocument/2006/relationships/slide" Target="/ppt/slides/slide33.xml" Id="R1e9305720b0947af" /><Relationship Type="http://schemas.openxmlformats.org/officeDocument/2006/relationships/slide" Target="/ppt/slides/slide34.xml" Id="Rdc8d03ad274848e2" /><Relationship Type="http://schemas.openxmlformats.org/officeDocument/2006/relationships/slide" Target="/ppt/slides/slide35.xml" Id="R37bd5acf960d4a3f" /><Relationship Type="http://schemas.openxmlformats.org/officeDocument/2006/relationships/slide" Target="/ppt/slides/slide36.xml" Id="R12443ce8fe454a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9d9467474642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7503be43af46b3" /><Relationship Type="http://schemas.openxmlformats.org/officeDocument/2006/relationships/notesMaster" Target="/ppt/notesMasters/notesMaster1.xml" Id="R2d64ed254ffb48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a02045da334833" /><Relationship Type="http://schemas.openxmlformats.org/officeDocument/2006/relationships/notesMaster" Target="/ppt/notesMasters/notesMaster1.xml" Id="R3095e79aae2f41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0b28dd92414c9b" /><Relationship Type="http://schemas.openxmlformats.org/officeDocument/2006/relationships/notesMaster" Target="/ppt/notesMasters/notesMaster1.xml" Id="R9e3508293b2c4a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3d808afdca476b" /><Relationship Type="http://schemas.openxmlformats.org/officeDocument/2006/relationships/notesMaster" Target="/ppt/notesMasters/notesMaster1.xml" Id="R7a82366c908845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3d5ca6301e47cc" /><Relationship Type="http://schemas.openxmlformats.org/officeDocument/2006/relationships/notesMaster" Target="/ppt/notesMasters/notesMaster1.xml" Id="Re39b9dd34a5b45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db007b06a347f1" /><Relationship Type="http://schemas.openxmlformats.org/officeDocument/2006/relationships/notesMaster" Target="/ppt/notesMasters/notesMaster1.xml" Id="R6916f8da792b40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d59c841df24701" /><Relationship Type="http://schemas.openxmlformats.org/officeDocument/2006/relationships/notesMaster" Target="/ppt/notesMasters/notesMaster1.xml" Id="R8923280b3da34d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dd9fdbfe5d43c0" /><Relationship Type="http://schemas.openxmlformats.org/officeDocument/2006/relationships/notesMaster" Target="/ppt/notesMasters/notesMaster1.xml" Id="Re206101ce6444a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aee8fe2bc1472b" /><Relationship Type="http://schemas.openxmlformats.org/officeDocument/2006/relationships/notesMaster" Target="/ppt/notesMasters/notesMaster1.xml" Id="Rcc4287f0789446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ed810cf9f44ab8" /><Relationship Type="http://schemas.openxmlformats.org/officeDocument/2006/relationships/notesMaster" Target="/ppt/notesMasters/notesMaster1.xml" Id="Re2ce4e29455341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46e27711a345ec" /><Relationship Type="http://schemas.openxmlformats.org/officeDocument/2006/relationships/notesMaster" Target="/ppt/notesMasters/notesMaster1.xml" Id="R1ea4b7148b4e42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e68933d52d454d" /><Relationship Type="http://schemas.openxmlformats.org/officeDocument/2006/relationships/notesMaster" Target="/ppt/notesMasters/notesMaster1.xml" Id="Rfb26998812414c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11305bf0d24850" /><Relationship Type="http://schemas.openxmlformats.org/officeDocument/2006/relationships/notesMaster" Target="/ppt/notesMasters/notesMaster1.xml" Id="R70183d04b55049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fff32c4d6e4453" /><Relationship Type="http://schemas.openxmlformats.org/officeDocument/2006/relationships/notesMaster" Target="/ppt/notesMasters/notesMaster1.xml" Id="R2435b7ed935b49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a9ff4452bf4a6e" /><Relationship Type="http://schemas.openxmlformats.org/officeDocument/2006/relationships/notesMaster" Target="/ppt/notesMasters/notesMaster1.xml" Id="Rcef08eae3a1545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2ffa26395b4914" /><Relationship Type="http://schemas.openxmlformats.org/officeDocument/2006/relationships/notesMaster" Target="/ppt/notesMasters/notesMaster1.xml" Id="R988c80a3178946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f4d11e197d4cd0" /><Relationship Type="http://schemas.openxmlformats.org/officeDocument/2006/relationships/notesMaster" Target="/ppt/notesMasters/notesMaster1.xml" Id="R4546db6a3cd84a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267d1e8435444a" /><Relationship Type="http://schemas.openxmlformats.org/officeDocument/2006/relationships/notesMaster" Target="/ppt/notesMasters/notesMaster1.xml" Id="R8ed998552e1b46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18402d389c44266" /><Relationship Type="http://schemas.openxmlformats.org/officeDocument/2006/relationships/notesMaster" Target="/ppt/notesMasters/notesMaster1.xml" Id="Rd2a2092ad4c4471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8b540126bb4fd9" /><Relationship Type="http://schemas.openxmlformats.org/officeDocument/2006/relationships/notesMaster" Target="/ppt/notesMasters/notesMaster1.xml" Id="R960632d08a0f4d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4119554c314773" /><Relationship Type="http://schemas.openxmlformats.org/officeDocument/2006/relationships/notesMaster" Target="/ppt/notesMasters/notesMaster1.xml" Id="R3cd0d41f69a3471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d39de3c61d417a" /><Relationship Type="http://schemas.openxmlformats.org/officeDocument/2006/relationships/notesMaster" Target="/ppt/notesMasters/notesMaster1.xml" Id="Rb8b2dc5f0ef146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d35407bb18490a" /><Relationship Type="http://schemas.openxmlformats.org/officeDocument/2006/relationships/notesMaster" Target="/ppt/notesMasters/notesMaster1.xml" Id="Re3b96ad6d3d04f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5d512f85aba49e3" /><Relationship Type="http://schemas.openxmlformats.org/officeDocument/2006/relationships/notesMaster" Target="/ppt/notesMasters/notesMaster1.xml" Id="R8eb46a94ba9544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a7430b95b24db5" /><Relationship Type="http://schemas.openxmlformats.org/officeDocument/2006/relationships/notesMaster" Target="/ppt/notesMasters/notesMaster1.xml" Id="Rae92ff64f35e439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ea12bb7482d45bd" /><Relationship Type="http://schemas.openxmlformats.org/officeDocument/2006/relationships/notesMaster" Target="/ppt/notesMasters/notesMaster1.xml" Id="R8a769ebe34894e6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263bfb8bafe4afa" /><Relationship Type="http://schemas.openxmlformats.org/officeDocument/2006/relationships/notesMaster" Target="/ppt/notesMasters/notesMaster1.xml" Id="Re986fab53e0e4ba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c37114001e4fc5" /><Relationship Type="http://schemas.openxmlformats.org/officeDocument/2006/relationships/notesMaster" Target="/ppt/notesMasters/notesMaster1.xml" Id="Rd24921193b3843c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dea9e78bd374ac7" /><Relationship Type="http://schemas.openxmlformats.org/officeDocument/2006/relationships/notesMaster" Target="/ppt/notesMasters/notesMaster1.xml" Id="R2dcb774d5935467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b727927fa594e2d" /><Relationship Type="http://schemas.openxmlformats.org/officeDocument/2006/relationships/notesMaster" Target="/ppt/notesMasters/notesMaster1.xml" Id="Rae16ad01eea6409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407e9f57f8d4a2b" /><Relationship Type="http://schemas.openxmlformats.org/officeDocument/2006/relationships/notesMaster" Target="/ppt/notesMasters/notesMaster1.xml" Id="R5de57df2f9114d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613f4d5a3b429a" /><Relationship Type="http://schemas.openxmlformats.org/officeDocument/2006/relationships/notesMaster" Target="/ppt/notesMasters/notesMaster1.xml" Id="R1862ca50001f4b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f2471883134018" /><Relationship Type="http://schemas.openxmlformats.org/officeDocument/2006/relationships/notesMaster" Target="/ppt/notesMasters/notesMaster1.xml" Id="Rcca4b3d4c4bf42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64deb9255314652" /><Relationship Type="http://schemas.openxmlformats.org/officeDocument/2006/relationships/notesMaster" Target="/ppt/notesMasters/notesMaster1.xml" Id="R002e0fe89b584f9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43a47b61a94c93" /><Relationship Type="http://schemas.openxmlformats.org/officeDocument/2006/relationships/notesMaster" Target="/ppt/notesMasters/notesMaster1.xml" Id="Re82bc39e7cef4e4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62c6ecc0d3442fb" /><Relationship Type="http://schemas.openxmlformats.org/officeDocument/2006/relationships/notesMaster" Target="/ppt/notesMasters/notesMaster1.xml" Id="Rb99b1c68bf0749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segmento inicial son negocios alimentarios y responsables de operaciones/calidad en Perú. El diferencial propuesto reúne respuesta operativa, continuidad y trazabilidad. No afirmar exclusividad frente a competidores ni ahorros ya medidos. La simplicidad y la adopción local son hipótesis que requieren pilotos. IA y planes forman parte de la evolución del producto, no del incremento verificado de Sprint 1. Fuente: informe 2.1.2 y 4.2.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reutilización es explícita: se parte de una solución brownfield. La aportación del curso está en evolucionarla y justificar esa evolución con ADD. Los repositorios expresan responsabilidades; su cantidad no demuestra desacoplamiento. El API Gateway deriva las rutas extraídas a servicios independientes y conserva las restantes en el backend. No describir el backend como únicamente histórico mientras conserve capacidades activas. Fuente: informe 4.2.1, 5.2.2 y 5.3.1.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cifras son metas de negocio del Impact Map, no resultados obtenidos. La implementación de TP1 permite empezar a medir el flujo; todavía no existe evidencia de reducción del 40 % de pérdidas ni de adopción comercial.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Product Backlog representa el producto completo, no el compromiso de este sprint. Las 53 historias suman 172 puntos. No confundir historias con tareas técnicas ni puntos con horas. Los grupos resumen capacidades; la selección del Sprint 1 se presenta a continuación.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nueve historias suman 42 puntos. Se seleccionaron por su influencia sobre los drivers: disponibilidad US46/47, rendimiento US04/06/14/16, usabilidad US08/09/33. El código y las pruebas respaldan el incremento, pero no sustituyen la aceptación del equipo. US15 consulta conectividad; US46 avisa automáticamente al detectar una interrupción.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son objetivos de calidad verificables, no resultados ya certificados. QA-01 mide la visibilidad desde que se supera el umbral configurado, y la recuperación desde la reconexión. QA-02 requiere 1 000 sensores, carga concurrente y percentiles; un ensayo menor no valida ese escenario. QA-03 requiere participantes sin capacitación: las pruebas automatizadas de interfaz no prueban el 90 % de éxito en menos de un minuto. Fuente: informe 4.2.3 y 5.3.1.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restricciones limitan las alternativas de diseño. No sustituyen el backlog no funcional: este se concreta mediante escenarios QA y medidas de respuesta. Cloud Run, Cloud SQL y Pub/Sub son el objetivo cloud; la evidencia de TP1 corresponde al entorno local y a CI.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vista permite identificar qué activo requiere atención. La captura muestra NO_DATA tras una interrupción: una lectura histórica no equivale a una condición actual normal. US04 y US16 cubren consulta y vista consolidada; US46 informa la ausencia. Captura nueva del ensayo local del 22 de octubre de 2026 a 1920 × 1080, con datos académicos y base de telemetría separada. No corresponde a un entorno cloud. Continuar con el detalle de una desviación en la siguiente pantalla.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Capturas reales de la implementación que materializa la propuesta de interfaz. Explicar la decisión del usuario: revisar contexto, elegir responsable y confirmar. La sencillez se justifica por la tarea, no por la cantidad de controles. La política de deshacer se aplica también en backend y tiene pruebas; no es solo un botón visual. QA-03 aún necesita el estudio definido en el escenario.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real del 22 de octubre de 2026, entorno local con datos académicos. El contador muestra los segundos restantes de la ventana de 10 s; la captura registra el estado después de reconocer y asignar. El backend valida la ventana, permisos y organización. La interfaz materializa la propuesta; la medición con participantes de QA-03 continúa 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pantalla corresponde al flujo implementado de reportes asíncronos: solicitud, estado y resultado. El ejemplo tiene 8 lecturas y 2 incidencias de datos académicos. No afirmar que el reporte certifica cumplimiento sanitario ni que ya ha sido usado en auditorías reales. El producto completo contempla más campos y capacidades; presentar solo los disponibles en el incremento.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priorizan disponibilidad, rendimiento y usabilidad para estas iteraciones; no se elimina la seguridad ni otros atributos. Proveedores externos reducen responsabilidades concretas, pero la aplicación sigue validando autorización, organización, datos y secretos. La arquitectura hexagonal favorece modificabilidad; por sí sola no prueba su cumplimiento.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iteraciones ADD son ciclos de diseño; no equivalen a cuatro sprints de implementación. En cada una relacionar negocio, escenario, alternativa, decisión y consecuencia. Completely Addressed describe la cobertura de diseño, no el cumplimiento empírico de las métricas.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separación sigue límites de responsabilidad y datos, con costos de integración, consistencia eventual y operación. Se opta por migración Strangler para reutilizar la línea base y entregar incrementos. Ocho microservicios es la arquitectura objetivo; no significa ocho servicios totalmente terminados para TP1.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Distinguir buffer local y resincronización de redundancia activa: no son equivalentes. Los reintentos necesitan ingesta idempotente. Una instancia mínima no constituye una segunda réplica ni garantiza continuidad por sí sola. El escenario define 30 s tras el umbral, no necesariamente desde el inicio del corte. Fuentes: informe QA-01; EdgeBuffer y SourceGapDetector; Google Cloud Run https://docs.cloud.google.com/run/docs/container-contract y https://docs.cloud.google.com/run/docs/configuring/min-instances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tópicos permite aislar flujos, pero no demuestra por sí solo prioridad ni latencia. Hay que dimensionar consumidores, límites y suscripciones y medir bajo carga concurrente. Outbox resuelve consistencia entre persistencia y publicación, con un costo de tabla y relay; no elimina toda posibilidad de fallo. El ensayo académico menor no acredita percentiles QA-02. Fuentes: informe 4.3.3 y 5.3.1; https://docs.cloud.google.com/pubsub/docs/publish-message-overview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Relacionar la táctica con una operación visible y su soporte técnico. Reconocer y asignar en una petición es una decisión de interacción y de consistencia. Deshacer tiene una ventana de 10 s validada por el backend. SSE confirma cambios y permisos limitan acciones. Las pruebas de flujo no prueban el porcentaje de éxito ni el tiempo de usuarios sin capacitación.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Zoom de código del componente de ingesta, no esquema físico de base de datos. TelemetryService depende de TelemetryStore; JdbcTelemetryStore implementa ese contrato. Reading transporta una lectura y SafeRange evalúa sus límites. Ingest valida, identifica duplicados, guarda, proyecta y registra eventos dentro de la transacción. El relay publica después. Fuente: Veltis-Software/coldtrace-monitoring-service, src/main/java/com/acme/coldtrace/platform/monitoring/{application/TelemetryService.java,domain/TelemetryStore.java,domain/Telemetry.java,infrastructure/JdbcTelemetryStore.java}.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Fragmentos literales del código local revisado. Monitoring: TelemetryService.ingest, anotado @Transactional, usa el puerto para persistencia, proyección y eventos. Alert: AlertWorkflowTest.recognizesAssignsAndUndoesAtomicallyWithinTenSeconds comprueba estado y responsable y luego deshacer; otras pruebas verifican vencimiento y permisos. Abrir solo estos puntos si el docente pide respaldo; no recorrer todos los repositorios. Hay pruebas de recuperación y duplicados en Monitoring y Edge. No afirmar que se ejecutaron nuevamente en esta revisión de diapositivas. Repositorios: https://github.com/Veltis-Software/coldtrace-monitoring-service y https://github.com/Veltis-Software/coldtrace-alert-service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incremento tiene ejecución local y pruebas/CI; la lista cloud representa la arquitectura objetivo. IAM y Asset permanecen en el backend mientras avanza la extracción. SQLite y el agente simulado permiten probar continuidad sin sensores físicos. Distinguir bibliotecas utilizadas de herramientas previstas: no afirmar uso validado de cada proveedor. Cloud Run con instancias mínimas y Cloud SQL puede generar cargos; free tier no equivale a costo cero garantizado.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Diagrama general conservado de la presentación original. Apoyo para preguntas de conceptos funcionales; no se presenta como zoom de código de un componente. Las relaciones representan el dominio y no autorizan joins entre bases de servicios.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48ace247aa4d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54eb497f8b48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56c72a599a49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942b337dca4e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65fbd21e6743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7307e184e5400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76bd9afe97e4aa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38cef299cc5448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e361e8d21e54ab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89f031fc19346d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5cee7dd5b0a4a8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FDFB7F-2F4A-48FB-9A36-A78401FEBB0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BAFCB6A-A25B-43FF-8E2C-E87F2214BCB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40BCE1A-C4A2-454E-960C-3C23BE2F20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E3342082-3E14-4AD5-8B12-5FD96F63B8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27F0CF4-6066-49D8-B142-094B6DE8C8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D96E05-C246-41A1-9D90-37D031A23ED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FA4C07D-E26E-47F8-BCBD-95388E8AF2E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C8C67E3-47A5-4AFB-886A-33142B886F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0486148E-4BD0-41D7-B1CC-1F0252DAAA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CDCA9A2-43DA-4110-BE1D-AB0259E3E1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775A1D-B9F9-4595-81DD-66B5503DA7A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36DEBFF-3EF6-4636-B0C8-A2228B80BB18}"/>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AC771E6-22D1-4B1E-8509-FE12F505C5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E26C549-B4CD-4A10-9534-342ED1527F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2173628-BE34-47AD-9A5B-500A21D7AE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8F62E1-C5AB-4186-87FC-C5929A869B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595609D-F848-4A3A-A0E9-D767EA052F5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D667CDD-1BC8-4B72-9651-2BED7B5CCF1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F4D7330-9871-4AFB-944B-79755D9DB2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D98FB42D-4467-4318-AF6B-20B59C3BA2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18D3919-A40D-4451-B4DF-7D5A300E49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7AF5F5-8FD0-4D70-99BC-6FF53E212D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BEFBD55-D6A4-42AF-8081-B0527DD3759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94EC57B-5E94-4B26-9E7B-101B44A87B81}"/>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C84944F-45F5-4D16-BFC5-4085FB21921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8D28DF8-8F5C-4338-B3E6-A4CA45003F6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5F63BEA-A240-4130-B047-767CBA47BD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8" name="Footer Placeholder 7">
            <a:extLst xmlns:a="http://schemas.openxmlformats.org/drawingml/2006/main">
              <a:ext uri="{FF2B5EF4-FFF2-40B4-BE49-F238E27FC236}">
                <a16:creationId xmlns:a16="http://schemas.microsoft.com/office/drawing/2014/main" id="{F88CDB16-6FA6-4214-8689-80BE8171E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EF7E5360-5847-45AE-A4D6-AA3C74E29C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61ECC1-BAF3-4527-82DA-CD924BF83D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581D8C58-C5EC-4ABA-8FB4-01E1A9595C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4" name="Footer Placeholder 3">
            <a:extLst xmlns:a="http://schemas.openxmlformats.org/drawingml/2006/main">
              <a:ext uri="{FF2B5EF4-FFF2-40B4-BE49-F238E27FC236}">
                <a16:creationId xmlns:a16="http://schemas.microsoft.com/office/drawing/2014/main" id="{2BD72F01-C4A8-42A2-8101-17631D382C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CC4A5F4-C6B9-4866-BE2C-2FEA3F343C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C9D562F-FC4E-480A-95A8-E35BDCBA6F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3" name="Footer Placeholder 2">
            <a:extLst xmlns:a="http://schemas.openxmlformats.org/drawingml/2006/main">
              <a:ext uri="{FF2B5EF4-FFF2-40B4-BE49-F238E27FC236}">
                <a16:creationId xmlns:a16="http://schemas.microsoft.com/office/drawing/2014/main" id="{0CB17D40-DA90-4DEF-BE9B-F727779155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DB123EF-60C7-4C9D-909E-1CF1BCCFCD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3A7954-BFC5-401D-BDA3-498901BB646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7EF76E9-7BEF-4B97-AEC8-81673005940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4476FD09-0394-4581-8512-E9E2ED35B6B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6235DB9-29C8-4919-8D60-F52B39E690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BB350CB3-B901-42CE-A965-4B9DA4F978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7295114-4F5E-4D86-9B4B-ED1FC0E40B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26ABE5-4381-4E51-96DF-19FFCF77687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5D67B03-1A17-4FB3-87D8-9F697163FA5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7DBD2F2-5371-447E-9C42-1AB7AD52F09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F07B519-1294-42AA-A64D-4435E0BEC6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0B197707-1370-412D-BC4B-DD916B6FD6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1A2433D-3E53-4C41-8909-8FC3BD2016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3BCC17-4D2A-4CFC-9F93-2BD5B048FF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044C1F5-AD41-46F3-9EB0-3CE4FA816AD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88D50F6-132C-444B-9013-EEE5EB08E1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9A81E8CF-18D6-4BE7-9D44-FA7297F13B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AA6C3B-D90A-4E63-A576-55B1588970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F266DFD-0AC4-4A74-A21E-81F770AE9F5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A2A1698-4E0C-4E09-AB05-52976E147FE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6455935-1552-4FA3-9F5D-5F7F085657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F5D9F6F9-554A-4EA3-B7F1-EAB3C69A7A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389E4F4-E745-42BB-AE18-966578B540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ebf4e5e3e040b5" /><Relationship Type="http://schemas.openxmlformats.org/officeDocument/2006/relationships/slideLayout" Target="/ppt/slideLayouts/slideLayout1.xml" Id="R1f5da9b06c704be1" /><Relationship Type="http://schemas.openxmlformats.org/officeDocument/2006/relationships/slideLayout" Target="/ppt/slideLayouts/slideLayout2.xml" Id="Rd532861d30974b63" /><Relationship Type="http://schemas.openxmlformats.org/officeDocument/2006/relationships/slideLayout" Target="/ppt/slideLayouts/slideLayout3.xml" Id="Rf70523228c6b49be" /><Relationship Type="http://schemas.openxmlformats.org/officeDocument/2006/relationships/slideLayout" Target="/ppt/slideLayouts/slideLayout4.xml" Id="Ra651586d6c564268" /><Relationship Type="http://schemas.openxmlformats.org/officeDocument/2006/relationships/slideLayout" Target="/ppt/slideLayouts/slideLayout5.xml" Id="R8635d1af16ad4fac" /><Relationship Type="http://schemas.openxmlformats.org/officeDocument/2006/relationships/slideLayout" Target="/ppt/slideLayouts/slideLayout6.xml" Id="R83da5d551766459f" /><Relationship Type="http://schemas.openxmlformats.org/officeDocument/2006/relationships/slideLayout" Target="/ppt/slideLayouts/slideLayout7.xml" Id="R7bf25342ac034afb" /><Relationship Type="http://schemas.openxmlformats.org/officeDocument/2006/relationships/slideLayout" Target="/ppt/slideLayouts/slideLayout8.xml" Id="Rb08bf04aeb7741b1" /><Relationship Type="http://schemas.openxmlformats.org/officeDocument/2006/relationships/slideLayout" Target="/ppt/slideLayouts/slideLayout9.xml" Id="R72c72403d59540bb" /><Relationship Type="http://schemas.openxmlformats.org/officeDocument/2006/relationships/slideLayout" Target="/ppt/slideLayouts/slideLayout10.xml" Id="R27e7e9b8a8404076" /><Relationship Type="http://schemas.openxmlformats.org/officeDocument/2006/relationships/slideLayout" Target="/ppt/slideLayouts/slideLayout11.xml" Id="R136accdd5c3f472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8AB06DA-BACF-4080-AAF3-CCE75CFF6B9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8F71CA7-A385-453C-A00F-964422A19EF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1059375-6552-40A8-8A80-D585D77AE1D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A9267F2A-093E-4068-BFE8-61B9C050912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E5E060A-D22C-499B-B965-C319B3A6100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5da9b06c704be1"/>
    <p:sldLayoutId xmlns:r="http://schemas.openxmlformats.org/officeDocument/2006/relationships" id="2147483650" r:id="Rd532861d30974b63"/>
    <p:sldLayoutId xmlns:r="http://schemas.openxmlformats.org/officeDocument/2006/relationships" id="2147483651" r:id="Rf70523228c6b49be"/>
    <p:sldLayoutId xmlns:r="http://schemas.openxmlformats.org/officeDocument/2006/relationships" id="2147483652" r:id="Ra651586d6c564268"/>
    <p:sldLayoutId xmlns:r="http://schemas.openxmlformats.org/officeDocument/2006/relationships" id="2147483653" r:id="R8635d1af16ad4fac"/>
    <p:sldLayoutId xmlns:r="http://schemas.openxmlformats.org/officeDocument/2006/relationships" id="2147483654" r:id="R83da5d551766459f"/>
    <p:sldLayoutId xmlns:r="http://schemas.openxmlformats.org/officeDocument/2006/relationships" id="2147483655" r:id="R7bf25342ac034afb"/>
    <p:sldLayoutId xmlns:r="http://schemas.openxmlformats.org/officeDocument/2006/relationships" id="2147483656" r:id="Rb08bf04aeb7741b1"/>
    <p:sldLayoutId xmlns:r="http://schemas.openxmlformats.org/officeDocument/2006/relationships" id="2147483657" r:id="R72c72403d59540bb"/>
    <p:sldLayoutId xmlns:r="http://schemas.openxmlformats.org/officeDocument/2006/relationships" id="2147483658" r:id="R27e7e9b8a8404076"/>
    <p:sldLayoutId xmlns:r="http://schemas.openxmlformats.org/officeDocument/2006/relationships" id="2147483659" r:id="R136accdd5c3f472f"/>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f3222ded3684044" /><Relationship Type="http://schemas.openxmlformats.org/officeDocument/2006/relationships/image" Target="/ppt/media/image.jpeg" Id="Rddb6c55ed5a64dd0" /><Relationship Type="http://schemas.openxmlformats.org/officeDocument/2006/relationships/notesSlide" Target="/ppt/notesSlides/notesSlide1.xml" Id="R597b2c8551aa4b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e3112a2bd034321" /><Relationship Type="http://schemas.openxmlformats.org/officeDocument/2006/relationships/image" Target="/ppt/media/image.jpeg" Id="R2cd52dac3e5643b4" /><Relationship Type="http://schemas.openxmlformats.org/officeDocument/2006/relationships/notesSlide" Target="/ppt/notesSlides/notesSlide2.xml" Id="R76af141a570343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9680854741a4262" /><Relationship Type="http://schemas.openxmlformats.org/officeDocument/2006/relationships/image" Target="/ppt/media/image.jpeg" Id="R08f450b438f644b9" /><Relationship Type="http://schemas.openxmlformats.org/officeDocument/2006/relationships/notesSlide" Target="/ppt/notesSlides/notesSlide3.xml" Id="Re172e0e134d043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dd5ebef54094c5f" /><Relationship Type="http://schemas.openxmlformats.org/officeDocument/2006/relationships/image" Target="/ppt/media/image.jpeg" Id="Rd0cfc32d6d2e4b97" /><Relationship Type="http://schemas.openxmlformats.org/officeDocument/2006/relationships/notesSlide" Target="/ppt/notesSlides/notesSlide4.xml" Id="Rffddd2dcbb1743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afa34f62aa841d1" /><Relationship Type="http://schemas.openxmlformats.org/officeDocument/2006/relationships/image" Target="/ppt/media/image.jpeg" Id="R73d797fcb2e54dc9" /><Relationship Type="http://schemas.openxmlformats.org/officeDocument/2006/relationships/notesSlide" Target="/ppt/notesSlides/notesSlide5.xml" Id="Raf7f7bffcc2244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f8bcccddcbe43b1" /><Relationship Type="http://schemas.openxmlformats.org/officeDocument/2006/relationships/notesSlide" Target="/ppt/notesSlides/notesSlide6.xml" Id="Ra967c89a12d246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205a27d0b09481a" /><Relationship Type="http://schemas.openxmlformats.org/officeDocument/2006/relationships/image" Target="/ppt/media/image.jpeg" Id="R1970ad43bb4f4b6c" /><Relationship Type="http://schemas.openxmlformats.org/officeDocument/2006/relationships/notesSlide" Target="/ppt/notesSlides/notesSlide7.xml" Id="Raf8e543161bf4b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4ac0e84cefb4829" /><Relationship Type="http://schemas.openxmlformats.org/officeDocument/2006/relationships/image" Target="/ppt/media/image.jpeg" Id="Rc3c590f68ed94ec0" /><Relationship Type="http://schemas.openxmlformats.org/officeDocument/2006/relationships/notesSlide" Target="/ppt/notesSlides/notesSlide8.xml" Id="R774aae2ac5584b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86a11c5c2a0a42ef" /><Relationship Type="http://schemas.openxmlformats.org/officeDocument/2006/relationships/image" Target="/ppt/media/image.jpeg" Id="R9c1b93e77b684adc" /><Relationship Type="http://schemas.openxmlformats.org/officeDocument/2006/relationships/notesSlide" Target="/ppt/notesSlides/notesSlide9.xml" Id="R89439fc862104e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25731492763483f" /><Relationship Type="http://schemas.openxmlformats.org/officeDocument/2006/relationships/image" Target="/ppt/media/image.jpeg" Id="R75fd328a7bd6498d" /><Relationship Type="http://schemas.openxmlformats.org/officeDocument/2006/relationships/notesSlide" Target="/ppt/notesSlides/notesSlide10.xml" Id="R582b8fcd01384f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10b77fba6e694fb4" /><Relationship Type="http://schemas.openxmlformats.org/officeDocument/2006/relationships/image" Target="/ppt/media/image.jpeg" Id="R7bef035a19214165" /><Relationship Type="http://schemas.openxmlformats.org/officeDocument/2006/relationships/notesSlide" Target="/ppt/notesSlides/notesSlide11.xml" Id="Rec4c436873c740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bcf63d5d5844785" /><Relationship Type="http://schemas.openxmlformats.org/officeDocument/2006/relationships/image" Target="/ppt/media/image.jpeg" Id="Rc27275f1df05407d" /><Relationship Type="http://schemas.openxmlformats.org/officeDocument/2006/relationships/notesSlide" Target="/ppt/notesSlides/notesSlide12.xml" Id="R9debd1b2d11e43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4eb9d6b922648a0" /><Relationship Type="http://schemas.openxmlformats.org/officeDocument/2006/relationships/image" Target="/ppt/media/image.jpeg" Id="R9ee46bcc9a084e7f" /><Relationship Type="http://schemas.openxmlformats.org/officeDocument/2006/relationships/notesSlide" Target="/ppt/notesSlides/notesSlide13.xml" Id="R9358e304c49241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7f25033cc35f4f48" /><Relationship Type="http://schemas.openxmlformats.org/officeDocument/2006/relationships/image" Target="/ppt/media/image2.jpeg" Id="R2364175981f0492e" /><Relationship Type="http://schemas.openxmlformats.org/officeDocument/2006/relationships/notesSlide" Target="/ppt/notesSlides/notesSlide14.xml" Id="Rfe958bb3d52d4a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9b40b17a68a48db" /><Relationship Type="http://schemas.openxmlformats.org/officeDocument/2006/relationships/image" Target="/ppt/media/image3.jpeg" Id="R99071fa149ec49b6" /><Relationship Type="http://schemas.openxmlformats.org/officeDocument/2006/relationships/notesSlide" Target="/ppt/notesSlides/notesSlide15.xml" Id="Re72d72ca597440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c811bea5f5e4256" /><Relationship Type="http://schemas.openxmlformats.org/officeDocument/2006/relationships/image" Target="/ppt/media/image4.jpeg" Id="Rdcf2665908a14cae" /><Relationship Type="http://schemas.openxmlformats.org/officeDocument/2006/relationships/notesSlide" Target="/ppt/notesSlides/notesSlide16.xml" Id="R37e226af8ca74c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0cef123a1d6d4417" /><Relationship Type="http://schemas.openxmlformats.org/officeDocument/2006/relationships/image" Target="/ppt/media/image5.jpeg" Id="Ra3d0b78789cb442e" /><Relationship Type="http://schemas.openxmlformats.org/officeDocument/2006/relationships/notesSlide" Target="/ppt/notesSlides/notesSlide17.xml" Id="R72a2dcc984f949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b8f071154cef4b32" /><Relationship Type="http://schemas.openxmlformats.org/officeDocument/2006/relationships/image" Target="/ppt/media/image.jpeg" Id="R946a008e891c4262" /><Relationship Type="http://schemas.openxmlformats.org/officeDocument/2006/relationships/notesSlide" Target="/ppt/notesSlides/notesSlide18.xml" Id="Ra378eb673f624b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419b59d9e3894db5" /><Relationship Type="http://schemas.openxmlformats.org/officeDocument/2006/relationships/image" Target="/ppt/media/image.jpeg" Id="R06465ed284744df3" /><Relationship Type="http://schemas.openxmlformats.org/officeDocument/2006/relationships/notesSlide" Target="/ppt/notesSlides/notesSlide19.xml" Id="Rc71aabf5e52e46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86a978b03ee141e2" /><Relationship Type="http://schemas.openxmlformats.org/officeDocument/2006/relationships/image" Target="/ppt/media/image.jpeg" Id="Ra3bb62a16c2e410b" /><Relationship Type="http://schemas.openxmlformats.org/officeDocument/2006/relationships/notesSlide" Target="/ppt/notesSlides/notesSlide20.xml" Id="R2bb25c0a60b342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93107265937d4276" /><Relationship Type="http://schemas.openxmlformats.org/officeDocument/2006/relationships/image" Target="/ppt/media/image.jpeg" Id="R63c30bbfec5b4fbc" /><Relationship Type="http://schemas.openxmlformats.org/officeDocument/2006/relationships/notesSlide" Target="/ppt/notesSlides/notesSlide21.xml" Id="R36a265a60645419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7acde16584a04bfc" /><Relationship Type="http://schemas.openxmlformats.org/officeDocument/2006/relationships/image" Target="/ppt/media/image.jpeg" Id="R103f57f8c6d6442d" /><Relationship Type="http://schemas.openxmlformats.org/officeDocument/2006/relationships/notesSlide" Target="/ppt/notesSlides/notesSlide22.xml" Id="R748a20a3c8b640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16cfa71cc9f340b4" /><Relationship Type="http://schemas.openxmlformats.org/officeDocument/2006/relationships/image" Target="/ppt/media/image.jpeg" Id="R39325f3f98b64d7d" /><Relationship Type="http://schemas.openxmlformats.org/officeDocument/2006/relationships/notesSlide" Target="/ppt/notesSlides/notesSlide23.xml" Id="R58e538e09d8a43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cc9cf43b422b4e5f" /><Relationship Type="http://schemas.openxmlformats.org/officeDocument/2006/relationships/image" Target="/ppt/media/image.jpeg" Id="R51b4d92ab36b436e" /><Relationship Type="http://schemas.openxmlformats.org/officeDocument/2006/relationships/notesSlide" Target="/ppt/notesSlides/notesSlide24.xml" Id="Rbe8c0338608f4e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5aab165c91a44ca3" /><Relationship Type="http://schemas.openxmlformats.org/officeDocument/2006/relationships/image" Target="/ppt/media/image.jpeg" Id="Ra216b01f83b94a5a" /><Relationship Type="http://schemas.openxmlformats.org/officeDocument/2006/relationships/notesSlide" Target="/ppt/notesSlides/notesSlide25.xml" Id="R62160c30d9aa4c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135b4b5ef03f4a8d" /><Relationship Type="http://schemas.openxmlformats.org/officeDocument/2006/relationships/image" Target="/ppt/media/image.jpeg" Id="Ra486f3847c8443b4" /><Relationship Type="http://schemas.openxmlformats.org/officeDocument/2006/relationships/image" Target="/ppt/media/image.png" Id="R0105e0ae565a464a" /><Relationship Type="http://schemas.openxmlformats.org/officeDocument/2006/relationships/notesSlide" Target="/ppt/notesSlides/notesSlide26.xml" Id="R475a807ffd1643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efaede285d40468c" /><Relationship Type="http://schemas.openxmlformats.org/officeDocument/2006/relationships/image" Target="/ppt/media/image.jpeg" Id="Rc5d9ba26ab794d05" /><Relationship Type="http://schemas.openxmlformats.org/officeDocument/2006/relationships/image" Target="/ppt/media/image2.png" Id="R7e9afeb544654ed5" /><Relationship Type="http://schemas.openxmlformats.org/officeDocument/2006/relationships/notesSlide" Target="/ppt/notesSlides/notesSlide27.xml" Id="R2905e384a4d949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ab020e77141342f6" /><Relationship Type="http://schemas.openxmlformats.org/officeDocument/2006/relationships/image" Target="/ppt/media/image.jpeg" Id="R959733e4fe7842b1" /><Relationship Type="http://schemas.openxmlformats.org/officeDocument/2006/relationships/image" Target="/ppt/media/image3.png" Id="R19f2ee7739e9404e" /><Relationship Type="http://schemas.openxmlformats.org/officeDocument/2006/relationships/notesSlide" Target="/ppt/notesSlides/notesSlide28.xml" Id="Ra126277df9df44a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ca5e007badbb4fc2" /><Relationship Type="http://schemas.openxmlformats.org/officeDocument/2006/relationships/image" Target="/ppt/media/image.jpeg" Id="R8242b7600c3b4e82" /><Relationship Type="http://schemas.openxmlformats.org/officeDocument/2006/relationships/image" Target="/ppt/media/image4.png" Id="Rb5c4086c2dad40a5" /><Relationship Type="http://schemas.openxmlformats.org/officeDocument/2006/relationships/notesSlide" Target="/ppt/notesSlides/notesSlide29.xml" Id="Rb575533e344c478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72ab9a33e19c41c4" /><Relationship Type="http://schemas.openxmlformats.org/officeDocument/2006/relationships/image" Target="/ppt/media/image.jpeg" Id="Rd0e34ee98f2143ac" /><Relationship Type="http://schemas.openxmlformats.org/officeDocument/2006/relationships/image" Target="/ppt/media/image5.png" Id="R42789f3aeea54d84" /><Relationship Type="http://schemas.openxmlformats.org/officeDocument/2006/relationships/notesSlide" Target="/ppt/notesSlides/notesSlide30.xml" Id="R302a6a04c1924b9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7437966b49f94506" /><Relationship Type="http://schemas.openxmlformats.org/officeDocument/2006/relationships/image" Target="/ppt/media/image.jpeg" Id="R8e74ec349e174f5a" /><Relationship Type="http://schemas.openxmlformats.org/officeDocument/2006/relationships/image" Target="/ppt/media/image6.png" Id="R176ee2e730ef41e0" /><Relationship Type="http://schemas.openxmlformats.org/officeDocument/2006/relationships/notesSlide" Target="/ppt/notesSlides/notesSlide31.xml" Id="Rcf7e03e397bb44c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6101437d00ab44e8" /><Relationship Type="http://schemas.openxmlformats.org/officeDocument/2006/relationships/image" Target="/ppt/media/image.jpeg" Id="R3997b004b3054826" /><Relationship Type="http://schemas.openxmlformats.org/officeDocument/2006/relationships/image" Target="/ppt/media/image7.png" Id="R7aaec3b06daa4cfc" /><Relationship Type="http://schemas.openxmlformats.org/officeDocument/2006/relationships/notesSlide" Target="/ppt/notesSlides/notesSlide32.xml" Id="Rec0e79068fcc433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bafd5127bcc347d4" /><Relationship Type="http://schemas.openxmlformats.org/officeDocument/2006/relationships/notesSlide" Target="/ppt/notesSlides/notesSlide33.xml" Id="R976041e375aa44a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60f228fc8eb54e2b" /><Relationship Type="http://schemas.openxmlformats.org/officeDocument/2006/relationships/notesSlide" Target="/ppt/notesSlides/notesSlide34.xml" Id="R8eccd84a364e40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f6b7d5132e51416d" /><Relationship Type="http://schemas.openxmlformats.org/officeDocument/2006/relationships/image" Target="/ppt/media/image.jpeg" Id="R9b67cbfe10c142a2" /><Relationship Type="http://schemas.openxmlformats.org/officeDocument/2006/relationships/notesSlide" Target="/ppt/notesSlides/notesSlide35.xml" Id="R9f64a7cafa81498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fd331ed3ce174e2d" /><Relationship Type="http://schemas.openxmlformats.org/officeDocument/2006/relationships/image" Target="/ppt/media/image8.png" Id="Re7f22053b15e445d" /><Relationship Type="http://schemas.openxmlformats.org/officeDocument/2006/relationships/notesSlide" Target="/ppt/notesSlides/notesSlide36.xml" Id="R5bcfb831cd8f4540" /></Relationships>
</file>

<file path=ppt/slides/slide1.xml><?xml version="1.0" encoding="utf-8"?>
<p:sld xmlns:p="http://schemas.openxmlformats.org/presentationml/2006/main">
  <p:cSld>
    <p:bg>
      <p:bgPr>
        <a:solidFill xmlns:a="http://schemas.openxmlformats.org/drawingml/2006/main">
          <a:srgbClr val="0B2A43"/>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70CE553-0EEE-424D-9042-15D7460B8C44}"/>
              </a:ext>
            </a:extLst>
          </p:cNvPr>
          <p:cNvSpPr>
            <a:spLocks xmlns:a="http://schemas.openxmlformats.org/drawingml/2006/main" noGrp="1"/>
          </p:cNvSpPr>
          <p:nvPr/>
        </p:nvSpPr>
        <p:spPr>
          <a:xfrm xmlns:a="http://schemas.openxmlformats.org/drawingml/2006/main" rot="0" flipH="0" flipV="0">
            <a:off x="1276350" y="1714500"/>
            <a:ext cx="15716250" cy="1714500"/>
          </a:xfrm>
          <a:custGeom xmlns:a="http://schemas.openxmlformats.org/drawingml/2006/main">
            <a:rect l="l" t="t" r="r" b="b"/>
            <a:pathLst>
              <a:path w="28517810" h="12745692">
                <a:moveTo>
                  <a:pt x="0" y="0"/>
                </a:moveTo>
                <a:lnTo>
                  <a:pt x="28517810" y="0"/>
                </a:lnTo>
                <a:lnTo>
                  <a:pt x="28517810" y="12745692"/>
                </a:lnTo>
                <a:lnTo>
                  <a:pt x="0" y="12745692"/>
                </a:lnTo>
                <a:close/>
              </a:path>
            </a:pathLst>
          </a:custGeom>
          <a:blipFill xmlns:a="http://schemas.openxmlformats.org/drawingml/2006/main">
            <a:blip xmlns:r="http://schemas.openxmlformats.org/officeDocument/2006/relationships" r:embed="Rddb6c55ed5a64dd0">
              <a:alphaModFix amt="0"/>
            </a:blip>
            <a:stretch>
              <a:fillRect l="0" t="-22492" r="26466" b="58376"/>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D8888A4C-14DC-4542-8F0A-DEF16ED13334}"/>
              </a:ext>
            </a:extLst>
          </p:cNvPr>
          <p:cNvSpPr>
            <a:spLocks xmlns:a="http://schemas.openxmlformats.org/drawingml/2006/main" noGrp="1"/>
          </p:cNvSpPr>
          <p:nvPr/>
        </p:nvSpPr>
        <p:spPr>
          <a:xfrm xmlns:a="http://schemas.openxmlformats.org/drawingml/2006/main" rot="0" flipH="0" flipV="0">
            <a:off x="1276350" y="1714500"/>
            <a:ext cx="15716250" cy="1714500"/>
          </a:xfrm>
          <a:prstGeom xmlns:a="http://schemas.openxmlformats.org/drawingml/2006/main" prst="rect">
            <a:avLst/>
          </a:prstGeom>
        </p:spPr>
        <p:txBody>
          <a:bodyPr xmlns:a="http://schemas.openxmlformats.org/drawingml/2006/main" lIns="0" tIns="0" rIns="0" bIns="0" anchor="ctr"/>
          <a:lstStyle xmlns:a="http://schemas.openxmlformats.org/drawingml/2006/main">
            <a:defPPr>
              <a:defRPr sz="8700"/>
            </a:defPPr>
            <a:lvl1pPr>
              <a:defRPr sz="8700"/>
            </a:lvl1pPr>
            <a:lvl2pPr>
              <a:defRPr sz="8700"/>
            </a:lvl2pPr>
            <a:lvl3pPr>
              <a:defRPr sz="8700"/>
            </a:lvl3pPr>
            <a:lvl4pPr>
              <a:defRPr sz="8700"/>
            </a:lvl4pPr>
            <a:lvl5pPr>
              <a:defRPr sz="8700"/>
            </a:lvl5pPr>
            <a:lvl6pPr>
              <a:defRPr sz="8700"/>
            </a:lvl6pPr>
            <a:lvl7pPr>
              <a:defRPr sz="8700"/>
            </a:lvl7pPr>
            <a:lvl8pPr>
              <a:defRPr sz="8700"/>
            </a:lvl8pPr>
            <a:lvl9pPr>
              <a:defRPr sz="8700"/>
            </a:lvl9pPr>
          </a:lstStyle>
          <a:p xmlns:a="http://schemas.openxmlformats.org/drawingml/2006/main">
            <a:pPr algn="l">
              <a:lnSpc>
                <a:spcPts val="11400"/>
              </a:lnSpc>
              <a:buNone/>
              <a:defRPr sz="8700"/>
            </a:pPr>
            <a:r>
              <a:rPr sz="8700" b="1">
                <a:solidFill>
                  <a:srgbClr val="FFFFFF"/>
                </a:solidFill>
                <a:latin typeface="Cambria Bold"/>
                <a:ea typeface="Cambria Bold"/>
                <a:cs typeface="Cambria Bold"/>
              </a:rPr>
              <a:t>Veltis Software: ColdTrace</a:t>
            </a:r>
          </a:p>
        </p:txBody>
      </p:sp>
      <p:sp>
        <p:nvSpPr>
          <p:cNvPr id="6" name="Freeform 6">
            <a:extLst xmlns:a="http://schemas.openxmlformats.org/drawingml/2006/main">
              <a:ext uri="{FF2B5EF4-FFF2-40B4-BE49-F238E27FC236}">
                <a16:creationId xmlns:a16="http://schemas.microsoft.com/office/drawing/2014/main" id="{A49FE5A2-602A-44CD-8446-A862BD19D848}"/>
              </a:ext>
            </a:extLst>
          </p:cNvPr>
          <p:cNvSpPr>
            <a:spLocks xmlns:a="http://schemas.openxmlformats.org/drawingml/2006/main" noGrp="1"/>
          </p:cNvSpPr>
          <p:nvPr/>
        </p:nvSpPr>
        <p:spPr>
          <a:xfrm xmlns:a="http://schemas.openxmlformats.org/drawingml/2006/main" rot="0" flipH="0" flipV="0">
            <a:off x="1280160" y="3840480"/>
            <a:ext cx="15727679" cy="914400"/>
          </a:xfrm>
          <a:custGeom xmlns:a="http://schemas.openxmlformats.org/drawingml/2006/main">
            <a:rect l="l" t="t" r="r" b="b"/>
            <a:pathLst>
              <a:path w="20970239" h="1219200">
                <a:moveTo>
                  <a:pt x="0" y="0"/>
                </a:moveTo>
                <a:lnTo>
                  <a:pt x="20970239" y="0"/>
                </a:lnTo>
                <a:lnTo>
                  <a:pt x="20970239" y="1219200"/>
                </a:lnTo>
                <a:lnTo>
                  <a:pt x="0" y="1219200"/>
                </a:lnTo>
                <a:close/>
              </a:path>
            </a:pathLst>
          </a:custGeom>
          <a:blipFill xmlns:a="http://schemas.openxmlformats.org/drawingml/2006/main">
            <a:blip xmlns:r="http://schemas.openxmlformats.org/officeDocument/2006/relationships" r:embed="Rddb6c55ed5a64dd0">
              <a:alphaModFix amt="0"/>
            </a:blip>
            <a:stretch>
              <a:fillRect l="0" t="-285142" r="0" b="-285142"/>
            </a:stretch>
          </a:blip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45F72E29-769D-4262-B96F-EF1B2544DBD0}"/>
              </a:ext>
            </a:extLst>
          </p:cNvPr>
          <p:cNvSpPr>
            <a:spLocks xmlns:a="http://schemas.openxmlformats.org/drawingml/2006/main" noGrp="1"/>
          </p:cNvSpPr>
          <p:nvPr/>
        </p:nvSpPr>
        <p:spPr>
          <a:xfrm xmlns:a="http://schemas.openxmlformats.org/drawingml/2006/main" rot="0" flipH="0" flipV="0">
            <a:off x="1280160" y="3783330"/>
            <a:ext cx="15727680"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280"/>
              </a:lnSpc>
              <a:buNone/>
            </a:pPr>
            <a:r>
              <a:rPr sz="4400">
                <a:solidFill>
                  <a:srgbClr val="6FB7C2"/>
                </a:solidFill>
                <a:latin typeface="Calibri (MS)"/>
                <a:ea typeface="Calibri (MS)"/>
                <a:cs typeface="Calibri (MS)"/>
              </a:rPr>
              <a:t>Monitoreo inteligente de la cadena de frío</a:t>
            </a:r>
          </a:p>
        </p:txBody>
      </p:sp>
      <p:sp>
        <p:nvSpPr>
          <p:cNvPr id="8" name="TextBox 8">
            <a:extLst xmlns:a="http://schemas.openxmlformats.org/drawingml/2006/main">
              <a:ext uri="{FF2B5EF4-FFF2-40B4-BE49-F238E27FC236}">
                <a16:creationId xmlns:a16="http://schemas.microsoft.com/office/drawing/2014/main" id="{6E23CCDE-D80F-4FAE-857A-D6587778B8B4}"/>
              </a:ext>
            </a:extLst>
          </p:cNvPr>
          <p:cNvSpPr>
            <a:spLocks xmlns:a="http://schemas.openxmlformats.org/drawingml/2006/main" noGrp="1"/>
          </p:cNvSpPr>
          <p:nvPr/>
        </p:nvSpPr>
        <p:spPr>
          <a:xfrm xmlns:a="http://schemas.openxmlformats.org/drawingml/2006/main">
            <a:off x="1280160" y="5785485"/>
            <a:ext cx="15727680" cy="25812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359"/>
              </a:lnSpc>
              <a:buNone/>
            </a:pPr>
            <a:r>
              <a:rPr sz="2799">
                <a:solidFill>
                  <a:srgbClr val="EAF3F6"/>
                </a:solidFill>
                <a:latin typeface="Calibri (MS)"/>
                <a:ea typeface="Calibri (MS)"/>
                <a:cs typeface="Calibri (MS)"/>
              </a:rPr>
              <a:t>Trabajo Parcial · Fundamentos de Arquitectura de Software (1ASI0657)</a:t>
            </a:r>
          </a:p>
          <a:p xmlns:a="http://schemas.openxmlformats.org/drawingml/2006/main">
            <a:pPr algn="l">
              <a:lnSpc>
                <a:spcPts val="3359"/>
              </a:lnSpc>
              <a:buNone/>
            </a:pPr>
            <a:r>
              <a:rPr sz="2799">
                <a:solidFill>
                  <a:srgbClr val="EAF3F6"/>
                </a:solidFill>
                <a:latin typeface="Calibri (MS)"/>
                <a:ea typeface="Calibri (MS)"/>
                <a:cs typeface="Calibri (MS)"/>
              </a:rPr>
              <a:t>UPC · NRC 9199 · Grupo 13 · Veltis Software</a:t>
            </a:r>
          </a:p>
          <a:p xmlns:a="http://schemas.openxmlformats.org/drawingml/2006/main">
            <a:pPr algn="l">
              <a:lnSpc>
                <a:spcPts val="3359"/>
              </a:lnSpc>
              <a:buNone/>
            </a:pPr>
            <a:r>
              <a:rPr sz="2799">
                <a:solidFill>
                  <a:srgbClr val="EAF3F6"/>
                </a:solidFill>
                <a:latin typeface="Calibri (MS)"/>
                <a:ea typeface="Calibri (MS)"/>
                <a:cs typeface="Calibri (MS)"/>
              </a:rPr>
              <a:t> </a:t>
            </a:r>
          </a:p>
          <a:p xmlns:a="http://schemas.openxmlformats.org/drawingml/2006/main">
            <a:pPr algn="l">
              <a:lnSpc>
                <a:spcPts val="3359"/>
              </a:lnSpc>
              <a:buNone/>
            </a:pPr>
            <a:r>
              <a:rPr sz="2799">
                <a:solidFill>
                  <a:srgbClr val="EAF3F6"/>
                </a:solidFill>
                <a:latin typeface="Calibri (MS)"/>
                <a:ea typeface="Calibri (MS)"/>
                <a:cs typeface="Calibri (MS)"/>
              </a:rPr>
              <a:t>Condori Lozano, Alessandro Ramiro  </a:t>
            </a:r>
          </a:p>
          <a:p xmlns:a="http://schemas.openxmlformats.org/drawingml/2006/main">
            <a:pPr algn="l">
              <a:lnSpc>
                <a:spcPts val="3359"/>
              </a:lnSpc>
              <a:buNone/>
            </a:pPr>
            <a:r>
              <a:rPr sz="2799">
                <a:solidFill>
                  <a:srgbClr val="EAF3F6"/>
                </a:solidFill>
                <a:latin typeface="Calibri (MS)"/>
                <a:ea typeface="Calibri (MS)"/>
                <a:cs typeface="Calibri (MS)"/>
              </a:rPr>
              <a:t>Julca Cruz, Renso Anthony </a:t>
            </a:r>
          </a:p>
          <a:p xmlns:a="http://schemas.openxmlformats.org/drawingml/2006/main">
            <a:pPr algn="l">
              <a:lnSpc>
                <a:spcPts val="3359"/>
              </a:lnSpc>
              <a:buNone/>
            </a:pPr>
            <a:r>
              <a:rPr sz="2799">
                <a:solidFill>
                  <a:srgbClr val="EAF3F6"/>
                </a:solidFill>
                <a:latin typeface="Calibri (MS)"/>
                <a:ea typeface="Calibri (MS)"/>
                <a:cs typeface="Calibri (MS)"/>
              </a:rPr>
              <a:t>Morales Venegas, David Joel</a:t>
            </a:r>
          </a:p>
        </p:txBody>
      </p:sp>
    </p:spTree>
    <p:extLst>
      <p:ext uri="{BB962C8B-B14F-4D97-AF65-F5344CB8AC3E}">
        <p14:creationId xmlns:p14="http://schemas.microsoft.com/office/powerpoint/2010/main" val="994482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DD20D64-C786-40AA-BFE1-2320C6C90523}"/>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2cd52dac3e5643b4">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6C46A0BB-4BAB-4777-9AE4-3C2D076D659C}"/>
              </a:ext>
            </a:extLst>
          </p:cNvPr>
          <p:cNvSpPr>
            <a:spLocks xmlns:a="http://schemas.openxmlformats.org/drawingml/2006/main" noGrp="1"/>
          </p:cNvSpPr>
          <p:nvPr/>
        </p:nvSpPr>
        <p:spPr>
          <a:xfrm xmlns:a="http://schemas.openxmlformats.org/drawingml/2006/main" rot="0" flipH="0" flipV="0">
            <a:off x="1450343" y="2181863"/>
            <a:ext cx="1122616" cy="1122616"/>
          </a:xfrm>
          <a:custGeom xmlns:a="http://schemas.openxmlformats.org/drawingml/2006/main">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xmlns:a="http://schemas.openxmlformats.org/drawingml/2006/main">
            <a:srgbClr val="1B7F8C"/>
          </a:solidFill>
          <a:ln xmlns:a="http://schemas.openxmlformats.org/drawingml/2006/main" w="25400" cap="sq">
            <a:solidFill>
              <a:srgbClr val="1B7F8C"/>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998FD155-572D-4054-A484-04AA40153A7D}"/>
              </a:ext>
            </a:extLst>
          </p:cNvPr>
          <p:cNvSpPr>
            <a:spLocks xmlns:a="http://schemas.openxmlformats.org/drawingml/2006/main" noGrp="1"/>
          </p:cNvSpPr>
          <p:nvPr/>
        </p:nvSpPr>
        <p:spPr>
          <a:xfrm xmlns:a="http://schemas.openxmlformats.org/drawingml/2006/main" rot="0" flipH="0" flipV="0">
            <a:off x="1463040" y="2194560"/>
            <a:ext cx="1097280" cy="1097280"/>
          </a:xfrm>
          <a:custGeom xmlns:a="http://schemas.openxmlformats.org/drawingml/2006/main">
            <a:rect l="l" t="t" r="r" b="b"/>
            <a:pathLst>
              <a:path w="1463040" h="1463040">
                <a:moveTo>
                  <a:pt x="0" y="0"/>
                </a:moveTo>
                <a:lnTo>
                  <a:pt x="1463040" y="0"/>
                </a:lnTo>
                <a:lnTo>
                  <a:pt x="1463040" y="1463040"/>
                </a:lnTo>
                <a:lnTo>
                  <a:pt x="0" y="1463040"/>
                </a:lnTo>
                <a:close/>
              </a:path>
            </a:pathLst>
          </a:custGeom>
          <a:blipFill xmlns:a="http://schemas.openxmlformats.org/drawingml/2006/main">
            <a:blip xmlns:r="http://schemas.openxmlformats.org/officeDocument/2006/relationships" r:embed="R2cd52dac3e5643b4">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BDA0A721-1DFE-4425-98B8-94ED8D60C6BE}"/>
              </a:ext>
            </a:extLst>
          </p:cNvPr>
          <p:cNvSpPr>
            <a:spLocks xmlns:a="http://schemas.openxmlformats.org/drawingml/2006/main" noGrp="1"/>
          </p:cNvSpPr>
          <p:nvPr/>
        </p:nvSpPr>
        <p:spPr>
          <a:xfrm xmlns:a="http://schemas.openxmlformats.org/drawingml/2006/main" rot="0" flipH="0" flipV="0">
            <a:off x="1463040" y="2187417"/>
            <a:ext cx="109728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799"/>
              </a:lnSpc>
              <a:buNone/>
            </a:pPr>
            <a:r>
              <a:rPr sz="3999" b="1">
                <a:solidFill>
                  <a:srgbClr val="FFFFFF"/>
                </a:solidFill>
                <a:latin typeface="Cambria Bold"/>
                <a:ea typeface="Cambria Bold"/>
                <a:cs typeface="Cambria Bold"/>
              </a:rPr>
              <a:t>1</a:t>
            </a:r>
          </a:p>
        </p:txBody>
      </p:sp>
      <p:sp>
        <p:nvSpPr>
          <p:cNvPr id="11" name="Freeform 11">
            <a:extLst xmlns:a="http://schemas.openxmlformats.org/drawingml/2006/main">
              <a:ext uri="{FF2B5EF4-FFF2-40B4-BE49-F238E27FC236}">
                <a16:creationId xmlns:a16="http://schemas.microsoft.com/office/drawing/2014/main" id="{326CC758-D6F4-4DEA-B8DD-45842B90F8BE}"/>
              </a:ext>
            </a:extLst>
          </p:cNvPr>
          <p:cNvSpPr>
            <a:spLocks xmlns:a="http://schemas.openxmlformats.org/drawingml/2006/main" noGrp="1"/>
          </p:cNvSpPr>
          <p:nvPr/>
        </p:nvSpPr>
        <p:spPr>
          <a:xfrm xmlns:a="http://schemas.openxmlformats.org/drawingml/2006/main" rot="0" flipH="0" flipV="0">
            <a:off x="3108960" y="2194560"/>
            <a:ext cx="13716000" cy="1097280"/>
          </a:xfrm>
          <a:custGeom xmlns:a="http://schemas.openxmlformats.org/drawingml/2006/main">
            <a:rect l="l" t="t" r="r" b="b"/>
            <a:pathLst>
              <a:path w="18288000" h="1463040">
                <a:moveTo>
                  <a:pt x="0" y="0"/>
                </a:moveTo>
                <a:lnTo>
                  <a:pt x="18288000" y="0"/>
                </a:lnTo>
                <a:lnTo>
                  <a:pt x="18288000" y="1463040"/>
                </a:lnTo>
                <a:lnTo>
                  <a:pt x="0" y="1463040"/>
                </a:lnTo>
                <a:close/>
              </a:path>
            </a:pathLst>
          </a:custGeom>
          <a:blipFill xmlns:a="http://schemas.openxmlformats.org/drawingml/2006/main">
            <a:blip xmlns:r="http://schemas.openxmlformats.org/officeDocument/2006/relationships" r:embed="R2cd52dac3e5643b4">
              <a:alphaModFix amt="0"/>
            </a:blip>
            <a:stretch>
              <a:fillRect l="0" t="-193562" r="0" b="-193562"/>
            </a:stretch>
          </a:blipFill>
        </p:spPr>
        <p:txBody>
          <a:bodyPr xmlns:a="http://schemas.openxmlformats.org/drawingml/2006/main"/>
          <a:lstStyle xmlns:a="http://schemas.openxmlformats.org/drawingml/2006/main"/>
          <a:p xmlns:a="http://schemas.openxmlformats.org/drawingml/2006/main">
            <a:endParaRPr/>
          </a:p>
        </p:txBody>
      </p:sp>
      <p:sp>
        <p:nvSpPr>
          <p:cNvPr id="12" name="TextBox 12">
            <a:extLst xmlns:a="http://schemas.openxmlformats.org/drawingml/2006/main">
              <a:ext uri="{FF2B5EF4-FFF2-40B4-BE49-F238E27FC236}">
                <a16:creationId xmlns:a16="http://schemas.microsoft.com/office/drawing/2014/main" id="{4FCCE95F-AFC4-45D8-B748-B732131C6DB3}"/>
              </a:ext>
            </a:extLst>
          </p:cNvPr>
          <p:cNvSpPr>
            <a:spLocks xmlns:a="http://schemas.openxmlformats.org/drawingml/2006/main" noGrp="1"/>
          </p:cNvSpPr>
          <p:nvPr/>
        </p:nvSpPr>
        <p:spPr>
          <a:xfrm xmlns:a="http://schemas.openxmlformats.org/drawingml/2006/main" rot="0" flipH="0" flipV="0">
            <a:off x="3108960" y="2130267"/>
            <a:ext cx="13716000" cy="116157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a:solidFill>
                  <a:srgbClr val="1F2D3A"/>
                </a:solidFill>
                <a:latin typeface="Calibri (MS)"/>
                <a:ea typeface="Calibri (MS)"/>
                <a:cs typeface="Calibri (MS)"/>
              </a:rPr>
              <a:t>Presentación del proyecto</a:t>
            </a:r>
          </a:p>
        </p:txBody>
      </p:sp>
      <p:sp>
        <p:nvSpPr>
          <p:cNvPr id="14" name="Freeform 14">
            <a:extLst xmlns:a="http://schemas.openxmlformats.org/drawingml/2006/main">
              <a:ext uri="{FF2B5EF4-FFF2-40B4-BE49-F238E27FC236}">
                <a16:creationId xmlns:a16="http://schemas.microsoft.com/office/drawing/2014/main" id="{70EA5CC6-C04B-40BF-B79F-F1D9B3C629C6}"/>
              </a:ext>
            </a:extLst>
          </p:cNvPr>
          <p:cNvSpPr>
            <a:spLocks xmlns:a="http://schemas.openxmlformats.org/drawingml/2006/main" noGrp="1"/>
          </p:cNvSpPr>
          <p:nvPr/>
        </p:nvSpPr>
        <p:spPr>
          <a:xfrm xmlns:a="http://schemas.openxmlformats.org/drawingml/2006/main" rot="0" flipH="0" flipV="0">
            <a:off x="1450343" y="3644903"/>
            <a:ext cx="1122616" cy="1122616"/>
          </a:xfrm>
          <a:custGeom xmlns:a="http://schemas.openxmlformats.org/drawingml/2006/main">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xmlns:a="http://schemas.openxmlformats.org/drawingml/2006/main">
            <a:srgbClr val="1B7F8C"/>
          </a:solidFill>
          <a:ln xmlns:a="http://schemas.openxmlformats.org/drawingml/2006/main" w="25400" cap="sq">
            <a:solidFill>
              <a:srgbClr val="1B7F8C"/>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6" name="Freeform 16">
            <a:extLst xmlns:a="http://schemas.openxmlformats.org/drawingml/2006/main">
              <a:ext uri="{FF2B5EF4-FFF2-40B4-BE49-F238E27FC236}">
                <a16:creationId xmlns:a16="http://schemas.microsoft.com/office/drawing/2014/main" id="{2BA92788-A5B1-4C85-B1B0-2DB38EB0FB18}"/>
              </a:ext>
            </a:extLst>
          </p:cNvPr>
          <p:cNvSpPr>
            <a:spLocks xmlns:a="http://schemas.openxmlformats.org/drawingml/2006/main" noGrp="1"/>
          </p:cNvSpPr>
          <p:nvPr/>
        </p:nvSpPr>
        <p:spPr>
          <a:xfrm xmlns:a="http://schemas.openxmlformats.org/drawingml/2006/main" rot="0" flipH="0" flipV="0">
            <a:off x="1463040" y="3657600"/>
            <a:ext cx="1097280" cy="1097280"/>
          </a:xfrm>
          <a:custGeom xmlns:a="http://schemas.openxmlformats.org/drawingml/2006/main">
            <a:rect l="l" t="t" r="r" b="b"/>
            <a:pathLst>
              <a:path w="1463040" h="1463040">
                <a:moveTo>
                  <a:pt x="0" y="0"/>
                </a:moveTo>
                <a:lnTo>
                  <a:pt x="1463040" y="0"/>
                </a:lnTo>
                <a:lnTo>
                  <a:pt x="1463040" y="1463040"/>
                </a:lnTo>
                <a:lnTo>
                  <a:pt x="0" y="1463040"/>
                </a:lnTo>
                <a:close/>
              </a:path>
            </a:pathLst>
          </a:custGeom>
          <a:blipFill xmlns:a="http://schemas.openxmlformats.org/drawingml/2006/main">
            <a:blip xmlns:r="http://schemas.openxmlformats.org/officeDocument/2006/relationships" r:embed="R2cd52dac3e5643b4">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17" name="TextBox 17">
            <a:extLst xmlns:a="http://schemas.openxmlformats.org/drawingml/2006/main">
              <a:ext uri="{FF2B5EF4-FFF2-40B4-BE49-F238E27FC236}">
                <a16:creationId xmlns:a16="http://schemas.microsoft.com/office/drawing/2014/main" id="{F931080C-49C4-43E6-B97B-861DB913B32C}"/>
              </a:ext>
            </a:extLst>
          </p:cNvPr>
          <p:cNvSpPr>
            <a:spLocks xmlns:a="http://schemas.openxmlformats.org/drawingml/2006/main" noGrp="1"/>
          </p:cNvSpPr>
          <p:nvPr/>
        </p:nvSpPr>
        <p:spPr>
          <a:xfrm xmlns:a="http://schemas.openxmlformats.org/drawingml/2006/main" rot="0" flipH="0" flipV="0">
            <a:off x="1463040" y="3650457"/>
            <a:ext cx="109728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799"/>
              </a:lnSpc>
              <a:buNone/>
            </a:pPr>
            <a:r>
              <a:rPr sz="3999" b="1">
                <a:solidFill>
                  <a:srgbClr val="FFFFFF"/>
                </a:solidFill>
                <a:latin typeface="Cambria Bold"/>
                <a:ea typeface="Cambria Bold"/>
                <a:cs typeface="Cambria Bold"/>
              </a:rPr>
              <a:t>2</a:t>
            </a:r>
          </a:p>
        </p:txBody>
      </p:sp>
      <p:sp>
        <p:nvSpPr>
          <p:cNvPr id="19" name="Freeform 19">
            <a:extLst xmlns:a="http://schemas.openxmlformats.org/drawingml/2006/main">
              <a:ext uri="{FF2B5EF4-FFF2-40B4-BE49-F238E27FC236}">
                <a16:creationId xmlns:a16="http://schemas.microsoft.com/office/drawing/2014/main" id="{A96D0AAD-65E7-4092-81E3-5E084635C7B7}"/>
              </a:ext>
            </a:extLst>
          </p:cNvPr>
          <p:cNvSpPr>
            <a:spLocks xmlns:a="http://schemas.openxmlformats.org/drawingml/2006/main" noGrp="1"/>
          </p:cNvSpPr>
          <p:nvPr/>
        </p:nvSpPr>
        <p:spPr>
          <a:xfrm xmlns:a="http://schemas.openxmlformats.org/drawingml/2006/main" rot="0" flipH="0" flipV="0">
            <a:off x="3108960" y="3657600"/>
            <a:ext cx="13716000" cy="1097280"/>
          </a:xfrm>
          <a:custGeom xmlns:a="http://schemas.openxmlformats.org/drawingml/2006/main">
            <a:rect l="l" t="t" r="r" b="b"/>
            <a:pathLst>
              <a:path w="18288000" h="1463040">
                <a:moveTo>
                  <a:pt x="0" y="0"/>
                </a:moveTo>
                <a:lnTo>
                  <a:pt x="18288000" y="0"/>
                </a:lnTo>
                <a:lnTo>
                  <a:pt x="18288000" y="1463040"/>
                </a:lnTo>
                <a:lnTo>
                  <a:pt x="0" y="1463040"/>
                </a:lnTo>
                <a:close/>
              </a:path>
            </a:pathLst>
          </a:custGeom>
          <a:blipFill xmlns:a="http://schemas.openxmlformats.org/drawingml/2006/main">
            <a:blip xmlns:r="http://schemas.openxmlformats.org/officeDocument/2006/relationships" r:embed="R2cd52dac3e5643b4">
              <a:alphaModFix amt="0"/>
            </a:blip>
            <a:stretch>
              <a:fillRect l="0" t="-193562" r="0" b="-193562"/>
            </a:stretch>
          </a:blipFill>
        </p:spPr>
        <p:txBody>
          <a:bodyPr xmlns:a="http://schemas.openxmlformats.org/drawingml/2006/main"/>
          <a:lstStyle xmlns:a="http://schemas.openxmlformats.org/drawingml/2006/main"/>
          <a:p xmlns:a="http://schemas.openxmlformats.org/drawingml/2006/main">
            <a:endParaRPr/>
          </a:p>
        </p:txBody>
      </p:sp>
      <p:sp>
        <p:nvSpPr>
          <p:cNvPr id="20" name="TextBox 20">
            <a:extLst xmlns:a="http://schemas.openxmlformats.org/drawingml/2006/main">
              <a:ext uri="{FF2B5EF4-FFF2-40B4-BE49-F238E27FC236}">
                <a16:creationId xmlns:a16="http://schemas.microsoft.com/office/drawing/2014/main" id="{4C4C6F55-03FF-4F66-9BA9-92C2EDE1B7EE}"/>
              </a:ext>
            </a:extLst>
          </p:cNvPr>
          <p:cNvSpPr>
            <a:spLocks xmlns:a="http://schemas.openxmlformats.org/drawingml/2006/main" noGrp="1"/>
          </p:cNvSpPr>
          <p:nvPr/>
        </p:nvSpPr>
        <p:spPr>
          <a:xfrm xmlns:a="http://schemas.openxmlformats.org/drawingml/2006/main" rot="0" flipH="0" flipV="0">
            <a:off x="3108960" y="3593307"/>
            <a:ext cx="13716000" cy="116157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a:solidFill>
                  <a:srgbClr val="1F2D3A"/>
                </a:solidFill>
                <a:latin typeface="Calibri (MS)"/>
                <a:ea typeface="Calibri (MS)"/>
                <a:cs typeface="Calibri (MS)"/>
              </a:rPr>
              <a:t>Product Backlog funcional y no funcional</a:t>
            </a:r>
          </a:p>
        </p:txBody>
      </p:sp>
      <p:sp>
        <p:nvSpPr>
          <p:cNvPr id="22" name="Freeform 22">
            <a:extLst xmlns:a="http://schemas.openxmlformats.org/drawingml/2006/main">
              <a:ext uri="{FF2B5EF4-FFF2-40B4-BE49-F238E27FC236}">
                <a16:creationId xmlns:a16="http://schemas.microsoft.com/office/drawing/2014/main" id="{0617C3B1-6B79-410B-9141-5F898D31E2A2}"/>
              </a:ext>
            </a:extLst>
          </p:cNvPr>
          <p:cNvSpPr>
            <a:spLocks xmlns:a="http://schemas.openxmlformats.org/drawingml/2006/main" noGrp="1"/>
          </p:cNvSpPr>
          <p:nvPr/>
        </p:nvSpPr>
        <p:spPr>
          <a:xfrm xmlns:a="http://schemas.openxmlformats.org/drawingml/2006/main" rot="0" flipH="0" flipV="0">
            <a:off x="1450343" y="5107943"/>
            <a:ext cx="1122616" cy="1122616"/>
          </a:xfrm>
          <a:custGeom xmlns:a="http://schemas.openxmlformats.org/drawingml/2006/main">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xmlns:a="http://schemas.openxmlformats.org/drawingml/2006/main">
            <a:srgbClr val="1B7F8C"/>
          </a:solidFill>
          <a:ln xmlns:a="http://schemas.openxmlformats.org/drawingml/2006/main" w="25400" cap="sq">
            <a:solidFill>
              <a:srgbClr val="1B7F8C"/>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4" name="Freeform 24">
            <a:extLst xmlns:a="http://schemas.openxmlformats.org/drawingml/2006/main">
              <a:ext uri="{FF2B5EF4-FFF2-40B4-BE49-F238E27FC236}">
                <a16:creationId xmlns:a16="http://schemas.microsoft.com/office/drawing/2014/main" id="{28BC7DCB-85A3-4B22-9F58-825AA9A14251}"/>
              </a:ext>
            </a:extLst>
          </p:cNvPr>
          <p:cNvSpPr>
            <a:spLocks xmlns:a="http://schemas.openxmlformats.org/drawingml/2006/main" noGrp="1"/>
          </p:cNvSpPr>
          <p:nvPr/>
        </p:nvSpPr>
        <p:spPr>
          <a:xfrm xmlns:a="http://schemas.openxmlformats.org/drawingml/2006/main" rot="0" flipH="0" flipV="0">
            <a:off x="1463040" y="5120640"/>
            <a:ext cx="1097280" cy="1097280"/>
          </a:xfrm>
          <a:custGeom xmlns:a="http://schemas.openxmlformats.org/drawingml/2006/main">
            <a:rect l="l" t="t" r="r" b="b"/>
            <a:pathLst>
              <a:path w="1463040" h="1463040">
                <a:moveTo>
                  <a:pt x="0" y="0"/>
                </a:moveTo>
                <a:lnTo>
                  <a:pt x="1463040" y="0"/>
                </a:lnTo>
                <a:lnTo>
                  <a:pt x="1463040" y="1463040"/>
                </a:lnTo>
                <a:lnTo>
                  <a:pt x="0" y="1463040"/>
                </a:lnTo>
                <a:close/>
              </a:path>
            </a:pathLst>
          </a:custGeom>
          <a:blipFill xmlns:a="http://schemas.openxmlformats.org/drawingml/2006/main">
            <a:blip xmlns:r="http://schemas.openxmlformats.org/officeDocument/2006/relationships" r:embed="R2cd52dac3e5643b4">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25" name="TextBox 25">
            <a:extLst xmlns:a="http://schemas.openxmlformats.org/drawingml/2006/main">
              <a:ext uri="{FF2B5EF4-FFF2-40B4-BE49-F238E27FC236}">
                <a16:creationId xmlns:a16="http://schemas.microsoft.com/office/drawing/2014/main" id="{10EAECAD-8136-42C2-BC50-43BB34CBF73E}"/>
              </a:ext>
            </a:extLst>
          </p:cNvPr>
          <p:cNvSpPr>
            <a:spLocks xmlns:a="http://schemas.openxmlformats.org/drawingml/2006/main" noGrp="1"/>
          </p:cNvSpPr>
          <p:nvPr/>
        </p:nvSpPr>
        <p:spPr>
          <a:xfrm xmlns:a="http://schemas.openxmlformats.org/drawingml/2006/main" rot="0" flipH="0" flipV="0">
            <a:off x="1463040" y="5113497"/>
            <a:ext cx="109728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799"/>
              </a:lnSpc>
              <a:buNone/>
            </a:pPr>
            <a:r>
              <a:rPr sz="3999" b="1">
                <a:solidFill>
                  <a:srgbClr val="FFFFFF"/>
                </a:solidFill>
                <a:latin typeface="Cambria Bold"/>
                <a:ea typeface="Cambria Bold"/>
                <a:cs typeface="Cambria Bold"/>
              </a:rPr>
              <a:t>3</a:t>
            </a:r>
          </a:p>
        </p:txBody>
      </p:sp>
      <p:sp>
        <p:nvSpPr>
          <p:cNvPr id="27" name="Freeform 27">
            <a:extLst xmlns:a="http://schemas.openxmlformats.org/drawingml/2006/main">
              <a:ext uri="{FF2B5EF4-FFF2-40B4-BE49-F238E27FC236}">
                <a16:creationId xmlns:a16="http://schemas.microsoft.com/office/drawing/2014/main" id="{E2B58A6C-1DB1-44DB-8136-1D80A16C17BF}"/>
              </a:ext>
            </a:extLst>
          </p:cNvPr>
          <p:cNvSpPr>
            <a:spLocks xmlns:a="http://schemas.openxmlformats.org/drawingml/2006/main" noGrp="1"/>
          </p:cNvSpPr>
          <p:nvPr/>
        </p:nvSpPr>
        <p:spPr>
          <a:xfrm xmlns:a="http://schemas.openxmlformats.org/drawingml/2006/main" rot="0" flipH="0" flipV="0">
            <a:off x="3108960" y="5120640"/>
            <a:ext cx="13716000" cy="1097280"/>
          </a:xfrm>
          <a:custGeom xmlns:a="http://schemas.openxmlformats.org/drawingml/2006/main">
            <a:rect l="l" t="t" r="r" b="b"/>
            <a:pathLst>
              <a:path w="18288000" h="1463040">
                <a:moveTo>
                  <a:pt x="0" y="0"/>
                </a:moveTo>
                <a:lnTo>
                  <a:pt x="18288000" y="0"/>
                </a:lnTo>
                <a:lnTo>
                  <a:pt x="18288000" y="1463040"/>
                </a:lnTo>
                <a:lnTo>
                  <a:pt x="0" y="1463040"/>
                </a:lnTo>
                <a:close/>
              </a:path>
            </a:pathLst>
          </a:custGeom>
          <a:blipFill xmlns:a="http://schemas.openxmlformats.org/drawingml/2006/main">
            <a:blip xmlns:r="http://schemas.openxmlformats.org/officeDocument/2006/relationships" r:embed="R2cd52dac3e5643b4">
              <a:alphaModFix amt="0"/>
            </a:blip>
            <a:stretch>
              <a:fillRect l="0" t="-193562" r="0" b="-193562"/>
            </a:stretch>
          </a:blipFill>
        </p:spPr>
        <p:txBody>
          <a:bodyPr xmlns:a="http://schemas.openxmlformats.org/drawingml/2006/main"/>
          <a:lstStyle xmlns:a="http://schemas.openxmlformats.org/drawingml/2006/main"/>
          <a:p xmlns:a="http://schemas.openxmlformats.org/drawingml/2006/main">
            <a:endParaRPr/>
          </a:p>
        </p:txBody>
      </p:sp>
      <p:sp>
        <p:nvSpPr>
          <p:cNvPr id="28" name="TextBox 28">
            <a:extLst xmlns:a="http://schemas.openxmlformats.org/drawingml/2006/main">
              <a:ext uri="{FF2B5EF4-FFF2-40B4-BE49-F238E27FC236}">
                <a16:creationId xmlns:a16="http://schemas.microsoft.com/office/drawing/2014/main" id="{D4CBCDF9-4134-43A0-96D0-E5F8CA46A5D6}"/>
              </a:ext>
            </a:extLst>
          </p:cNvPr>
          <p:cNvSpPr>
            <a:spLocks xmlns:a="http://schemas.openxmlformats.org/drawingml/2006/main" noGrp="1"/>
          </p:cNvSpPr>
          <p:nvPr/>
        </p:nvSpPr>
        <p:spPr>
          <a:xfrm xmlns:a="http://schemas.openxmlformats.org/drawingml/2006/main" rot="0" flipH="0" flipV="0">
            <a:off x="3108960" y="5056347"/>
            <a:ext cx="13716000" cy="116157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a:solidFill>
                  <a:srgbClr val="1F2D3A"/>
                </a:solidFill>
                <a:latin typeface="Calibri (MS)"/>
                <a:ea typeface="Calibri (MS)"/>
                <a:cs typeface="Calibri (MS)"/>
              </a:rPr>
              <a:t>Prototipos y recorrido del Sprint 1</a:t>
            </a:r>
          </a:p>
        </p:txBody>
      </p:sp>
      <p:sp>
        <p:nvSpPr>
          <p:cNvPr id="30" name="Freeform 30">
            <a:extLst xmlns:a="http://schemas.openxmlformats.org/drawingml/2006/main">
              <a:ext uri="{FF2B5EF4-FFF2-40B4-BE49-F238E27FC236}">
                <a16:creationId xmlns:a16="http://schemas.microsoft.com/office/drawing/2014/main" id="{F2084BBF-7174-4BA4-A8F9-A7577619DA61}"/>
              </a:ext>
            </a:extLst>
          </p:cNvPr>
          <p:cNvSpPr>
            <a:spLocks xmlns:a="http://schemas.openxmlformats.org/drawingml/2006/main" noGrp="1"/>
          </p:cNvSpPr>
          <p:nvPr/>
        </p:nvSpPr>
        <p:spPr>
          <a:xfrm xmlns:a="http://schemas.openxmlformats.org/drawingml/2006/main" rot="0" flipH="0" flipV="0">
            <a:off x="1450343" y="6570983"/>
            <a:ext cx="1122616" cy="1122616"/>
          </a:xfrm>
          <a:custGeom xmlns:a="http://schemas.openxmlformats.org/drawingml/2006/main">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xmlns:a="http://schemas.openxmlformats.org/drawingml/2006/main">
            <a:srgbClr val="1B7F8C"/>
          </a:solidFill>
          <a:ln xmlns:a="http://schemas.openxmlformats.org/drawingml/2006/main" w="25400" cap="sq">
            <a:solidFill>
              <a:srgbClr val="1B7F8C"/>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32" name="Freeform 32">
            <a:extLst xmlns:a="http://schemas.openxmlformats.org/drawingml/2006/main">
              <a:ext uri="{FF2B5EF4-FFF2-40B4-BE49-F238E27FC236}">
                <a16:creationId xmlns:a16="http://schemas.microsoft.com/office/drawing/2014/main" id="{3C7C64D3-7657-4427-AE13-DC0929151D37}"/>
              </a:ext>
            </a:extLst>
          </p:cNvPr>
          <p:cNvSpPr>
            <a:spLocks xmlns:a="http://schemas.openxmlformats.org/drawingml/2006/main" noGrp="1"/>
          </p:cNvSpPr>
          <p:nvPr/>
        </p:nvSpPr>
        <p:spPr>
          <a:xfrm xmlns:a="http://schemas.openxmlformats.org/drawingml/2006/main" rot="0" flipH="0" flipV="0">
            <a:off x="1463040" y="6583680"/>
            <a:ext cx="1097280" cy="1097280"/>
          </a:xfrm>
          <a:custGeom xmlns:a="http://schemas.openxmlformats.org/drawingml/2006/main">
            <a:rect l="l" t="t" r="r" b="b"/>
            <a:pathLst>
              <a:path w="1463040" h="1463040">
                <a:moveTo>
                  <a:pt x="0" y="0"/>
                </a:moveTo>
                <a:lnTo>
                  <a:pt x="1463040" y="0"/>
                </a:lnTo>
                <a:lnTo>
                  <a:pt x="1463040" y="1463040"/>
                </a:lnTo>
                <a:lnTo>
                  <a:pt x="0" y="1463040"/>
                </a:lnTo>
                <a:close/>
              </a:path>
            </a:pathLst>
          </a:custGeom>
          <a:blipFill xmlns:a="http://schemas.openxmlformats.org/drawingml/2006/main">
            <a:blip xmlns:r="http://schemas.openxmlformats.org/officeDocument/2006/relationships" r:embed="R2cd52dac3e5643b4">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33" name="TextBox 33">
            <a:extLst xmlns:a="http://schemas.openxmlformats.org/drawingml/2006/main">
              <a:ext uri="{FF2B5EF4-FFF2-40B4-BE49-F238E27FC236}">
                <a16:creationId xmlns:a16="http://schemas.microsoft.com/office/drawing/2014/main" id="{B39C4C94-7BD2-4D2A-92E7-6230FF416184}"/>
              </a:ext>
            </a:extLst>
          </p:cNvPr>
          <p:cNvSpPr>
            <a:spLocks xmlns:a="http://schemas.openxmlformats.org/drawingml/2006/main" noGrp="1"/>
          </p:cNvSpPr>
          <p:nvPr/>
        </p:nvSpPr>
        <p:spPr>
          <a:xfrm xmlns:a="http://schemas.openxmlformats.org/drawingml/2006/main" rot="0" flipH="0" flipV="0">
            <a:off x="1463040" y="6576537"/>
            <a:ext cx="109728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799"/>
              </a:lnSpc>
              <a:buNone/>
            </a:pPr>
            <a:r>
              <a:rPr sz="3999" b="1">
                <a:solidFill>
                  <a:srgbClr val="FFFFFF"/>
                </a:solidFill>
                <a:latin typeface="Cambria Bold"/>
                <a:ea typeface="Cambria Bold"/>
                <a:cs typeface="Cambria Bold"/>
              </a:rPr>
              <a:t>4</a:t>
            </a:r>
          </a:p>
        </p:txBody>
      </p:sp>
      <p:sp>
        <p:nvSpPr>
          <p:cNvPr id="35" name="Freeform 35">
            <a:extLst xmlns:a="http://schemas.openxmlformats.org/drawingml/2006/main">
              <a:ext uri="{FF2B5EF4-FFF2-40B4-BE49-F238E27FC236}">
                <a16:creationId xmlns:a16="http://schemas.microsoft.com/office/drawing/2014/main" id="{082ADB3F-FE4A-41BA-8D1D-503F7FF27F1C}"/>
              </a:ext>
            </a:extLst>
          </p:cNvPr>
          <p:cNvSpPr>
            <a:spLocks xmlns:a="http://schemas.openxmlformats.org/drawingml/2006/main" noGrp="1"/>
          </p:cNvSpPr>
          <p:nvPr/>
        </p:nvSpPr>
        <p:spPr>
          <a:xfrm xmlns:a="http://schemas.openxmlformats.org/drawingml/2006/main" rot="0" flipH="0" flipV="0">
            <a:off x="3108960" y="6583680"/>
            <a:ext cx="13716000" cy="1097280"/>
          </a:xfrm>
          <a:custGeom xmlns:a="http://schemas.openxmlformats.org/drawingml/2006/main">
            <a:rect l="l" t="t" r="r" b="b"/>
            <a:pathLst>
              <a:path w="18288000" h="1463040">
                <a:moveTo>
                  <a:pt x="0" y="0"/>
                </a:moveTo>
                <a:lnTo>
                  <a:pt x="18288000" y="0"/>
                </a:lnTo>
                <a:lnTo>
                  <a:pt x="18288000" y="1463040"/>
                </a:lnTo>
                <a:lnTo>
                  <a:pt x="0" y="1463040"/>
                </a:lnTo>
                <a:close/>
              </a:path>
            </a:pathLst>
          </a:custGeom>
          <a:blipFill xmlns:a="http://schemas.openxmlformats.org/drawingml/2006/main">
            <a:blip xmlns:r="http://schemas.openxmlformats.org/officeDocument/2006/relationships" r:embed="R2cd52dac3e5643b4">
              <a:alphaModFix amt="0"/>
            </a:blip>
            <a:stretch>
              <a:fillRect l="0" t="-193562" r="0" b="-193562"/>
            </a:stretch>
          </a:blipFill>
        </p:spPr>
        <p:txBody>
          <a:bodyPr xmlns:a="http://schemas.openxmlformats.org/drawingml/2006/main"/>
          <a:lstStyle xmlns:a="http://schemas.openxmlformats.org/drawingml/2006/main"/>
          <a:p xmlns:a="http://schemas.openxmlformats.org/drawingml/2006/main">
            <a:endParaRPr/>
          </a:p>
        </p:txBody>
      </p:sp>
      <p:sp>
        <p:nvSpPr>
          <p:cNvPr id="36" name="TextBox 36">
            <a:extLst xmlns:a="http://schemas.openxmlformats.org/drawingml/2006/main">
              <a:ext uri="{FF2B5EF4-FFF2-40B4-BE49-F238E27FC236}">
                <a16:creationId xmlns:a16="http://schemas.microsoft.com/office/drawing/2014/main" id="{7D48C779-7831-4986-BB74-3D279436487F}"/>
              </a:ext>
            </a:extLst>
          </p:cNvPr>
          <p:cNvSpPr>
            <a:spLocks xmlns:a="http://schemas.openxmlformats.org/drawingml/2006/main" noGrp="1"/>
          </p:cNvSpPr>
          <p:nvPr/>
        </p:nvSpPr>
        <p:spPr>
          <a:xfrm xmlns:a="http://schemas.openxmlformats.org/drawingml/2006/main" rot="0" flipH="0" flipV="0">
            <a:off x="3108960" y="6519387"/>
            <a:ext cx="13716000" cy="116157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a:solidFill>
                  <a:srgbClr val="1F2D3A"/>
                </a:solidFill>
                <a:latin typeface="Calibri (MS)"/>
                <a:ea typeface="Calibri (MS)"/>
                <a:cs typeface="Calibri (MS)"/>
              </a:rPr>
              <a:t>Drivers y tácticas (ADD)</a:t>
            </a:r>
          </a:p>
        </p:txBody>
      </p:sp>
      <p:sp>
        <p:nvSpPr>
          <p:cNvPr id="38" name="Freeform 38">
            <a:extLst xmlns:a="http://schemas.openxmlformats.org/drawingml/2006/main">
              <a:ext uri="{FF2B5EF4-FFF2-40B4-BE49-F238E27FC236}">
                <a16:creationId xmlns:a16="http://schemas.microsoft.com/office/drawing/2014/main" id="{EE39D253-AC66-4B0E-91CC-2B683FFCA52D}"/>
              </a:ext>
            </a:extLst>
          </p:cNvPr>
          <p:cNvSpPr>
            <a:spLocks xmlns:a="http://schemas.openxmlformats.org/drawingml/2006/main" noGrp="1"/>
          </p:cNvSpPr>
          <p:nvPr/>
        </p:nvSpPr>
        <p:spPr>
          <a:xfrm xmlns:a="http://schemas.openxmlformats.org/drawingml/2006/main" rot="0" flipH="0" flipV="0">
            <a:off x="1450343" y="8034023"/>
            <a:ext cx="1122616" cy="1122616"/>
          </a:xfrm>
          <a:custGeom xmlns:a="http://schemas.openxmlformats.org/drawingml/2006/main">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xmlns:a="http://schemas.openxmlformats.org/drawingml/2006/main">
            <a:srgbClr val="1B7F8C"/>
          </a:solidFill>
          <a:ln xmlns:a="http://schemas.openxmlformats.org/drawingml/2006/main" w="25400" cap="sq">
            <a:solidFill>
              <a:srgbClr val="1B7F8C"/>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40" name="Freeform 40">
            <a:extLst xmlns:a="http://schemas.openxmlformats.org/drawingml/2006/main">
              <a:ext uri="{FF2B5EF4-FFF2-40B4-BE49-F238E27FC236}">
                <a16:creationId xmlns:a16="http://schemas.microsoft.com/office/drawing/2014/main" id="{9B36E52D-C61B-46F9-A2F0-B0B7F1F82288}"/>
              </a:ext>
            </a:extLst>
          </p:cNvPr>
          <p:cNvSpPr>
            <a:spLocks xmlns:a="http://schemas.openxmlformats.org/drawingml/2006/main" noGrp="1"/>
          </p:cNvSpPr>
          <p:nvPr/>
        </p:nvSpPr>
        <p:spPr>
          <a:xfrm xmlns:a="http://schemas.openxmlformats.org/drawingml/2006/main" rot="0" flipH="0" flipV="0">
            <a:off x="1463040" y="8046720"/>
            <a:ext cx="1097280" cy="1097280"/>
          </a:xfrm>
          <a:custGeom xmlns:a="http://schemas.openxmlformats.org/drawingml/2006/main">
            <a:rect l="l" t="t" r="r" b="b"/>
            <a:pathLst>
              <a:path w="1463040" h="1463040">
                <a:moveTo>
                  <a:pt x="0" y="0"/>
                </a:moveTo>
                <a:lnTo>
                  <a:pt x="1463040" y="0"/>
                </a:lnTo>
                <a:lnTo>
                  <a:pt x="1463040" y="1463040"/>
                </a:lnTo>
                <a:lnTo>
                  <a:pt x="0" y="1463040"/>
                </a:lnTo>
                <a:close/>
              </a:path>
            </a:pathLst>
          </a:custGeom>
          <a:blipFill xmlns:a="http://schemas.openxmlformats.org/drawingml/2006/main">
            <a:blip xmlns:r="http://schemas.openxmlformats.org/officeDocument/2006/relationships" r:embed="R2cd52dac3e5643b4">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41" name="TextBox 41">
            <a:extLst xmlns:a="http://schemas.openxmlformats.org/drawingml/2006/main">
              <a:ext uri="{FF2B5EF4-FFF2-40B4-BE49-F238E27FC236}">
                <a16:creationId xmlns:a16="http://schemas.microsoft.com/office/drawing/2014/main" id="{86F7071D-5E2E-4444-A9D1-F5E4F8E09043}"/>
              </a:ext>
            </a:extLst>
          </p:cNvPr>
          <p:cNvSpPr>
            <a:spLocks xmlns:a="http://schemas.openxmlformats.org/drawingml/2006/main" noGrp="1"/>
          </p:cNvSpPr>
          <p:nvPr/>
        </p:nvSpPr>
        <p:spPr>
          <a:xfrm xmlns:a="http://schemas.openxmlformats.org/drawingml/2006/main" rot="0" flipH="0" flipV="0">
            <a:off x="1463040" y="8039577"/>
            <a:ext cx="109728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799"/>
              </a:lnSpc>
              <a:buNone/>
            </a:pPr>
            <a:r>
              <a:rPr sz="3999" b="1">
                <a:solidFill>
                  <a:srgbClr val="FFFFFF"/>
                </a:solidFill>
                <a:latin typeface="Cambria Bold"/>
                <a:ea typeface="Cambria Bold"/>
                <a:cs typeface="Cambria Bold"/>
              </a:rPr>
              <a:t>5</a:t>
            </a:r>
          </a:p>
        </p:txBody>
      </p:sp>
      <p:sp>
        <p:nvSpPr>
          <p:cNvPr id="43" name="Freeform 43">
            <a:extLst xmlns:a="http://schemas.openxmlformats.org/drawingml/2006/main">
              <a:ext uri="{FF2B5EF4-FFF2-40B4-BE49-F238E27FC236}">
                <a16:creationId xmlns:a16="http://schemas.microsoft.com/office/drawing/2014/main" id="{B184FEF0-B3EB-4269-B9CC-D42D093581A0}"/>
              </a:ext>
            </a:extLst>
          </p:cNvPr>
          <p:cNvSpPr>
            <a:spLocks xmlns:a="http://schemas.openxmlformats.org/drawingml/2006/main" noGrp="1"/>
          </p:cNvSpPr>
          <p:nvPr/>
        </p:nvSpPr>
        <p:spPr>
          <a:xfrm xmlns:a="http://schemas.openxmlformats.org/drawingml/2006/main" rot="0" flipH="0" flipV="0">
            <a:off x="3108960" y="8046720"/>
            <a:ext cx="13716000" cy="1097280"/>
          </a:xfrm>
          <a:custGeom xmlns:a="http://schemas.openxmlformats.org/drawingml/2006/main">
            <a:rect l="l" t="t" r="r" b="b"/>
            <a:pathLst>
              <a:path w="18288000" h="1463040">
                <a:moveTo>
                  <a:pt x="0" y="0"/>
                </a:moveTo>
                <a:lnTo>
                  <a:pt x="18288000" y="0"/>
                </a:lnTo>
                <a:lnTo>
                  <a:pt x="18288000" y="1463040"/>
                </a:lnTo>
                <a:lnTo>
                  <a:pt x="0" y="1463040"/>
                </a:lnTo>
                <a:close/>
              </a:path>
            </a:pathLst>
          </a:custGeom>
          <a:blipFill xmlns:a="http://schemas.openxmlformats.org/drawingml/2006/main">
            <a:blip xmlns:r="http://schemas.openxmlformats.org/officeDocument/2006/relationships" r:embed="R2cd52dac3e5643b4">
              <a:alphaModFix amt="0"/>
            </a:blip>
            <a:stretch>
              <a:fillRect l="0" t="-193562" r="0" b="-193562"/>
            </a:stretch>
          </a:blipFill>
        </p:spPr>
        <p:txBody>
          <a:bodyPr xmlns:a="http://schemas.openxmlformats.org/drawingml/2006/main"/>
          <a:lstStyle xmlns:a="http://schemas.openxmlformats.org/drawingml/2006/main"/>
          <a:p xmlns:a="http://schemas.openxmlformats.org/drawingml/2006/main">
            <a:endParaRPr/>
          </a:p>
        </p:txBody>
      </p:sp>
      <p:sp>
        <p:nvSpPr>
          <p:cNvPr id="44" name="TextBox 44">
            <a:extLst xmlns:a="http://schemas.openxmlformats.org/drawingml/2006/main">
              <a:ext uri="{FF2B5EF4-FFF2-40B4-BE49-F238E27FC236}">
                <a16:creationId xmlns:a16="http://schemas.microsoft.com/office/drawing/2014/main" id="{A5BB76DE-3795-49B1-B6CC-D6146AED3CF0}"/>
              </a:ext>
            </a:extLst>
          </p:cNvPr>
          <p:cNvSpPr>
            <a:spLocks xmlns:a="http://schemas.openxmlformats.org/drawingml/2006/main" noGrp="1"/>
          </p:cNvSpPr>
          <p:nvPr/>
        </p:nvSpPr>
        <p:spPr>
          <a:xfrm xmlns:a="http://schemas.openxmlformats.org/drawingml/2006/main" rot="0" flipH="0" flipV="0">
            <a:off x="3108960" y="7982427"/>
            <a:ext cx="13716000" cy="116157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a:solidFill>
                  <a:srgbClr val="1F2D3A"/>
                </a:solidFill>
                <a:latin typeface="Calibri (MS)"/>
                <a:ea typeface="Calibri (MS)"/>
                <a:cs typeface="Calibri (MS)"/>
              </a:rPr>
              <a:t>Arquitectura C4, respaldo en código y tecnología</a:t>
            </a:r>
          </a:p>
        </p:txBody>
      </p:sp>
      <p:sp>
        <p:nvSpPr>
          <p:cNvPr id="45" name="TextBox 45">
            <a:extLst xmlns:a="http://schemas.openxmlformats.org/drawingml/2006/main">
              <a:ext uri="{FF2B5EF4-FFF2-40B4-BE49-F238E27FC236}">
                <a16:creationId xmlns:a16="http://schemas.microsoft.com/office/drawing/2014/main" id="{9CE362FD-E11C-49A6-B336-29F9FB9DD4F5}"/>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a:t>
            </a:r>
          </a:p>
        </p:txBody>
      </p:sp>
      <p:sp>
        <p:nvSpPr>
          <p:cNvPr id="46" name="Contenido">
            <a:extLst xmlns:a="http://schemas.openxmlformats.org/drawingml/2006/main">
              <a:ext uri="{FF2B5EF4-FFF2-40B4-BE49-F238E27FC236}">
                <a16:creationId xmlns:a16="http://schemas.microsoft.com/office/drawing/2014/main" id="{CB7DEFE4-8C7E-46AC-8424-AF0D98412DFD}"/>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Contenido</a:t>
            </a:r>
          </a:p>
        </p:txBody>
      </p:sp>
    </p:spTree>
    <p:extLst>
      <p:ext uri="{BB962C8B-B14F-4D97-AF65-F5344CB8AC3E}">
        <p14:creationId xmlns:p14="http://schemas.microsoft.com/office/powerpoint/2010/main" val="272772486"/>
      </p:ext>
    </p:extLst>
  </p:cSld>
</p:sld>
</file>

<file path=ppt/slides/slide3.xml><?xml version="1.0" encoding="utf-8"?>
<p:sld xmlns:p="http://schemas.openxmlformats.org/presentationml/2006/main">
  <p:cSld>
    <p:bg>
      <p:bgPr>
        <a:solidFill xmlns:a="http://schemas.openxmlformats.org/drawingml/2006/main">
          <a:srgbClr val="1B7F8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35B06965-3817-4658-A512-36045D8E5612}"/>
              </a:ext>
            </a:extLst>
          </p:cNvPr>
          <p:cNvSpPr>
            <a:spLocks xmlns:a="http://schemas.openxmlformats.org/drawingml/2006/main" noGrp="1"/>
          </p:cNvSpPr>
          <p:nvPr/>
        </p:nvSpPr>
        <p:spPr>
          <a:xfrm xmlns:a="http://schemas.openxmlformats.org/drawingml/2006/main" rot="0" flipH="0" flipV="0">
            <a:off x="1280160" y="2194560"/>
            <a:ext cx="5486400" cy="2194560"/>
          </a:xfrm>
          <a:custGeom xmlns:a="http://schemas.openxmlformats.org/drawingml/2006/main">
            <a:rect l="l" t="t" r="r" b="b"/>
            <a:pathLst>
              <a:path w="7315200" h="2926080">
                <a:moveTo>
                  <a:pt x="0" y="0"/>
                </a:moveTo>
                <a:lnTo>
                  <a:pt x="7315200" y="0"/>
                </a:lnTo>
                <a:lnTo>
                  <a:pt x="7315200" y="2926080"/>
                </a:lnTo>
                <a:lnTo>
                  <a:pt x="0" y="2926080"/>
                </a:lnTo>
                <a:close/>
              </a:path>
            </a:pathLst>
          </a:custGeom>
          <a:blipFill xmlns:a="http://schemas.openxmlformats.org/drawingml/2006/main">
            <a:blip xmlns:r="http://schemas.openxmlformats.org/officeDocument/2006/relationships" r:embed="R08f450b438f644b9">
              <a:alphaModFix amt="0"/>
            </a:blip>
            <a:stretch>
              <a:fillRect l="-1321" t="0" r="-1321" b="0"/>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63225355-A87E-441A-8764-4E93D5D16F3B}"/>
              </a:ext>
            </a:extLst>
          </p:cNvPr>
          <p:cNvSpPr>
            <a:spLocks xmlns:a="http://schemas.openxmlformats.org/drawingml/2006/main" noGrp="1"/>
          </p:cNvSpPr>
          <p:nvPr/>
        </p:nvSpPr>
        <p:spPr>
          <a:xfrm xmlns:a="http://schemas.openxmlformats.org/drawingml/2006/main" rot="0" flipH="0" flipV="0">
            <a:off x="1280160" y="2180273"/>
            <a:ext cx="5486400" cy="220884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7280"/>
              </a:lnSpc>
              <a:buNone/>
            </a:pPr>
            <a:r>
              <a:rPr sz="14400" b="1">
                <a:solidFill>
                  <a:srgbClr val="F2A33A"/>
                </a:solidFill>
                <a:latin typeface="Cambria Bold"/>
                <a:ea typeface="Cambria Bold"/>
                <a:cs typeface="Cambria Bold"/>
              </a:rPr>
              <a:t>01</a:t>
            </a:r>
          </a:p>
        </p:txBody>
      </p:sp>
      <p:sp>
        <p:nvSpPr>
          <p:cNvPr id="6" name="Freeform 6">
            <a:extLst xmlns:a="http://schemas.openxmlformats.org/drawingml/2006/main">
              <a:ext uri="{FF2B5EF4-FFF2-40B4-BE49-F238E27FC236}">
                <a16:creationId xmlns:a16="http://schemas.microsoft.com/office/drawing/2014/main" id="{90F4F318-F6C4-45BC-9F8E-D037B172148E}"/>
              </a:ext>
            </a:extLst>
          </p:cNvPr>
          <p:cNvSpPr>
            <a:spLocks xmlns:a="http://schemas.openxmlformats.org/drawingml/2006/main" noGrp="1"/>
          </p:cNvSpPr>
          <p:nvPr/>
        </p:nvSpPr>
        <p:spPr>
          <a:xfrm xmlns:a="http://schemas.openxmlformats.org/drawingml/2006/main" rot="0" flipH="0" flipV="0">
            <a:off x="1280160" y="4572000"/>
            <a:ext cx="15727679" cy="1645920"/>
          </a:xfrm>
          <a:custGeom xmlns:a="http://schemas.openxmlformats.org/drawingml/2006/main">
            <a:rect l="l" t="t" r="r" b="b"/>
            <a:pathLst>
              <a:path w="20970239" h="2194560">
                <a:moveTo>
                  <a:pt x="0" y="0"/>
                </a:moveTo>
                <a:lnTo>
                  <a:pt x="20970239" y="0"/>
                </a:lnTo>
                <a:lnTo>
                  <a:pt x="20970239" y="2194560"/>
                </a:lnTo>
                <a:lnTo>
                  <a:pt x="0" y="2194560"/>
                </a:lnTo>
                <a:close/>
              </a:path>
            </a:pathLst>
          </a:custGeom>
          <a:blipFill xmlns:a="http://schemas.openxmlformats.org/drawingml/2006/main">
            <a:blip xmlns:r="http://schemas.openxmlformats.org/officeDocument/2006/relationships" r:embed="R08f450b438f644b9">
              <a:alphaModFix amt="0"/>
            </a:blip>
            <a:stretch>
              <a:fillRect l="0" t="-136190" r="0" b="-136190"/>
            </a:stretch>
          </a:blip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6CA4F94D-3CB6-4C4E-8275-4353BA6917AD}"/>
              </a:ext>
            </a:extLst>
          </p:cNvPr>
          <p:cNvSpPr>
            <a:spLocks xmlns:a="http://schemas.openxmlformats.org/drawingml/2006/main" noGrp="1"/>
          </p:cNvSpPr>
          <p:nvPr/>
        </p:nvSpPr>
        <p:spPr>
          <a:xfrm xmlns:a="http://schemas.openxmlformats.org/drawingml/2006/main" rot="0" flipH="0" flipV="0">
            <a:off x="1280160" y="4557713"/>
            <a:ext cx="15727680" cy="166020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8640"/>
              </a:lnSpc>
              <a:buNone/>
            </a:pPr>
            <a:r>
              <a:rPr sz="7200" b="1">
                <a:solidFill>
                  <a:srgbClr val="FFFFFF"/>
                </a:solidFill>
                <a:latin typeface="Cambria Bold"/>
                <a:ea typeface="Cambria Bold"/>
                <a:cs typeface="Cambria Bold"/>
              </a:rPr>
              <a:t>Presentación del proyecto</a:t>
            </a:r>
          </a:p>
        </p:txBody>
      </p:sp>
      <p:sp>
        <p:nvSpPr>
          <p:cNvPr id="8" name="3">
            <a:extLst xmlns:a="http://schemas.openxmlformats.org/drawingml/2006/main">
              <a:ext uri="{FF2B5EF4-FFF2-40B4-BE49-F238E27FC236}">
                <a16:creationId xmlns:a16="http://schemas.microsoft.com/office/drawing/2014/main" id="{7600FBFF-B5FA-4982-ABC3-12EDAB433A93}"/>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3</a:t>
            </a:r>
          </a:p>
        </p:txBody>
      </p:sp>
    </p:spTree>
    <p:extLst>
      <p:ext uri="{BB962C8B-B14F-4D97-AF65-F5344CB8AC3E}">
        <p14:creationId xmlns:p14="http://schemas.microsoft.com/office/powerpoint/2010/main" val="18455505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CB106A6-5E5C-495B-B40B-5438D6BC55E0}"/>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d0cfc32d6d2e4b97">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83604AA6-2F9A-4CDA-A7FC-91757455993F}"/>
              </a:ext>
            </a:extLst>
          </p:cNvPr>
          <p:cNvSpPr>
            <a:spLocks xmlns:a="http://schemas.openxmlformats.org/drawingml/2006/main" noGrp="1"/>
          </p:cNvSpPr>
          <p:nvPr/>
        </p:nvSpPr>
        <p:spPr>
          <a:xfrm xmlns:a="http://schemas.openxmlformats.org/drawingml/2006/main" rot="0" flipH="0" flipV="0">
            <a:off x="901703" y="2090423"/>
            <a:ext cx="8072151" cy="3683031"/>
          </a:xfrm>
          <a:custGeom xmlns:a="http://schemas.openxmlformats.org/drawingml/2006/main">
            <a:rect l="l" t="t" r="r" b="b"/>
            <a:pathLst>
              <a:path w="10762869" h="4910709">
                <a:moveTo>
                  <a:pt x="0" y="0"/>
                </a:moveTo>
                <a:lnTo>
                  <a:pt x="10762869" y="0"/>
                </a:lnTo>
                <a:lnTo>
                  <a:pt x="107628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52131A9F-FF38-42DD-BFE6-03D9CBCBDB09}"/>
              </a:ext>
            </a:extLst>
          </p:cNvPr>
          <p:cNvSpPr>
            <a:spLocks xmlns:a="http://schemas.openxmlformats.org/drawingml/2006/main" noGrp="1"/>
          </p:cNvSpPr>
          <p:nvPr/>
        </p:nvSpPr>
        <p:spPr>
          <a:xfrm xmlns:a="http://schemas.openxmlformats.org/drawingml/2006/main">
            <a:off x="1188720" y="2276475"/>
            <a:ext cx="7498080" cy="7410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840"/>
              </a:lnSpc>
              <a:buNone/>
            </a:pPr>
            <a:r>
              <a:rPr sz="3200" b="1">
                <a:solidFill>
                  <a:srgbClr val="0B2A43"/>
                </a:solidFill>
                <a:latin typeface="Cambria Bold"/>
                <a:ea typeface="Cambria Bold"/>
                <a:cs typeface="Cambria Bold"/>
              </a:rPr>
              <a:t>Hoy</a:t>
            </a:r>
          </a:p>
        </p:txBody>
      </p:sp>
      <p:sp>
        <p:nvSpPr>
          <p:cNvPr id="8" name="TextBox 8">
            <a:extLst xmlns:a="http://schemas.openxmlformats.org/drawingml/2006/main">
              <a:ext uri="{FF2B5EF4-FFF2-40B4-BE49-F238E27FC236}">
                <a16:creationId xmlns:a16="http://schemas.microsoft.com/office/drawing/2014/main" id="{4312D458-5EE3-4D21-82D9-CF3AB78F8F52}"/>
              </a:ext>
            </a:extLst>
          </p:cNvPr>
          <p:cNvSpPr>
            <a:spLocks xmlns:a="http://schemas.openxmlformats.org/drawingml/2006/main" noGrp="1"/>
          </p:cNvSpPr>
          <p:nvPr/>
        </p:nvSpPr>
        <p:spPr>
          <a:xfrm xmlns:a="http://schemas.openxmlformats.org/drawingml/2006/main">
            <a:off x="1188720" y="2996946"/>
            <a:ext cx="7498080" cy="2617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Revisiones presenciales, registros en papel u hojas de cálculo y herramientas aisladas, sin visibilidad continua ni alertas tempranas.</a:t>
            </a:r>
          </a:p>
        </p:txBody>
      </p:sp>
      <p:sp>
        <p:nvSpPr>
          <p:cNvPr id="10" name="Freeform 10">
            <a:extLst xmlns:a="http://schemas.openxmlformats.org/drawingml/2006/main">
              <a:ext uri="{FF2B5EF4-FFF2-40B4-BE49-F238E27FC236}">
                <a16:creationId xmlns:a16="http://schemas.microsoft.com/office/drawing/2014/main" id="{42E9B825-D036-41E4-9F56-077450A7B46D}"/>
              </a:ext>
            </a:extLst>
          </p:cNvPr>
          <p:cNvSpPr>
            <a:spLocks xmlns:a="http://schemas.openxmlformats.org/drawingml/2006/main" noGrp="1"/>
          </p:cNvSpPr>
          <p:nvPr/>
        </p:nvSpPr>
        <p:spPr>
          <a:xfrm xmlns:a="http://schemas.openxmlformats.org/drawingml/2006/main" rot="0" flipH="0" flipV="0">
            <a:off x="9314183" y="2090423"/>
            <a:ext cx="8072151" cy="3683031"/>
          </a:xfrm>
          <a:custGeom xmlns:a="http://schemas.openxmlformats.org/drawingml/2006/main">
            <a:rect l="l" t="t" r="r" b="b"/>
            <a:pathLst>
              <a:path w="10762869" h="4910709">
                <a:moveTo>
                  <a:pt x="0" y="0"/>
                </a:moveTo>
                <a:lnTo>
                  <a:pt x="10762869" y="0"/>
                </a:lnTo>
                <a:lnTo>
                  <a:pt x="10762869" y="4910709"/>
                </a:lnTo>
                <a:lnTo>
                  <a:pt x="0" y="4910709"/>
                </a:lnTo>
                <a:close/>
              </a:path>
            </a:pathLst>
          </a:custGeom>
          <a:solidFill xmlns:a="http://schemas.openxmlformats.org/drawingml/2006/main">
            <a:srgbClr val="FDF1DC"/>
          </a:solidFill>
          <a:ln xmlns:a="http://schemas.openxmlformats.org/drawingml/2006/main" w="25400" cap="sq">
            <a:solidFill>
              <a:srgbClr val="FDF1DC"/>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A70E12CA-8429-40B1-A9D0-1CD4BA0F38C8}"/>
              </a:ext>
            </a:extLst>
          </p:cNvPr>
          <p:cNvSpPr>
            <a:spLocks xmlns:a="http://schemas.openxmlformats.org/drawingml/2006/main" noGrp="1"/>
          </p:cNvSpPr>
          <p:nvPr/>
        </p:nvSpPr>
        <p:spPr>
          <a:xfrm xmlns:a="http://schemas.openxmlformats.org/drawingml/2006/main">
            <a:off x="9601200" y="2276475"/>
            <a:ext cx="7498080" cy="7410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840"/>
              </a:lnSpc>
              <a:buNone/>
            </a:pPr>
            <a:r>
              <a:rPr sz="3200" b="1">
                <a:solidFill>
                  <a:srgbClr val="0B2A43"/>
                </a:solidFill>
                <a:latin typeface="Cambria Bold"/>
                <a:ea typeface="Cambria Bold"/>
                <a:cs typeface="Cambria Bold"/>
              </a:rPr>
              <a:t>Consecuencias</a:t>
            </a:r>
          </a:p>
        </p:txBody>
      </p:sp>
      <p:sp>
        <p:nvSpPr>
          <p:cNvPr id="12" name="TextBox 12">
            <a:extLst xmlns:a="http://schemas.openxmlformats.org/drawingml/2006/main">
              <a:ext uri="{FF2B5EF4-FFF2-40B4-BE49-F238E27FC236}">
                <a16:creationId xmlns:a16="http://schemas.microsoft.com/office/drawing/2014/main" id="{B8AA4177-F327-47E8-BBFA-4BEEB780E1F2}"/>
              </a:ext>
            </a:extLst>
          </p:cNvPr>
          <p:cNvSpPr>
            <a:spLocks xmlns:a="http://schemas.openxmlformats.org/drawingml/2006/main" noGrp="1"/>
          </p:cNvSpPr>
          <p:nvPr/>
        </p:nvSpPr>
        <p:spPr>
          <a:xfrm xmlns:a="http://schemas.openxmlformats.org/drawingml/2006/main">
            <a:off x="9601200" y="2996946"/>
            <a:ext cx="7498080" cy="2617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Desviaciones detectadas tarde, merma de perecibles, dificultad para sustentar auditorías sanitarias (DIGESA, MINSA).</a:t>
            </a:r>
          </a:p>
        </p:txBody>
      </p:sp>
      <p:sp>
        <p:nvSpPr>
          <p:cNvPr id="14" name="Freeform 14">
            <a:extLst xmlns:a="http://schemas.openxmlformats.org/drawingml/2006/main">
              <a:ext uri="{FF2B5EF4-FFF2-40B4-BE49-F238E27FC236}">
                <a16:creationId xmlns:a16="http://schemas.microsoft.com/office/drawing/2014/main" id="{75F74C0F-3EB7-4547-A324-A43DEFD78EE3}"/>
              </a:ext>
            </a:extLst>
          </p:cNvPr>
          <p:cNvSpPr>
            <a:spLocks xmlns:a="http://schemas.openxmlformats.org/drawingml/2006/main" noGrp="1"/>
          </p:cNvSpPr>
          <p:nvPr/>
        </p:nvSpPr>
        <p:spPr>
          <a:xfrm xmlns:a="http://schemas.openxmlformats.org/drawingml/2006/main" rot="0" flipH="0" flipV="0">
            <a:off x="901703" y="6113783"/>
            <a:ext cx="16484632" cy="3408711"/>
          </a:xfrm>
          <a:custGeom xmlns:a="http://schemas.openxmlformats.org/drawingml/2006/main">
            <a:rect l="l" t="t" r="r" b="b"/>
            <a:pathLst>
              <a:path w="21979510" h="4544949">
                <a:moveTo>
                  <a:pt x="0" y="0"/>
                </a:moveTo>
                <a:lnTo>
                  <a:pt x="21979510" y="0"/>
                </a:lnTo>
                <a:lnTo>
                  <a:pt x="21979510" y="4544949"/>
                </a:lnTo>
                <a:lnTo>
                  <a:pt x="0" y="454494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5" name="TextBox 15">
            <a:extLst xmlns:a="http://schemas.openxmlformats.org/drawingml/2006/main">
              <a:ext uri="{FF2B5EF4-FFF2-40B4-BE49-F238E27FC236}">
                <a16:creationId xmlns:a16="http://schemas.microsoft.com/office/drawing/2014/main" id="{86F821A1-27B1-450E-8B5A-50FA1B97C7A5}"/>
              </a:ext>
            </a:extLst>
          </p:cNvPr>
          <p:cNvSpPr>
            <a:spLocks xmlns:a="http://schemas.openxmlformats.org/drawingml/2006/main" noGrp="1"/>
          </p:cNvSpPr>
          <p:nvPr/>
        </p:nvSpPr>
        <p:spPr>
          <a:xfrm xmlns:a="http://schemas.openxmlformats.org/drawingml/2006/main">
            <a:off x="1188720" y="6299835"/>
            <a:ext cx="15910560" cy="7410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840"/>
              </a:lnSpc>
              <a:buNone/>
            </a:pPr>
            <a:r>
              <a:rPr sz="3200" b="1">
                <a:solidFill>
                  <a:srgbClr val="0B2A43"/>
                </a:solidFill>
                <a:latin typeface="Cambria Bold"/>
                <a:ea typeface="Cambria Bold"/>
                <a:cs typeface="Cambria Bold"/>
              </a:rPr>
              <a:t>Usuarios del segmento inicial</a:t>
            </a:r>
          </a:p>
        </p:txBody>
      </p:sp>
      <p:sp>
        <p:nvSpPr>
          <p:cNvPr id="16" name="TextBox 16">
            <a:extLst xmlns:a="http://schemas.openxmlformats.org/drawingml/2006/main">
              <a:ext uri="{FF2B5EF4-FFF2-40B4-BE49-F238E27FC236}">
                <a16:creationId xmlns:a16="http://schemas.microsoft.com/office/drawing/2014/main" id="{4F87E525-0747-4A03-9552-42FC988A2F51}"/>
              </a:ext>
            </a:extLst>
          </p:cNvPr>
          <p:cNvSpPr>
            <a:spLocks xmlns:a="http://schemas.openxmlformats.org/drawingml/2006/main" noGrp="1"/>
          </p:cNvSpPr>
          <p:nvPr/>
        </p:nvSpPr>
        <p:spPr>
          <a:xfrm xmlns:a="http://schemas.openxmlformats.org/drawingml/2006/main">
            <a:off x="1188720" y="7010781"/>
            <a:ext cx="15910560" cy="23526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359"/>
              </a:lnSpc>
              <a:buNone/>
            </a:pPr>
            <a:r>
              <a:rPr sz="2799">
                <a:solidFill>
                  <a:srgbClr val="1F2D3A"/>
                </a:solidFill>
                <a:latin typeface="Calibri (MS)"/>
                <a:ea typeface="Calibri (MS)"/>
                <a:cs typeface="Calibri (MS)"/>
              </a:rPr>
              <a:t>Gustavo Fernández, encargado de un pequeño negocio alimentario de Lima (minimarket, carnicería, pescadería, restaurante), sin personal técnico.</a:t>
            </a:r>
          </a:p>
          <a:p xmlns:a="http://schemas.openxmlformats.org/drawingml/2006/main">
            <a:pPr algn="l">
              <a:lnSpc>
                <a:spcPts val="3359"/>
              </a:lnSpc>
              <a:buNone/>
            </a:pPr>
            <a:r>
              <a:rPr sz="2799">
                <a:solidFill>
                  <a:srgbClr val="1F2D3A"/>
                </a:solidFill>
                <a:latin typeface="Calibri (MS)"/>
                <a:ea typeface="Calibri (MS)"/>
                <a:cs typeface="Calibri (MS)"/>
              </a:rPr>
              <a:t>Sofía Ramírez, responsable de operaciones o calidad que supervisa varios activos y sustenta auditorías.</a:t>
            </a:r>
          </a:p>
        </p:txBody>
      </p:sp>
      <p:sp>
        <p:nvSpPr>
          <p:cNvPr id="17" name="TextBox 17">
            <a:extLst xmlns:a="http://schemas.openxmlformats.org/drawingml/2006/main">
              <a:ext uri="{FF2B5EF4-FFF2-40B4-BE49-F238E27FC236}">
                <a16:creationId xmlns:a16="http://schemas.microsoft.com/office/drawing/2014/main" id="{9B881BB9-2E9B-4118-9EB0-98448F6DC82C}"/>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4</a:t>
            </a:r>
          </a:p>
        </p:txBody>
      </p:sp>
      <p:sp>
        <p:nvSpPr>
          <p:cNvPr id="18" name="El problema: la cadena de frío se vigila tard">
            <a:extLst xmlns:a="http://schemas.openxmlformats.org/drawingml/2006/main">
              <a:ext uri="{FF2B5EF4-FFF2-40B4-BE49-F238E27FC236}">
                <a16:creationId xmlns:a16="http://schemas.microsoft.com/office/drawing/2014/main" id="{24055FA9-E127-4AFB-9404-32D8BA60B572}"/>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El problema: la cadena de frío se vigila tarde</a:t>
            </a:r>
          </a:p>
        </p:txBody>
      </p:sp>
    </p:spTree>
    <p:extLst>
      <p:ext uri="{BB962C8B-B14F-4D97-AF65-F5344CB8AC3E}">
        <p14:creationId xmlns:p14="http://schemas.microsoft.com/office/powerpoint/2010/main" val="11639412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6CD1C55-CBD0-44A4-93F8-14BF41AE2043}"/>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73d797fcb2e54dc9">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5" name="TextBox 5">
            <a:extLst xmlns:a="http://schemas.openxmlformats.org/drawingml/2006/main">
              <a:ext uri="{FF2B5EF4-FFF2-40B4-BE49-F238E27FC236}">
                <a16:creationId xmlns:a16="http://schemas.microsoft.com/office/drawing/2014/main" id="{AD550826-A18B-4E90-A496-7973D7673DB3}"/>
              </a:ext>
            </a:extLst>
          </p:cNvPr>
          <p:cNvSpPr>
            <a:spLocks xmlns:a="http://schemas.openxmlformats.org/drawingml/2006/main" noGrp="1"/>
          </p:cNvSpPr>
          <p:nvPr/>
        </p:nvSpPr>
        <p:spPr>
          <a:xfrm xmlns:a="http://schemas.openxmlformats.org/drawingml/2006/main">
            <a:off x="914400" y="1954530"/>
            <a:ext cx="16459200" cy="9753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840"/>
              </a:lnSpc>
              <a:buNone/>
            </a:pPr>
            <a:r>
              <a:rPr sz="3200">
                <a:solidFill>
                  <a:srgbClr val="1F2D3A"/>
                </a:solidFill>
                <a:latin typeface="Calibri (MS)"/>
                <a:ea typeface="Calibri (MS)"/>
                <a:cs typeface="Calibri (MS)"/>
              </a:rPr>
              <a:t>Para negocios alimentarios: supervisión desde el celular y respuesta trazable ante desviaciones, con responsables y evidencia del periodo.</a:t>
            </a:r>
          </a:p>
        </p:txBody>
      </p:sp>
      <p:sp>
        <p:nvSpPr>
          <p:cNvPr id="7" name="Freeform 7">
            <a:extLst xmlns:a="http://schemas.openxmlformats.org/drawingml/2006/main">
              <a:ext uri="{FF2B5EF4-FFF2-40B4-BE49-F238E27FC236}">
                <a16:creationId xmlns:a16="http://schemas.microsoft.com/office/drawing/2014/main" id="{89CBCE10-9E9A-4D9A-8A1A-CD29E60FD8C4}"/>
              </a:ext>
            </a:extLst>
          </p:cNvPr>
          <p:cNvSpPr>
            <a:spLocks xmlns:a="http://schemas.openxmlformats.org/drawingml/2006/main" noGrp="1"/>
          </p:cNvSpPr>
          <p:nvPr/>
        </p:nvSpPr>
        <p:spPr>
          <a:xfrm xmlns:a="http://schemas.openxmlformats.org/drawingml/2006/main" rot="0" flipH="0" flipV="0">
            <a:off x="901703" y="3736343"/>
            <a:ext cx="5328951" cy="2585751"/>
          </a:xfrm>
          <a:custGeom xmlns:a="http://schemas.openxmlformats.org/drawingml/2006/main">
            <a:rect l="l" t="t" r="r" b="b"/>
            <a:pathLst>
              <a:path w="7105269" h="3447669">
                <a:moveTo>
                  <a:pt x="0" y="0"/>
                </a:moveTo>
                <a:lnTo>
                  <a:pt x="7105269" y="0"/>
                </a:lnTo>
                <a:lnTo>
                  <a:pt x="7105269" y="3447669"/>
                </a:lnTo>
                <a:lnTo>
                  <a:pt x="0" y="344766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TextBox 8">
            <a:extLst xmlns:a="http://schemas.openxmlformats.org/drawingml/2006/main">
              <a:ext uri="{FF2B5EF4-FFF2-40B4-BE49-F238E27FC236}">
                <a16:creationId xmlns:a16="http://schemas.microsoft.com/office/drawing/2014/main" id="{0F98BB7E-9E97-4E34-A700-3CA07D8A6D99}"/>
              </a:ext>
            </a:extLst>
          </p:cNvPr>
          <p:cNvSpPr>
            <a:spLocks xmlns:a="http://schemas.openxmlformats.org/drawingml/2006/main" noGrp="1"/>
          </p:cNvSpPr>
          <p:nvPr/>
        </p:nvSpPr>
        <p:spPr>
          <a:xfrm xmlns:a="http://schemas.openxmlformats.org/drawingml/2006/main">
            <a:off x="1188720" y="3912870"/>
            <a:ext cx="4754880" cy="457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Visibilidad operativa</a:t>
            </a:r>
          </a:p>
        </p:txBody>
      </p:sp>
      <p:sp>
        <p:nvSpPr>
          <p:cNvPr id="9" name="TextBox 9">
            <a:extLst xmlns:a="http://schemas.openxmlformats.org/drawingml/2006/main">
              <a:ext uri="{FF2B5EF4-FFF2-40B4-BE49-F238E27FC236}">
                <a16:creationId xmlns:a16="http://schemas.microsoft.com/office/drawing/2014/main" id="{C52EC417-B154-4BFF-BD7B-044940738B99}"/>
              </a:ext>
            </a:extLst>
          </p:cNvPr>
          <p:cNvSpPr>
            <a:spLocks xmlns:a="http://schemas.openxmlformats.org/drawingml/2006/main" noGrp="1"/>
          </p:cNvSpPr>
          <p:nvPr/>
        </p:nvSpPr>
        <p:spPr>
          <a:xfrm xmlns:a="http://schemas.openxmlformats.org/drawingml/2006/main">
            <a:off x="1188720" y="4642866"/>
            <a:ext cx="475488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Lectura, rango y estado por activo o sede</a:t>
            </a:r>
          </a:p>
        </p:txBody>
      </p:sp>
      <p:sp>
        <p:nvSpPr>
          <p:cNvPr id="11" name="Freeform 11">
            <a:extLst xmlns:a="http://schemas.openxmlformats.org/drawingml/2006/main">
              <a:ext uri="{FF2B5EF4-FFF2-40B4-BE49-F238E27FC236}">
                <a16:creationId xmlns:a16="http://schemas.microsoft.com/office/drawing/2014/main" id="{1DB5C8E8-6339-44D7-AA83-514AF824732E}"/>
              </a:ext>
            </a:extLst>
          </p:cNvPr>
          <p:cNvSpPr>
            <a:spLocks xmlns:a="http://schemas.openxmlformats.org/drawingml/2006/main" noGrp="1"/>
          </p:cNvSpPr>
          <p:nvPr/>
        </p:nvSpPr>
        <p:spPr>
          <a:xfrm xmlns:a="http://schemas.openxmlformats.org/drawingml/2006/main" rot="0" flipH="0" flipV="0">
            <a:off x="6479543" y="3736343"/>
            <a:ext cx="5328951" cy="2585751"/>
          </a:xfrm>
          <a:custGeom xmlns:a="http://schemas.openxmlformats.org/drawingml/2006/main">
            <a:rect l="l" t="t" r="r" b="b"/>
            <a:pathLst>
              <a:path w="7105269" h="3447669">
                <a:moveTo>
                  <a:pt x="0" y="0"/>
                </a:moveTo>
                <a:lnTo>
                  <a:pt x="7105269" y="0"/>
                </a:lnTo>
                <a:lnTo>
                  <a:pt x="7105269" y="3447669"/>
                </a:lnTo>
                <a:lnTo>
                  <a:pt x="0" y="344766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2" name="TextBox 12">
            <a:extLst xmlns:a="http://schemas.openxmlformats.org/drawingml/2006/main">
              <a:ext uri="{FF2B5EF4-FFF2-40B4-BE49-F238E27FC236}">
                <a16:creationId xmlns:a16="http://schemas.microsoft.com/office/drawing/2014/main" id="{A142D8A5-7026-45B2-A80F-6843C9EEB89D}"/>
              </a:ext>
            </a:extLst>
          </p:cNvPr>
          <p:cNvSpPr>
            <a:spLocks xmlns:a="http://schemas.openxmlformats.org/drawingml/2006/main" noGrp="1"/>
          </p:cNvSpPr>
          <p:nvPr/>
        </p:nvSpPr>
        <p:spPr>
          <a:xfrm xmlns:a="http://schemas.openxmlformats.org/drawingml/2006/main">
            <a:off x="6766560" y="3912870"/>
            <a:ext cx="4754880" cy="457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Continuidad del dato</a:t>
            </a:r>
          </a:p>
        </p:txBody>
      </p:sp>
      <p:sp>
        <p:nvSpPr>
          <p:cNvPr id="13" name="TextBox 13">
            <a:extLst xmlns:a="http://schemas.openxmlformats.org/drawingml/2006/main">
              <a:ext uri="{FF2B5EF4-FFF2-40B4-BE49-F238E27FC236}">
                <a16:creationId xmlns:a16="http://schemas.microsoft.com/office/drawing/2014/main" id="{5FDA7489-A108-4D84-9392-41C4C3F38081}"/>
              </a:ext>
            </a:extLst>
          </p:cNvPr>
          <p:cNvSpPr>
            <a:spLocks xmlns:a="http://schemas.openxmlformats.org/drawingml/2006/main" noGrp="1"/>
          </p:cNvSpPr>
          <p:nvPr/>
        </p:nvSpPr>
        <p:spPr>
          <a:xfrm xmlns:a="http://schemas.openxmlformats.org/drawingml/2006/main">
            <a:off x="6766560" y="4642866"/>
            <a:ext cx="475488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Distinguir «sin datos» de «normal» y recuperar lecturas</a:t>
            </a:r>
          </a:p>
        </p:txBody>
      </p:sp>
      <p:sp>
        <p:nvSpPr>
          <p:cNvPr id="15" name="Freeform 15">
            <a:extLst xmlns:a="http://schemas.openxmlformats.org/drawingml/2006/main">
              <a:ext uri="{FF2B5EF4-FFF2-40B4-BE49-F238E27FC236}">
                <a16:creationId xmlns:a16="http://schemas.microsoft.com/office/drawing/2014/main" id="{C633BEEC-37A4-4B55-8750-E89A03B3F67B}"/>
              </a:ext>
            </a:extLst>
          </p:cNvPr>
          <p:cNvSpPr>
            <a:spLocks xmlns:a="http://schemas.openxmlformats.org/drawingml/2006/main" noGrp="1"/>
          </p:cNvSpPr>
          <p:nvPr/>
        </p:nvSpPr>
        <p:spPr>
          <a:xfrm xmlns:a="http://schemas.openxmlformats.org/drawingml/2006/main" rot="0" flipH="0" flipV="0">
            <a:off x="12057383" y="3736343"/>
            <a:ext cx="5328951" cy="2585751"/>
          </a:xfrm>
          <a:custGeom xmlns:a="http://schemas.openxmlformats.org/drawingml/2006/main">
            <a:rect l="l" t="t" r="r" b="b"/>
            <a:pathLst>
              <a:path w="7105269" h="3447669">
                <a:moveTo>
                  <a:pt x="0" y="0"/>
                </a:moveTo>
                <a:lnTo>
                  <a:pt x="7105269" y="0"/>
                </a:lnTo>
                <a:lnTo>
                  <a:pt x="7105269" y="3447669"/>
                </a:lnTo>
                <a:lnTo>
                  <a:pt x="0" y="344766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6" name="TextBox 16">
            <a:extLst xmlns:a="http://schemas.openxmlformats.org/drawingml/2006/main">
              <a:ext uri="{FF2B5EF4-FFF2-40B4-BE49-F238E27FC236}">
                <a16:creationId xmlns:a16="http://schemas.microsoft.com/office/drawing/2014/main" id="{F89D8848-896B-45B1-8AA5-13673BF6B103}"/>
              </a:ext>
            </a:extLst>
          </p:cNvPr>
          <p:cNvSpPr>
            <a:spLocks xmlns:a="http://schemas.openxmlformats.org/drawingml/2006/main" noGrp="1"/>
          </p:cNvSpPr>
          <p:nvPr/>
        </p:nvSpPr>
        <p:spPr>
          <a:xfrm xmlns:a="http://schemas.openxmlformats.org/drawingml/2006/main">
            <a:off x="12344400" y="3912870"/>
            <a:ext cx="4754880" cy="457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Respuesta trazable</a:t>
            </a:r>
          </a:p>
        </p:txBody>
      </p:sp>
      <p:sp>
        <p:nvSpPr>
          <p:cNvPr id="17" name="TextBox 17">
            <a:extLst xmlns:a="http://schemas.openxmlformats.org/drawingml/2006/main">
              <a:ext uri="{FF2B5EF4-FFF2-40B4-BE49-F238E27FC236}">
                <a16:creationId xmlns:a16="http://schemas.microsoft.com/office/drawing/2014/main" id="{AFD79041-7134-44A0-A978-29DC68D1E014}"/>
              </a:ext>
            </a:extLst>
          </p:cNvPr>
          <p:cNvSpPr>
            <a:spLocks xmlns:a="http://schemas.openxmlformats.org/drawingml/2006/main" noGrp="1"/>
          </p:cNvSpPr>
          <p:nvPr/>
        </p:nvSpPr>
        <p:spPr>
          <a:xfrm xmlns:a="http://schemas.openxmlformats.org/drawingml/2006/main">
            <a:off x="12344400" y="4642866"/>
            <a:ext cx="475488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Alerta, responsable, acciones e historial del caso</a:t>
            </a:r>
          </a:p>
        </p:txBody>
      </p:sp>
      <p:sp>
        <p:nvSpPr>
          <p:cNvPr id="19" name="Freeform 19">
            <a:extLst xmlns:a="http://schemas.openxmlformats.org/drawingml/2006/main">
              <a:ext uri="{FF2B5EF4-FFF2-40B4-BE49-F238E27FC236}">
                <a16:creationId xmlns:a16="http://schemas.microsoft.com/office/drawing/2014/main" id="{C62271A5-36EC-4505-97E1-C98D54411F38}"/>
              </a:ext>
            </a:extLst>
          </p:cNvPr>
          <p:cNvSpPr>
            <a:spLocks xmlns:a="http://schemas.openxmlformats.org/drawingml/2006/main" noGrp="1"/>
          </p:cNvSpPr>
          <p:nvPr/>
        </p:nvSpPr>
        <p:spPr>
          <a:xfrm xmlns:a="http://schemas.openxmlformats.org/drawingml/2006/main" rot="0" flipH="0" flipV="0">
            <a:off x="901703" y="6570983"/>
            <a:ext cx="5328951" cy="2585751"/>
          </a:xfrm>
          <a:custGeom xmlns:a="http://schemas.openxmlformats.org/drawingml/2006/main">
            <a:rect l="l" t="t" r="r" b="b"/>
            <a:pathLst>
              <a:path w="7105269" h="3447669">
                <a:moveTo>
                  <a:pt x="0" y="0"/>
                </a:moveTo>
                <a:lnTo>
                  <a:pt x="7105269" y="0"/>
                </a:lnTo>
                <a:lnTo>
                  <a:pt x="7105269" y="3447669"/>
                </a:lnTo>
                <a:lnTo>
                  <a:pt x="0" y="344766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0" name="TextBox 20">
            <a:extLst xmlns:a="http://schemas.openxmlformats.org/drawingml/2006/main">
              <a:ext uri="{FF2B5EF4-FFF2-40B4-BE49-F238E27FC236}">
                <a16:creationId xmlns:a16="http://schemas.microsoft.com/office/drawing/2014/main" id="{76664AF9-F619-452A-A6E0-136027A83E69}"/>
              </a:ext>
            </a:extLst>
          </p:cNvPr>
          <p:cNvSpPr>
            <a:spLocks xmlns:a="http://schemas.openxmlformats.org/drawingml/2006/main" noGrp="1"/>
          </p:cNvSpPr>
          <p:nvPr/>
        </p:nvSpPr>
        <p:spPr>
          <a:xfrm xmlns:a="http://schemas.openxmlformats.org/drawingml/2006/main">
            <a:off x="1188720" y="6747510"/>
            <a:ext cx="4754880" cy="457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Adopción gradual</a:t>
            </a:r>
          </a:p>
        </p:txBody>
      </p:sp>
      <p:sp>
        <p:nvSpPr>
          <p:cNvPr id="21" name="TextBox 21">
            <a:extLst xmlns:a="http://schemas.openxmlformats.org/drawingml/2006/main">
              <a:ext uri="{FF2B5EF4-FFF2-40B4-BE49-F238E27FC236}">
                <a16:creationId xmlns:a16="http://schemas.microsoft.com/office/drawing/2014/main" id="{FF3F89C5-57A2-4C31-9086-BB85A22E3F8C}"/>
              </a:ext>
            </a:extLst>
          </p:cNvPr>
          <p:cNvSpPr>
            <a:spLocks xmlns:a="http://schemas.openxmlformats.org/drawingml/2006/main" noGrp="1"/>
          </p:cNvSpPr>
          <p:nvPr/>
        </p:nvSpPr>
        <p:spPr>
          <a:xfrm xmlns:a="http://schemas.openxmlformats.org/drawingml/2006/main">
            <a:off x="1188720" y="7477506"/>
            <a:ext cx="475488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Empezar por los activos y flujos que necesita el negocio</a:t>
            </a:r>
          </a:p>
        </p:txBody>
      </p:sp>
      <p:sp>
        <p:nvSpPr>
          <p:cNvPr id="23" name="Freeform 23">
            <a:extLst xmlns:a="http://schemas.openxmlformats.org/drawingml/2006/main">
              <a:ext uri="{FF2B5EF4-FFF2-40B4-BE49-F238E27FC236}">
                <a16:creationId xmlns:a16="http://schemas.microsoft.com/office/drawing/2014/main" id="{A0C0CD4B-3A70-410B-A82E-22BC8D22157D}"/>
              </a:ext>
            </a:extLst>
          </p:cNvPr>
          <p:cNvSpPr>
            <a:spLocks xmlns:a="http://schemas.openxmlformats.org/drawingml/2006/main" noGrp="1"/>
          </p:cNvSpPr>
          <p:nvPr/>
        </p:nvSpPr>
        <p:spPr>
          <a:xfrm xmlns:a="http://schemas.openxmlformats.org/drawingml/2006/main" rot="0" flipH="0" flipV="0">
            <a:off x="6479543" y="6570983"/>
            <a:ext cx="5328951" cy="2585751"/>
          </a:xfrm>
          <a:custGeom xmlns:a="http://schemas.openxmlformats.org/drawingml/2006/main">
            <a:rect l="l" t="t" r="r" b="b"/>
            <a:pathLst>
              <a:path w="7105269" h="3447669">
                <a:moveTo>
                  <a:pt x="0" y="0"/>
                </a:moveTo>
                <a:lnTo>
                  <a:pt x="7105269" y="0"/>
                </a:lnTo>
                <a:lnTo>
                  <a:pt x="7105269" y="3447669"/>
                </a:lnTo>
                <a:lnTo>
                  <a:pt x="0" y="344766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4" name="TextBox 24">
            <a:extLst xmlns:a="http://schemas.openxmlformats.org/drawingml/2006/main">
              <a:ext uri="{FF2B5EF4-FFF2-40B4-BE49-F238E27FC236}">
                <a16:creationId xmlns:a16="http://schemas.microsoft.com/office/drawing/2014/main" id="{D0FC2456-E8B2-4F47-BE16-85FACDE79F1E}"/>
              </a:ext>
            </a:extLst>
          </p:cNvPr>
          <p:cNvSpPr>
            <a:spLocks xmlns:a="http://schemas.openxmlformats.org/drawingml/2006/main" noGrp="1"/>
          </p:cNvSpPr>
          <p:nvPr/>
        </p:nvSpPr>
        <p:spPr>
          <a:xfrm xmlns:a="http://schemas.openxmlformats.org/drawingml/2006/main">
            <a:off x="6766560" y="6747510"/>
            <a:ext cx="4754880" cy="457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Diferenciación a validar</a:t>
            </a:r>
          </a:p>
        </p:txBody>
      </p:sp>
      <p:sp>
        <p:nvSpPr>
          <p:cNvPr id="25" name="TextBox 25">
            <a:extLst xmlns:a="http://schemas.openxmlformats.org/drawingml/2006/main">
              <a:ext uri="{FF2B5EF4-FFF2-40B4-BE49-F238E27FC236}">
                <a16:creationId xmlns:a16="http://schemas.microsoft.com/office/drawing/2014/main" id="{1A7D6F4A-7CB2-4E90-A78E-502FE27966AF}"/>
              </a:ext>
            </a:extLst>
          </p:cNvPr>
          <p:cNvSpPr>
            <a:spLocks xmlns:a="http://schemas.openxmlformats.org/drawingml/2006/main" noGrp="1"/>
          </p:cNvSpPr>
          <p:nvPr/>
        </p:nvSpPr>
        <p:spPr>
          <a:xfrm xmlns:a="http://schemas.openxmlformats.org/drawingml/2006/main">
            <a:off x="6766560" y="7477506"/>
            <a:ext cx="475488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Simplicidad y menor transcripción en operaciones locales</a:t>
            </a:r>
          </a:p>
        </p:txBody>
      </p:sp>
      <p:sp>
        <p:nvSpPr>
          <p:cNvPr id="27" name="Freeform 27">
            <a:extLst xmlns:a="http://schemas.openxmlformats.org/drawingml/2006/main">
              <a:ext uri="{FF2B5EF4-FFF2-40B4-BE49-F238E27FC236}">
                <a16:creationId xmlns:a16="http://schemas.microsoft.com/office/drawing/2014/main" id="{01832C24-C564-493C-B27F-3C72CFDA35BA}"/>
              </a:ext>
            </a:extLst>
          </p:cNvPr>
          <p:cNvSpPr>
            <a:spLocks xmlns:a="http://schemas.openxmlformats.org/drawingml/2006/main" noGrp="1"/>
          </p:cNvSpPr>
          <p:nvPr/>
        </p:nvSpPr>
        <p:spPr>
          <a:xfrm xmlns:a="http://schemas.openxmlformats.org/drawingml/2006/main" rot="0" flipH="0" flipV="0">
            <a:off x="12057383" y="6570983"/>
            <a:ext cx="5328951" cy="2585751"/>
          </a:xfrm>
          <a:custGeom xmlns:a="http://schemas.openxmlformats.org/drawingml/2006/main">
            <a:rect l="l" t="t" r="r" b="b"/>
            <a:pathLst>
              <a:path w="7105269" h="3447669">
                <a:moveTo>
                  <a:pt x="0" y="0"/>
                </a:moveTo>
                <a:lnTo>
                  <a:pt x="7105269" y="0"/>
                </a:lnTo>
                <a:lnTo>
                  <a:pt x="7105269" y="3447669"/>
                </a:lnTo>
                <a:lnTo>
                  <a:pt x="0" y="344766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8" name="TextBox 28">
            <a:extLst xmlns:a="http://schemas.openxmlformats.org/drawingml/2006/main">
              <a:ext uri="{FF2B5EF4-FFF2-40B4-BE49-F238E27FC236}">
                <a16:creationId xmlns:a16="http://schemas.microsoft.com/office/drawing/2014/main" id="{F2BBA8ED-6029-4CBD-A8B5-C41E0034747B}"/>
              </a:ext>
            </a:extLst>
          </p:cNvPr>
          <p:cNvSpPr>
            <a:spLocks xmlns:a="http://schemas.openxmlformats.org/drawingml/2006/main" noGrp="1"/>
          </p:cNvSpPr>
          <p:nvPr/>
        </p:nvSpPr>
        <p:spPr>
          <a:xfrm xmlns:a="http://schemas.openxmlformats.org/drawingml/2006/main">
            <a:off x="12344400" y="6747510"/>
            <a:ext cx="4754880" cy="457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Evolución prevista</a:t>
            </a:r>
          </a:p>
        </p:txBody>
      </p:sp>
      <p:sp>
        <p:nvSpPr>
          <p:cNvPr id="29" name="TextBox 29">
            <a:extLst xmlns:a="http://schemas.openxmlformats.org/drawingml/2006/main">
              <a:ext uri="{FF2B5EF4-FFF2-40B4-BE49-F238E27FC236}">
                <a16:creationId xmlns:a16="http://schemas.microsoft.com/office/drawing/2014/main" id="{AC5DCFBC-36A8-4474-ABA8-5D5FDC878DE8}"/>
              </a:ext>
            </a:extLst>
          </p:cNvPr>
          <p:cNvSpPr>
            <a:spLocks xmlns:a="http://schemas.openxmlformats.org/drawingml/2006/main" noGrp="1"/>
          </p:cNvSpPr>
          <p:nvPr/>
        </p:nvSpPr>
        <p:spPr>
          <a:xfrm xmlns:a="http://schemas.openxmlformats.org/drawingml/2006/main">
            <a:off x="12344400" y="7477506"/>
            <a:ext cx="475488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1F2D3A"/>
                </a:solidFill>
                <a:latin typeface="Calibri (MS)"/>
                <a:ea typeface="Calibri (MS)"/>
                <a:cs typeface="Calibri (MS)"/>
              </a:rPr>
              <a:t>IA supervisada, planes y despliegue cloud progresivo</a:t>
            </a:r>
          </a:p>
        </p:txBody>
      </p:sp>
      <p:sp>
        <p:nvSpPr>
          <p:cNvPr id="30" name="TextBox 30">
            <a:extLst xmlns:a="http://schemas.openxmlformats.org/drawingml/2006/main">
              <a:ext uri="{FF2B5EF4-FFF2-40B4-BE49-F238E27FC236}">
                <a16:creationId xmlns:a16="http://schemas.microsoft.com/office/drawing/2014/main" id="{14C9557A-E316-4F29-909C-EDC8F482A69D}"/>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5</a:t>
            </a:r>
          </a:p>
        </p:txBody>
      </p:sp>
      <p:sp>
        <p:nvSpPr>
          <p:cNvPr id="31" name="Propuesta de valor de ColdTrace">
            <a:extLst xmlns:a="http://schemas.openxmlformats.org/drawingml/2006/main">
              <a:ext uri="{FF2B5EF4-FFF2-40B4-BE49-F238E27FC236}">
                <a16:creationId xmlns:a16="http://schemas.microsoft.com/office/drawing/2014/main" id="{3111A77F-A716-42E9-A370-AB49CF80CFEC}"/>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Propuesta de valor de ColdTrace</a:t>
            </a:r>
          </a:p>
        </p:txBody>
      </p:sp>
    </p:spTree>
    <p:extLst>
      <p:ext uri="{BB962C8B-B14F-4D97-AF65-F5344CB8AC3E}">
        <p14:creationId xmlns:p14="http://schemas.microsoft.com/office/powerpoint/2010/main" val="18425883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Evolución de la solución existente">
            <a:extLst xmlns:a="http://schemas.openxmlformats.org/drawingml/2006/main">
              <a:ext uri="{FF2B5EF4-FFF2-40B4-BE49-F238E27FC236}">
                <a16:creationId xmlns:a16="http://schemas.microsoft.com/office/drawing/2014/main" id="{A39E5094-F393-4FC9-BC55-257C08205007}"/>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Evolución de la solución existente</a:t>
            </a:r>
          </a:p>
        </p:txBody>
      </p:sp>
      <p:sp>
        <p:nvSpPr>
          <p:cNvPr id="2" name="Línea base conservada">
            <a:extLst xmlns:a="http://schemas.openxmlformats.org/drawingml/2006/main">
              <a:ext uri="{FF2B5EF4-FFF2-40B4-BE49-F238E27FC236}">
                <a16:creationId xmlns:a16="http://schemas.microsoft.com/office/drawing/2014/main" id="{E7342C23-D702-44B8-9681-D2E014914147}"/>
              </a:ext>
            </a:extLst>
          </p:cNvPr>
          <p:cNvSpPr>
            <a:spLocks xmlns:a="http://schemas.openxmlformats.org/drawingml/2006/main" noGrp="1"/>
          </p:cNvSpPr>
          <p:nvPr/>
        </p:nvSpPr>
        <p:spPr>
          <a:xfrm xmlns:a="http://schemas.openxmlformats.org/drawingml/2006/main">
            <a:off x="914400" y="26670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B7F8C"/>
                </a:solidFill>
              </a:defRPr>
            </a:defPPr>
            <a:lvl1pPr>
              <a:defRPr sz="3225" b="1">
                <a:solidFill>
                  <a:srgbClr val="1B7F8C"/>
                </a:solidFill>
              </a:defRPr>
            </a:lvl1pPr>
            <a:lvl2pPr>
              <a:defRPr sz="3225" b="1">
                <a:solidFill>
                  <a:srgbClr val="1B7F8C"/>
                </a:solidFill>
              </a:defRPr>
            </a:lvl2pPr>
            <a:lvl3pPr>
              <a:defRPr sz="3225" b="1">
                <a:solidFill>
                  <a:srgbClr val="1B7F8C"/>
                </a:solidFill>
              </a:defRPr>
            </a:lvl3pPr>
            <a:lvl4pPr>
              <a:defRPr sz="3225" b="1">
                <a:solidFill>
                  <a:srgbClr val="1B7F8C"/>
                </a:solidFill>
              </a:defRPr>
            </a:lvl4pPr>
            <a:lvl5pPr>
              <a:defRPr sz="3225" b="1">
                <a:solidFill>
                  <a:srgbClr val="1B7F8C"/>
                </a:solidFill>
              </a:defRPr>
            </a:lvl5pPr>
            <a:lvl6pPr>
              <a:defRPr sz="3225" b="1">
                <a:solidFill>
                  <a:srgbClr val="1B7F8C"/>
                </a:solidFill>
              </a:defRPr>
            </a:lvl6pPr>
            <a:lvl7pPr>
              <a:defRPr sz="3225" b="1">
                <a:solidFill>
                  <a:srgbClr val="1B7F8C"/>
                </a:solidFill>
              </a:defRPr>
            </a:lvl7pPr>
            <a:lvl8pPr>
              <a:defRPr sz="3225" b="1">
                <a:solidFill>
                  <a:srgbClr val="1B7F8C"/>
                </a:solidFill>
              </a:defRPr>
            </a:lvl8pPr>
            <a:lvl9pPr>
              <a:defRPr sz="3225" b="1">
                <a:solidFill>
                  <a:srgbClr val="1B7F8C"/>
                </a:solidFill>
              </a:defRPr>
            </a:lvl9pPr>
          </a:lstStyle>
          <a:p xmlns:a="http://schemas.openxmlformats.org/drawingml/2006/main">
            <a:pPr>
              <a:defRPr sz="3225" b="1">
                <a:solidFill>
                  <a:srgbClr val="1B7F8C"/>
                </a:solidFill>
              </a:defRPr>
            </a:pPr>
            <a:r>
              <a:rPr sz="3225" b="1">
                <a:solidFill>
                  <a:srgbClr val="1B7F8C"/>
                </a:solidFill>
              </a:rPr>
              <a:t>Línea base conservada</a:t>
            </a:r>
          </a:p>
        </p:txBody>
      </p:sp>
      <p:sp>
        <p:nvSpPr>
          <p:cNvPr id="3" name="Dominio y reglas de negocio&#10;Backend Java y Sp">
            <a:extLst xmlns:a="http://schemas.openxmlformats.org/drawingml/2006/main">
              <a:ext uri="{FF2B5EF4-FFF2-40B4-BE49-F238E27FC236}">
                <a16:creationId xmlns:a16="http://schemas.microsoft.com/office/drawing/2014/main" id="{6320F54C-FF17-45CE-B346-7755C5DF731F}"/>
              </a:ext>
            </a:extLst>
          </p:cNvPr>
          <p:cNvSpPr>
            <a:spLocks xmlns:a="http://schemas.openxmlformats.org/drawingml/2006/main" noGrp="1"/>
          </p:cNvSpPr>
          <p:nvPr/>
        </p:nvSpPr>
        <p:spPr>
          <a:xfrm xmlns:a="http://schemas.openxmlformats.org/drawingml/2006/main">
            <a:off x="914400" y="3905250"/>
            <a:ext cx="50958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0">
                <a:solidFill>
                  <a:srgbClr val="1F2D3A"/>
                </a:solidFill>
              </a:defRPr>
            </a:defPPr>
            <a:lvl1pPr>
              <a:defRPr sz="2925" b="0">
                <a:solidFill>
                  <a:srgbClr val="1F2D3A"/>
                </a:solidFill>
              </a:defRPr>
            </a:lvl1pPr>
            <a:lvl2pPr>
              <a:defRPr sz="2925" b="0">
                <a:solidFill>
                  <a:srgbClr val="1F2D3A"/>
                </a:solidFill>
              </a:defRPr>
            </a:lvl2pPr>
            <a:lvl3pPr>
              <a:defRPr sz="2925" b="0">
                <a:solidFill>
                  <a:srgbClr val="1F2D3A"/>
                </a:solidFill>
              </a:defRPr>
            </a:lvl3pPr>
            <a:lvl4pPr>
              <a:defRPr sz="2925" b="0">
                <a:solidFill>
                  <a:srgbClr val="1F2D3A"/>
                </a:solidFill>
              </a:defRPr>
            </a:lvl4pPr>
            <a:lvl5pPr>
              <a:defRPr sz="2925" b="0">
                <a:solidFill>
                  <a:srgbClr val="1F2D3A"/>
                </a:solidFill>
              </a:defRPr>
            </a:lvl5pPr>
            <a:lvl6pPr>
              <a:defRPr sz="2925" b="0">
                <a:solidFill>
                  <a:srgbClr val="1F2D3A"/>
                </a:solidFill>
              </a:defRPr>
            </a:lvl6pPr>
            <a:lvl7pPr>
              <a:defRPr sz="2925" b="0">
                <a:solidFill>
                  <a:srgbClr val="1F2D3A"/>
                </a:solidFill>
              </a:defRPr>
            </a:lvl7pPr>
            <a:lvl8pPr>
              <a:defRPr sz="2925" b="0">
                <a:solidFill>
                  <a:srgbClr val="1F2D3A"/>
                </a:solidFill>
              </a:defRPr>
            </a:lvl8pPr>
            <a:lvl9pPr>
              <a:defRPr sz="2925" b="0">
                <a:solidFill>
                  <a:srgbClr val="1F2D3A"/>
                </a:solidFill>
              </a:defRPr>
            </a:lvl9pPr>
          </a:lstStyle>
          <a:p xmlns:a="http://schemas.openxmlformats.org/drawingml/2006/main">
            <a:pPr>
              <a:defRPr sz="2925" b="0">
                <a:solidFill>
                  <a:srgbClr val="1F2D3A"/>
                </a:solidFill>
              </a:defRPr>
            </a:pPr>
            <a:r>
              <a:rPr sz="2925" b="0">
                <a:solidFill>
                  <a:srgbClr val="1F2D3A"/>
                </a:solidFill>
              </a:rPr>
              <a:t>Dominio y reglas de negocio</a:t>
            </a:r>
          </a:p>
          <a:p xmlns:a="http://schemas.openxmlformats.org/drawingml/2006/main">
            <a:pPr>
              <a:defRPr sz="2925" b="0">
                <a:solidFill>
                  <a:srgbClr val="1F2D3A"/>
                </a:solidFill>
              </a:defRPr>
            </a:pPr>
            <a:r>
              <a:rPr sz="2925" b="0">
                <a:solidFill>
                  <a:srgbClr val="1F2D3A"/>
                </a:solidFill>
              </a:rPr>
              <a:t>Backend Java y Spring Boot</a:t>
            </a:r>
          </a:p>
          <a:p xmlns:a="http://schemas.openxmlformats.org/drawingml/2006/main">
            <a:pPr>
              <a:defRPr sz="2925" b="0">
                <a:solidFill>
                  <a:srgbClr val="1F2D3A"/>
                </a:solidFill>
              </a:defRPr>
            </a:pPr>
            <a:r>
              <a:rPr sz="2925" b="0">
                <a:solidFill>
                  <a:srgbClr val="1F2D3A"/>
                </a:solidFill>
              </a:rPr>
              <a:t>Capacidades existentes de usuarios y activos</a:t>
            </a:r>
          </a:p>
        </p:txBody>
      </p:sp>
      <p:sp>
        <p:nvSpPr>
          <p:cNvPr id="4" name="Incremento del Sprint 1">
            <a:extLst xmlns:a="http://schemas.openxmlformats.org/drawingml/2006/main">
              <a:ext uri="{FF2B5EF4-FFF2-40B4-BE49-F238E27FC236}">
                <a16:creationId xmlns:a16="http://schemas.microsoft.com/office/drawing/2014/main" id="{5FAF6731-EED0-4BB1-8B27-5926ED9F611A}"/>
              </a:ext>
            </a:extLst>
          </p:cNvPr>
          <p:cNvSpPr>
            <a:spLocks xmlns:a="http://schemas.openxmlformats.org/drawingml/2006/main" noGrp="1"/>
          </p:cNvSpPr>
          <p:nvPr/>
        </p:nvSpPr>
        <p:spPr>
          <a:xfrm xmlns:a="http://schemas.openxmlformats.org/drawingml/2006/main">
            <a:off x="6438900" y="26670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B7F8C"/>
                </a:solidFill>
              </a:defRPr>
            </a:defPPr>
            <a:lvl1pPr>
              <a:defRPr sz="3225" b="1">
                <a:solidFill>
                  <a:srgbClr val="1B7F8C"/>
                </a:solidFill>
              </a:defRPr>
            </a:lvl1pPr>
            <a:lvl2pPr>
              <a:defRPr sz="3225" b="1">
                <a:solidFill>
                  <a:srgbClr val="1B7F8C"/>
                </a:solidFill>
              </a:defRPr>
            </a:lvl2pPr>
            <a:lvl3pPr>
              <a:defRPr sz="3225" b="1">
                <a:solidFill>
                  <a:srgbClr val="1B7F8C"/>
                </a:solidFill>
              </a:defRPr>
            </a:lvl3pPr>
            <a:lvl4pPr>
              <a:defRPr sz="3225" b="1">
                <a:solidFill>
                  <a:srgbClr val="1B7F8C"/>
                </a:solidFill>
              </a:defRPr>
            </a:lvl4pPr>
            <a:lvl5pPr>
              <a:defRPr sz="3225" b="1">
                <a:solidFill>
                  <a:srgbClr val="1B7F8C"/>
                </a:solidFill>
              </a:defRPr>
            </a:lvl5pPr>
            <a:lvl6pPr>
              <a:defRPr sz="3225" b="1">
                <a:solidFill>
                  <a:srgbClr val="1B7F8C"/>
                </a:solidFill>
              </a:defRPr>
            </a:lvl6pPr>
            <a:lvl7pPr>
              <a:defRPr sz="3225" b="1">
                <a:solidFill>
                  <a:srgbClr val="1B7F8C"/>
                </a:solidFill>
              </a:defRPr>
            </a:lvl7pPr>
            <a:lvl8pPr>
              <a:defRPr sz="3225" b="1">
                <a:solidFill>
                  <a:srgbClr val="1B7F8C"/>
                </a:solidFill>
              </a:defRPr>
            </a:lvl8pPr>
            <a:lvl9pPr>
              <a:defRPr sz="3225" b="1">
                <a:solidFill>
                  <a:srgbClr val="1B7F8C"/>
                </a:solidFill>
              </a:defRPr>
            </a:lvl9pPr>
          </a:lstStyle>
          <a:p xmlns:a="http://schemas.openxmlformats.org/drawingml/2006/main">
            <a:pPr>
              <a:defRPr sz="3225" b="1">
                <a:solidFill>
                  <a:srgbClr val="1B7F8C"/>
                </a:solidFill>
              </a:defRPr>
            </a:pPr>
            <a:r>
              <a:rPr sz="3225" b="1">
                <a:solidFill>
                  <a:srgbClr val="1B7F8C"/>
                </a:solidFill>
              </a:rPr>
              <a:t>Incremento del Sprint 1</a:t>
            </a:r>
          </a:p>
        </p:txBody>
      </p:sp>
      <p:sp>
        <p:nvSpPr>
          <p:cNvPr id="5" name="Monitoring, Alert y Reports extraídos&#10;Gateway">
            <a:extLst xmlns:a="http://schemas.openxmlformats.org/drawingml/2006/main">
              <a:ext uri="{FF2B5EF4-FFF2-40B4-BE49-F238E27FC236}">
                <a16:creationId xmlns:a16="http://schemas.microsoft.com/office/drawing/2014/main" id="{AE1412F3-EE32-4B50-9A46-0F0611400F7E}"/>
              </a:ext>
            </a:extLst>
          </p:cNvPr>
          <p:cNvSpPr>
            <a:spLocks xmlns:a="http://schemas.openxmlformats.org/drawingml/2006/main" noGrp="1"/>
          </p:cNvSpPr>
          <p:nvPr/>
        </p:nvSpPr>
        <p:spPr>
          <a:xfrm xmlns:a="http://schemas.openxmlformats.org/drawingml/2006/main">
            <a:off x="6438900" y="3905250"/>
            <a:ext cx="50958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0">
                <a:solidFill>
                  <a:srgbClr val="1F2D3A"/>
                </a:solidFill>
              </a:defRPr>
            </a:defPPr>
            <a:lvl1pPr>
              <a:defRPr sz="2925" b="0">
                <a:solidFill>
                  <a:srgbClr val="1F2D3A"/>
                </a:solidFill>
              </a:defRPr>
            </a:lvl1pPr>
            <a:lvl2pPr>
              <a:defRPr sz="2925" b="0">
                <a:solidFill>
                  <a:srgbClr val="1F2D3A"/>
                </a:solidFill>
              </a:defRPr>
            </a:lvl2pPr>
            <a:lvl3pPr>
              <a:defRPr sz="2925" b="0">
                <a:solidFill>
                  <a:srgbClr val="1F2D3A"/>
                </a:solidFill>
              </a:defRPr>
            </a:lvl3pPr>
            <a:lvl4pPr>
              <a:defRPr sz="2925" b="0">
                <a:solidFill>
                  <a:srgbClr val="1F2D3A"/>
                </a:solidFill>
              </a:defRPr>
            </a:lvl4pPr>
            <a:lvl5pPr>
              <a:defRPr sz="2925" b="0">
                <a:solidFill>
                  <a:srgbClr val="1F2D3A"/>
                </a:solidFill>
              </a:defRPr>
            </a:lvl5pPr>
            <a:lvl6pPr>
              <a:defRPr sz="2925" b="0">
                <a:solidFill>
                  <a:srgbClr val="1F2D3A"/>
                </a:solidFill>
              </a:defRPr>
            </a:lvl6pPr>
            <a:lvl7pPr>
              <a:defRPr sz="2925" b="0">
                <a:solidFill>
                  <a:srgbClr val="1F2D3A"/>
                </a:solidFill>
              </a:defRPr>
            </a:lvl7pPr>
            <a:lvl8pPr>
              <a:defRPr sz="2925" b="0">
                <a:solidFill>
                  <a:srgbClr val="1F2D3A"/>
                </a:solidFill>
              </a:defRPr>
            </a:lvl8pPr>
            <a:lvl9pPr>
              <a:defRPr sz="2925" b="0">
                <a:solidFill>
                  <a:srgbClr val="1F2D3A"/>
                </a:solidFill>
              </a:defRPr>
            </a:lvl9pPr>
          </a:lstStyle>
          <a:p xmlns:a="http://schemas.openxmlformats.org/drawingml/2006/main">
            <a:pPr>
              <a:defRPr sz="2925" b="0">
                <a:solidFill>
                  <a:srgbClr val="1F2D3A"/>
                </a:solidFill>
              </a:defRPr>
            </a:pPr>
            <a:r>
              <a:rPr sz="2925" b="0">
                <a:solidFill>
                  <a:srgbClr val="1F2D3A"/>
                </a:solidFill>
              </a:rPr>
              <a:t>Monitoring, Alert y Reports extraídos</a:t>
            </a:r>
          </a:p>
          <a:p xmlns:a="http://schemas.openxmlformats.org/drawingml/2006/main">
            <a:pPr>
              <a:defRPr sz="2925" b="0">
                <a:solidFill>
                  <a:srgbClr val="1F2D3A"/>
                </a:solidFill>
              </a:defRPr>
            </a:pPr>
            <a:r>
              <a:rPr sz="2925" b="0">
                <a:solidFill>
                  <a:srgbClr val="1F2D3A"/>
                </a:solidFill>
              </a:rPr>
              <a:t>Gateway y flujo por eventos</a:t>
            </a:r>
          </a:p>
          <a:p xmlns:a="http://schemas.openxmlformats.org/drawingml/2006/main">
            <a:pPr>
              <a:defRPr sz="2925" b="0">
                <a:solidFill>
                  <a:srgbClr val="1F2D3A"/>
                </a:solidFill>
              </a:defRPr>
            </a:pPr>
            <a:r>
              <a:rPr sz="2925" b="0">
                <a:solidFill>
                  <a:srgbClr val="1F2D3A"/>
                </a:solidFill>
              </a:rPr>
              <a:t>Recuperación, idempotencia y atención de alertas</a:t>
            </a:r>
          </a:p>
        </p:txBody>
      </p:sp>
      <p:sp>
        <p:nvSpPr>
          <p:cNvPr id="6" name="Siguiente evolución">
            <a:extLst xmlns:a="http://schemas.openxmlformats.org/drawingml/2006/main">
              <a:ext uri="{FF2B5EF4-FFF2-40B4-BE49-F238E27FC236}">
                <a16:creationId xmlns:a16="http://schemas.microsoft.com/office/drawing/2014/main" id="{7AE5051E-A38E-4073-B0BC-D9C94D0182E1}"/>
              </a:ext>
            </a:extLst>
          </p:cNvPr>
          <p:cNvSpPr>
            <a:spLocks xmlns:a="http://schemas.openxmlformats.org/drawingml/2006/main" noGrp="1"/>
          </p:cNvSpPr>
          <p:nvPr/>
        </p:nvSpPr>
        <p:spPr>
          <a:xfrm xmlns:a="http://schemas.openxmlformats.org/drawingml/2006/main">
            <a:off x="11963400" y="26670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B7F8C"/>
                </a:solidFill>
              </a:defRPr>
            </a:defPPr>
            <a:lvl1pPr>
              <a:defRPr sz="3225" b="1">
                <a:solidFill>
                  <a:srgbClr val="1B7F8C"/>
                </a:solidFill>
              </a:defRPr>
            </a:lvl1pPr>
            <a:lvl2pPr>
              <a:defRPr sz="3225" b="1">
                <a:solidFill>
                  <a:srgbClr val="1B7F8C"/>
                </a:solidFill>
              </a:defRPr>
            </a:lvl2pPr>
            <a:lvl3pPr>
              <a:defRPr sz="3225" b="1">
                <a:solidFill>
                  <a:srgbClr val="1B7F8C"/>
                </a:solidFill>
              </a:defRPr>
            </a:lvl3pPr>
            <a:lvl4pPr>
              <a:defRPr sz="3225" b="1">
                <a:solidFill>
                  <a:srgbClr val="1B7F8C"/>
                </a:solidFill>
              </a:defRPr>
            </a:lvl4pPr>
            <a:lvl5pPr>
              <a:defRPr sz="3225" b="1">
                <a:solidFill>
                  <a:srgbClr val="1B7F8C"/>
                </a:solidFill>
              </a:defRPr>
            </a:lvl5pPr>
            <a:lvl6pPr>
              <a:defRPr sz="3225" b="1">
                <a:solidFill>
                  <a:srgbClr val="1B7F8C"/>
                </a:solidFill>
              </a:defRPr>
            </a:lvl6pPr>
            <a:lvl7pPr>
              <a:defRPr sz="3225" b="1">
                <a:solidFill>
                  <a:srgbClr val="1B7F8C"/>
                </a:solidFill>
              </a:defRPr>
            </a:lvl7pPr>
            <a:lvl8pPr>
              <a:defRPr sz="3225" b="1">
                <a:solidFill>
                  <a:srgbClr val="1B7F8C"/>
                </a:solidFill>
              </a:defRPr>
            </a:lvl8pPr>
            <a:lvl9pPr>
              <a:defRPr sz="3225" b="1">
                <a:solidFill>
                  <a:srgbClr val="1B7F8C"/>
                </a:solidFill>
              </a:defRPr>
            </a:lvl9pPr>
          </a:lstStyle>
          <a:p xmlns:a="http://schemas.openxmlformats.org/drawingml/2006/main">
            <a:pPr>
              <a:defRPr sz="3225" b="1">
                <a:solidFill>
                  <a:srgbClr val="1B7F8C"/>
                </a:solidFill>
              </a:defRPr>
            </a:pPr>
            <a:r>
              <a:rPr sz="3225" b="1">
                <a:solidFill>
                  <a:srgbClr val="1B7F8C"/>
                </a:solidFill>
              </a:rPr>
              <a:t>Siguiente evolución</a:t>
            </a:r>
          </a:p>
        </p:txBody>
      </p:sp>
      <p:sp>
        <p:nvSpPr>
          <p:cNvPr id="7" name="Completar la extracción del backend&#10;Despliegu">
            <a:extLst xmlns:a="http://schemas.openxmlformats.org/drawingml/2006/main">
              <a:ext uri="{FF2B5EF4-FFF2-40B4-BE49-F238E27FC236}">
                <a16:creationId xmlns:a16="http://schemas.microsoft.com/office/drawing/2014/main" id="{77B9BC8B-A8F0-442F-9041-39C5ECD648E9}"/>
              </a:ext>
            </a:extLst>
          </p:cNvPr>
          <p:cNvSpPr>
            <a:spLocks xmlns:a="http://schemas.openxmlformats.org/drawingml/2006/main" noGrp="1"/>
          </p:cNvSpPr>
          <p:nvPr/>
        </p:nvSpPr>
        <p:spPr>
          <a:xfrm xmlns:a="http://schemas.openxmlformats.org/drawingml/2006/main">
            <a:off x="11963400" y="3905250"/>
            <a:ext cx="509587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0">
                <a:solidFill>
                  <a:srgbClr val="1F2D3A"/>
                </a:solidFill>
              </a:defRPr>
            </a:defPPr>
            <a:lvl1pPr>
              <a:defRPr sz="2925" b="0">
                <a:solidFill>
                  <a:srgbClr val="1F2D3A"/>
                </a:solidFill>
              </a:defRPr>
            </a:lvl1pPr>
            <a:lvl2pPr>
              <a:defRPr sz="2925" b="0">
                <a:solidFill>
                  <a:srgbClr val="1F2D3A"/>
                </a:solidFill>
              </a:defRPr>
            </a:lvl2pPr>
            <a:lvl3pPr>
              <a:defRPr sz="2925" b="0">
                <a:solidFill>
                  <a:srgbClr val="1F2D3A"/>
                </a:solidFill>
              </a:defRPr>
            </a:lvl3pPr>
            <a:lvl4pPr>
              <a:defRPr sz="2925" b="0">
                <a:solidFill>
                  <a:srgbClr val="1F2D3A"/>
                </a:solidFill>
              </a:defRPr>
            </a:lvl4pPr>
            <a:lvl5pPr>
              <a:defRPr sz="2925" b="0">
                <a:solidFill>
                  <a:srgbClr val="1F2D3A"/>
                </a:solidFill>
              </a:defRPr>
            </a:lvl5pPr>
            <a:lvl6pPr>
              <a:defRPr sz="2925" b="0">
                <a:solidFill>
                  <a:srgbClr val="1F2D3A"/>
                </a:solidFill>
              </a:defRPr>
            </a:lvl6pPr>
            <a:lvl7pPr>
              <a:defRPr sz="2925" b="0">
                <a:solidFill>
                  <a:srgbClr val="1F2D3A"/>
                </a:solidFill>
              </a:defRPr>
            </a:lvl7pPr>
            <a:lvl8pPr>
              <a:defRPr sz="2925" b="0">
                <a:solidFill>
                  <a:srgbClr val="1F2D3A"/>
                </a:solidFill>
              </a:defRPr>
            </a:lvl8pPr>
            <a:lvl9pPr>
              <a:defRPr sz="2925" b="0">
                <a:solidFill>
                  <a:srgbClr val="1F2D3A"/>
                </a:solidFill>
              </a:defRPr>
            </a:lvl9pPr>
          </a:lstStyle>
          <a:p xmlns:a="http://schemas.openxmlformats.org/drawingml/2006/main">
            <a:pPr>
              <a:defRPr sz="2925" b="0">
                <a:solidFill>
                  <a:srgbClr val="1F2D3A"/>
                </a:solidFill>
              </a:defRPr>
            </a:pPr>
            <a:r>
              <a:rPr sz="2925" b="0">
                <a:solidFill>
                  <a:srgbClr val="1F2D3A"/>
                </a:solidFill>
              </a:rPr>
              <a:t>Completar la extracción del backend</a:t>
            </a:r>
          </a:p>
          <a:p xmlns:a="http://schemas.openxmlformats.org/drawingml/2006/main">
            <a:pPr>
              <a:defRPr sz="2925" b="0">
                <a:solidFill>
                  <a:srgbClr val="1F2D3A"/>
                </a:solidFill>
              </a:defRPr>
            </a:pPr>
            <a:r>
              <a:rPr sz="2925" b="0">
                <a:solidFill>
                  <a:srgbClr val="1F2D3A"/>
                </a:solidFill>
              </a:rPr>
              <a:t>Despliegue académico en Google Cloud</a:t>
            </a:r>
          </a:p>
          <a:p xmlns:a="http://schemas.openxmlformats.org/drawingml/2006/main">
            <a:pPr>
              <a:defRPr sz="2925" b="0">
                <a:solidFill>
                  <a:srgbClr val="1F2D3A"/>
                </a:solidFill>
              </a:defRPr>
            </a:pPr>
            <a:r>
              <a:rPr sz="2925" b="0">
                <a:solidFill>
                  <a:srgbClr val="1F2D3A"/>
                </a:solidFill>
              </a:rPr>
              <a:t>Validación de rendimiento y uso</a:t>
            </a:r>
          </a:p>
        </p:txBody>
      </p:sp>
      <p:sp>
        <p:nvSpPr>
          <p:cNvPr id="8" name="Migración gradual: las rutas extraídas conviv">
            <a:extLst xmlns:a="http://schemas.openxmlformats.org/drawingml/2006/main">
              <a:ext uri="{FF2B5EF4-FFF2-40B4-BE49-F238E27FC236}">
                <a16:creationId xmlns:a16="http://schemas.microsoft.com/office/drawing/2014/main" id="{62775D74-BF9A-41D0-9702-292557C90142}"/>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Migración gradual: las rutas extraídas conviven con IAM y Asset todavía en el backend.</a:t>
            </a:r>
          </a:p>
        </p:txBody>
      </p:sp>
      <p:sp>
        <p:nvSpPr>
          <p:cNvPr id="9" name="6">
            <a:extLst xmlns:a="http://schemas.openxmlformats.org/drawingml/2006/main">
              <a:ext uri="{FF2B5EF4-FFF2-40B4-BE49-F238E27FC236}">
                <a16:creationId xmlns:a16="http://schemas.microsoft.com/office/drawing/2014/main" id="{A57AF45A-25AA-4AC7-A10E-8744A1D5522F}"/>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6</a:t>
            </a:r>
          </a:p>
        </p:txBody>
      </p:sp>
    </p:spTree>
    <p:extLst>
      <p:ext uri="{BB962C8B-B14F-4D97-AF65-F5344CB8AC3E}">
        <p14:creationId xmlns:p14="http://schemas.microsoft.com/office/powerpoint/2010/main" val="12005051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3C77DFC-47CF-4352-928A-F0C8440E7CF2}"/>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1970ad43bb4f4b6c">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3E21B858-24CB-4756-92A9-E8EB201FA717}"/>
              </a:ext>
            </a:extLst>
          </p:cNvPr>
          <p:cNvSpPr>
            <a:spLocks xmlns:a="http://schemas.openxmlformats.org/drawingml/2006/main" noGrp="1"/>
          </p:cNvSpPr>
          <p:nvPr/>
        </p:nvSpPr>
        <p:spPr>
          <a:xfrm xmlns:a="http://schemas.openxmlformats.org/drawingml/2006/main" rot="0" flipH="0" flipV="0">
            <a:off x="901703" y="2181863"/>
            <a:ext cx="8072151" cy="3317271"/>
          </a:xfrm>
          <a:custGeom xmlns:a="http://schemas.openxmlformats.org/drawingml/2006/main">
            <a:rect l="l" t="t" r="r" b="b"/>
            <a:pathLst>
              <a:path w="10762869" h="4423029">
                <a:moveTo>
                  <a:pt x="0" y="0"/>
                </a:moveTo>
                <a:lnTo>
                  <a:pt x="10762869" y="0"/>
                </a:lnTo>
                <a:lnTo>
                  <a:pt x="10762869" y="4423029"/>
                </a:lnTo>
                <a:lnTo>
                  <a:pt x="0" y="4423029"/>
                </a:lnTo>
                <a:close/>
              </a:path>
            </a:pathLst>
          </a:custGeom>
          <a:solidFill xmlns:a="http://schemas.openxmlformats.org/drawingml/2006/main">
            <a:srgbClr val="0B2A43"/>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97F37913-109F-40DE-AA45-73D69784EF22}"/>
              </a:ext>
            </a:extLst>
          </p:cNvPr>
          <p:cNvSpPr>
            <a:spLocks xmlns:a="http://schemas.openxmlformats.org/drawingml/2006/main" noGrp="1"/>
          </p:cNvSpPr>
          <p:nvPr/>
        </p:nvSpPr>
        <p:spPr>
          <a:xfrm xmlns:a="http://schemas.openxmlformats.org/drawingml/2006/main" rot="0" flipH="0" flipV="0">
            <a:off x="1280160" y="2414016"/>
            <a:ext cx="2194560" cy="548640"/>
          </a:xfrm>
          <a:custGeom xmlns:a="http://schemas.openxmlformats.org/drawingml/2006/main">
            <a:rect l="l" t="t" r="r" b="b"/>
            <a:pathLst>
              <a:path w="2926080" h="731520">
                <a:moveTo>
                  <a:pt x="0" y="0"/>
                </a:moveTo>
                <a:lnTo>
                  <a:pt x="2926080" y="0"/>
                </a:lnTo>
                <a:lnTo>
                  <a:pt x="2926080" y="731520"/>
                </a:lnTo>
                <a:lnTo>
                  <a:pt x="0" y="731520"/>
                </a:lnTo>
                <a:close/>
              </a:path>
            </a:pathLst>
          </a:custGeom>
          <a:blipFill xmlns:a="http://schemas.openxmlformats.org/drawingml/2006/main">
            <a:blip xmlns:r="http://schemas.openxmlformats.org/officeDocument/2006/relationships" r:embed="R1970ad43bb4f4b6c">
              <a:alphaModFix amt="0"/>
            </a:blip>
            <a:stretch>
              <a:fillRect l="0" t="-27940" r="0" b="-2794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C73FC9D6-E8E9-4F98-BFE6-ACECE984BD87}"/>
              </a:ext>
            </a:extLst>
          </p:cNvPr>
          <p:cNvSpPr>
            <a:spLocks xmlns:a="http://schemas.openxmlformats.org/drawingml/2006/main" noGrp="1"/>
          </p:cNvSpPr>
          <p:nvPr/>
        </p:nvSpPr>
        <p:spPr>
          <a:xfrm xmlns:a="http://schemas.openxmlformats.org/drawingml/2006/main" rot="0" flipH="0" flipV="0">
            <a:off x="1280160" y="2385441"/>
            <a:ext cx="21945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879"/>
              </a:lnSpc>
              <a:buNone/>
            </a:pPr>
            <a:r>
              <a:rPr sz="2400" b="1">
                <a:solidFill>
                  <a:srgbClr val="F2A33A"/>
                </a:solidFill>
                <a:latin typeface="Calibri (MS) Bold"/>
                <a:ea typeface="Calibri (MS) Bold"/>
                <a:cs typeface="Calibri (MS) Bold"/>
              </a:rPr>
              <a:t>BG01</a:t>
            </a:r>
          </a:p>
        </p:txBody>
      </p:sp>
      <p:sp>
        <p:nvSpPr>
          <p:cNvPr id="11" name="Freeform 11">
            <a:extLst xmlns:a="http://schemas.openxmlformats.org/drawingml/2006/main">
              <a:ext uri="{FF2B5EF4-FFF2-40B4-BE49-F238E27FC236}">
                <a16:creationId xmlns:a16="http://schemas.microsoft.com/office/drawing/2014/main" id="{6BC62996-36A5-4B06-91C7-7F417AEC1D6A}"/>
              </a:ext>
            </a:extLst>
          </p:cNvPr>
          <p:cNvSpPr>
            <a:spLocks xmlns:a="http://schemas.openxmlformats.org/drawingml/2006/main" noGrp="1"/>
          </p:cNvSpPr>
          <p:nvPr/>
        </p:nvSpPr>
        <p:spPr>
          <a:xfrm xmlns:a="http://schemas.openxmlformats.org/drawingml/2006/main" rot="0" flipH="0" flipV="0">
            <a:off x="1280160" y="2962656"/>
            <a:ext cx="7315200" cy="1097280"/>
          </a:xfrm>
          <a:custGeom xmlns:a="http://schemas.openxmlformats.org/drawingml/2006/main">
            <a:rect l="l" t="t" r="r" b="b"/>
            <a:pathLst>
              <a:path w="9753600" h="1463040">
                <a:moveTo>
                  <a:pt x="0" y="0"/>
                </a:moveTo>
                <a:lnTo>
                  <a:pt x="9753600" y="0"/>
                </a:lnTo>
                <a:lnTo>
                  <a:pt x="9753600" y="1463040"/>
                </a:lnTo>
                <a:lnTo>
                  <a:pt x="0" y="1463040"/>
                </a:lnTo>
                <a:close/>
              </a:path>
            </a:pathLst>
          </a:custGeom>
          <a:blipFill xmlns:a="http://schemas.openxmlformats.org/drawingml/2006/main">
            <a:blip xmlns:r="http://schemas.openxmlformats.org/officeDocument/2006/relationships" r:embed="R1970ad43bb4f4b6c">
              <a:alphaModFix amt="0"/>
            </a:blip>
            <a:stretch>
              <a:fillRect l="0" t="-79900" r="0" b="-79900"/>
            </a:stretch>
          </a:blipFill>
        </p:spPr>
        <p:txBody>
          <a:bodyPr xmlns:a="http://schemas.openxmlformats.org/drawingml/2006/main"/>
          <a:lstStyle xmlns:a="http://schemas.openxmlformats.org/drawingml/2006/main"/>
          <a:p xmlns:a="http://schemas.openxmlformats.org/drawingml/2006/main">
            <a:endParaRPr/>
          </a:p>
        </p:txBody>
      </p:sp>
      <p:sp>
        <p:nvSpPr>
          <p:cNvPr id="12" name="TextBox 12">
            <a:extLst xmlns:a="http://schemas.openxmlformats.org/drawingml/2006/main">
              <a:ext uri="{FF2B5EF4-FFF2-40B4-BE49-F238E27FC236}">
                <a16:creationId xmlns:a16="http://schemas.microsoft.com/office/drawing/2014/main" id="{520E54FA-5C2D-4C5F-83AB-0C25E8619B88}"/>
              </a:ext>
            </a:extLst>
          </p:cNvPr>
          <p:cNvSpPr>
            <a:spLocks xmlns:a="http://schemas.openxmlformats.org/drawingml/2006/main" noGrp="1"/>
          </p:cNvSpPr>
          <p:nvPr/>
        </p:nvSpPr>
        <p:spPr>
          <a:xfrm xmlns:a="http://schemas.openxmlformats.org/drawingml/2006/main" rot="0" flipH="0" flipV="0">
            <a:off x="1280160" y="2955513"/>
            <a:ext cx="731520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7679"/>
              </a:lnSpc>
              <a:buNone/>
            </a:pPr>
            <a:r>
              <a:rPr sz="6399" b="1">
                <a:solidFill>
                  <a:srgbClr val="FFFFFF"/>
                </a:solidFill>
                <a:latin typeface="Cambria Bold"/>
                <a:ea typeface="Cambria Bold"/>
                <a:cs typeface="Cambria Bold"/>
              </a:rPr>
              <a:t>−40 %</a:t>
            </a:r>
          </a:p>
        </p:txBody>
      </p:sp>
      <p:sp>
        <p:nvSpPr>
          <p:cNvPr id="13" name="TextBox 13">
            <a:extLst xmlns:a="http://schemas.openxmlformats.org/drawingml/2006/main">
              <a:ext uri="{FF2B5EF4-FFF2-40B4-BE49-F238E27FC236}">
                <a16:creationId xmlns:a16="http://schemas.microsoft.com/office/drawing/2014/main" id="{6CE40FD2-BB5A-4B8B-97BF-E0BF079D9AFF}"/>
              </a:ext>
            </a:extLst>
          </p:cNvPr>
          <p:cNvSpPr>
            <a:spLocks xmlns:a="http://schemas.openxmlformats.org/drawingml/2006/main" noGrp="1"/>
          </p:cNvSpPr>
          <p:nvPr/>
        </p:nvSpPr>
        <p:spPr>
          <a:xfrm xmlns:a="http://schemas.openxmlformats.org/drawingml/2006/main">
            <a:off x="1280160" y="4057650"/>
            <a:ext cx="7315200" cy="1245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pérdidas de perecibles por fallas de refrigeración en clientes piloto, en 6 meses</a:t>
            </a:r>
          </a:p>
        </p:txBody>
      </p:sp>
      <p:sp>
        <p:nvSpPr>
          <p:cNvPr id="15" name="Freeform 15">
            <a:extLst xmlns:a="http://schemas.openxmlformats.org/drawingml/2006/main">
              <a:ext uri="{FF2B5EF4-FFF2-40B4-BE49-F238E27FC236}">
                <a16:creationId xmlns:a16="http://schemas.microsoft.com/office/drawing/2014/main" id="{744F5085-D719-4B84-81AB-9978BF256720}"/>
              </a:ext>
            </a:extLst>
          </p:cNvPr>
          <p:cNvSpPr>
            <a:spLocks xmlns:a="http://schemas.openxmlformats.org/drawingml/2006/main" noGrp="1"/>
          </p:cNvSpPr>
          <p:nvPr/>
        </p:nvSpPr>
        <p:spPr>
          <a:xfrm xmlns:a="http://schemas.openxmlformats.org/drawingml/2006/main" rot="0" flipH="0" flipV="0">
            <a:off x="9314183" y="2181863"/>
            <a:ext cx="8072151" cy="3317271"/>
          </a:xfrm>
          <a:custGeom xmlns:a="http://schemas.openxmlformats.org/drawingml/2006/main">
            <a:rect l="l" t="t" r="r" b="b"/>
            <a:pathLst>
              <a:path w="10762869" h="4423029">
                <a:moveTo>
                  <a:pt x="0" y="0"/>
                </a:moveTo>
                <a:lnTo>
                  <a:pt x="10762869" y="0"/>
                </a:lnTo>
                <a:lnTo>
                  <a:pt x="10762869" y="4423029"/>
                </a:lnTo>
                <a:lnTo>
                  <a:pt x="0" y="4423029"/>
                </a:lnTo>
                <a:close/>
              </a:path>
            </a:pathLst>
          </a:custGeom>
          <a:solidFill xmlns:a="http://schemas.openxmlformats.org/drawingml/2006/main">
            <a:srgbClr val="1B7F8C"/>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7" name="Freeform 17">
            <a:extLst xmlns:a="http://schemas.openxmlformats.org/drawingml/2006/main">
              <a:ext uri="{FF2B5EF4-FFF2-40B4-BE49-F238E27FC236}">
                <a16:creationId xmlns:a16="http://schemas.microsoft.com/office/drawing/2014/main" id="{25EC0827-9803-44E0-9E46-8900D9053727}"/>
              </a:ext>
            </a:extLst>
          </p:cNvPr>
          <p:cNvSpPr>
            <a:spLocks xmlns:a="http://schemas.openxmlformats.org/drawingml/2006/main" noGrp="1"/>
          </p:cNvSpPr>
          <p:nvPr/>
        </p:nvSpPr>
        <p:spPr>
          <a:xfrm xmlns:a="http://schemas.openxmlformats.org/drawingml/2006/main" rot="0" flipH="0" flipV="0">
            <a:off x="9692640" y="2414016"/>
            <a:ext cx="2194560" cy="548640"/>
          </a:xfrm>
          <a:custGeom xmlns:a="http://schemas.openxmlformats.org/drawingml/2006/main">
            <a:rect l="l" t="t" r="r" b="b"/>
            <a:pathLst>
              <a:path w="2926080" h="731520">
                <a:moveTo>
                  <a:pt x="0" y="0"/>
                </a:moveTo>
                <a:lnTo>
                  <a:pt x="2926080" y="0"/>
                </a:lnTo>
                <a:lnTo>
                  <a:pt x="2926080" y="731520"/>
                </a:lnTo>
                <a:lnTo>
                  <a:pt x="0" y="731520"/>
                </a:lnTo>
                <a:close/>
              </a:path>
            </a:pathLst>
          </a:custGeom>
          <a:blipFill xmlns:a="http://schemas.openxmlformats.org/drawingml/2006/main">
            <a:blip xmlns:r="http://schemas.openxmlformats.org/officeDocument/2006/relationships" r:embed="R1970ad43bb4f4b6c">
              <a:alphaModFix amt="0"/>
            </a:blip>
            <a:stretch>
              <a:fillRect l="0" t="-27940" r="0" b="-27940"/>
            </a:stretch>
          </a:blipFill>
        </p:spPr>
        <p:txBody>
          <a:bodyPr xmlns:a="http://schemas.openxmlformats.org/drawingml/2006/main"/>
          <a:lstStyle xmlns:a="http://schemas.openxmlformats.org/drawingml/2006/main"/>
          <a:p xmlns:a="http://schemas.openxmlformats.org/drawingml/2006/main">
            <a:endParaRPr/>
          </a:p>
        </p:txBody>
      </p:sp>
      <p:sp>
        <p:nvSpPr>
          <p:cNvPr id="18" name="TextBox 18">
            <a:extLst xmlns:a="http://schemas.openxmlformats.org/drawingml/2006/main">
              <a:ext uri="{FF2B5EF4-FFF2-40B4-BE49-F238E27FC236}">
                <a16:creationId xmlns:a16="http://schemas.microsoft.com/office/drawing/2014/main" id="{28992510-07F8-4A1C-ADF2-C7E207D643BF}"/>
              </a:ext>
            </a:extLst>
          </p:cNvPr>
          <p:cNvSpPr>
            <a:spLocks xmlns:a="http://schemas.openxmlformats.org/drawingml/2006/main" noGrp="1"/>
          </p:cNvSpPr>
          <p:nvPr/>
        </p:nvSpPr>
        <p:spPr>
          <a:xfrm xmlns:a="http://schemas.openxmlformats.org/drawingml/2006/main" rot="0" flipH="0" flipV="0">
            <a:off x="9692640" y="2385441"/>
            <a:ext cx="21945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879"/>
              </a:lnSpc>
              <a:buNone/>
            </a:pPr>
            <a:r>
              <a:rPr sz="2400" b="1">
                <a:solidFill>
                  <a:srgbClr val="F2A33A"/>
                </a:solidFill>
                <a:latin typeface="Calibri (MS) Bold"/>
                <a:ea typeface="Calibri (MS) Bold"/>
                <a:cs typeface="Calibri (MS) Bold"/>
              </a:rPr>
              <a:t>BG02</a:t>
            </a:r>
          </a:p>
        </p:txBody>
      </p:sp>
      <p:sp>
        <p:nvSpPr>
          <p:cNvPr id="20" name="Freeform 20">
            <a:extLst xmlns:a="http://schemas.openxmlformats.org/drawingml/2006/main">
              <a:ext uri="{FF2B5EF4-FFF2-40B4-BE49-F238E27FC236}">
                <a16:creationId xmlns:a16="http://schemas.microsoft.com/office/drawing/2014/main" id="{A712B024-A6E0-4A3B-B453-EA3469C5F02A}"/>
              </a:ext>
            </a:extLst>
          </p:cNvPr>
          <p:cNvSpPr>
            <a:spLocks xmlns:a="http://schemas.openxmlformats.org/drawingml/2006/main" noGrp="1"/>
          </p:cNvSpPr>
          <p:nvPr/>
        </p:nvSpPr>
        <p:spPr>
          <a:xfrm xmlns:a="http://schemas.openxmlformats.org/drawingml/2006/main" rot="0" flipH="0" flipV="0">
            <a:off x="9692640" y="2962656"/>
            <a:ext cx="7315200" cy="1097280"/>
          </a:xfrm>
          <a:custGeom xmlns:a="http://schemas.openxmlformats.org/drawingml/2006/main">
            <a:rect l="l" t="t" r="r" b="b"/>
            <a:pathLst>
              <a:path w="9753600" h="1463040">
                <a:moveTo>
                  <a:pt x="0" y="0"/>
                </a:moveTo>
                <a:lnTo>
                  <a:pt x="9753600" y="0"/>
                </a:lnTo>
                <a:lnTo>
                  <a:pt x="9753600" y="1463040"/>
                </a:lnTo>
                <a:lnTo>
                  <a:pt x="0" y="1463040"/>
                </a:lnTo>
                <a:close/>
              </a:path>
            </a:pathLst>
          </a:custGeom>
          <a:blipFill xmlns:a="http://schemas.openxmlformats.org/drawingml/2006/main">
            <a:blip xmlns:r="http://schemas.openxmlformats.org/officeDocument/2006/relationships" r:embed="R1970ad43bb4f4b6c">
              <a:alphaModFix amt="0"/>
            </a:blip>
            <a:stretch>
              <a:fillRect l="0" t="-79900" r="0" b="-79900"/>
            </a:stretch>
          </a:blipFill>
        </p:spPr>
        <p:txBody>
          <a:bodyPr xmlns:a="http://schemas.openxmlformats.org/drawingml/2006/main"/>
          <a:lstStyle xmlns:a="http://schemas.openxmlformats.org/drawingml/2006/main"/>
          <a:p xmlns:a="http://schemas.openxmlformats.org/drawingml/2006/main">
            <a:endParaRPr/>
          </a:p>
        </p:txBody>
      </p:sp>
      <p:sp>
        <p:nvSpPr>
          <p:cNvPr id="21" name="TextBox 21">
            <a:extLst xmlns:a="http://schemas.openxmlformats.org/drawingml/2006/main">
              <a:ext uri="{FF2B5EF4-FFF2-40B4-BE49-F238E27FC236}">
                <a16:creationId xmlns:a16="http://schemas.microsoft.com/office/drawing/2014/main" id="{AA9368DF-EDF4-4E79-A68D-3A291F2DE817}"/>
              </a:ext>
            </a:extLst>
          </p:cNvPr>
          <p:cNvSpPr>
            <a:spLocks xmlns:a="http://schemas.openxmlformats.org/drawingml/2006/main" noGrp="1"/>
          </p:cNvSpPr>
          <p:nvPr/>
        </p:nvSpPr>
        <p:spPr>
          <a:xfrm xmlns:a="http://schemas.openxmlformats.org/drawingml/2006/main" rot="0" flipH="0" flipV="0">
            <a:off x="9692640" y="2955513"/>
            <a:ext cx="731520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7679"/>
              </a:lnSpc>
              <a:buNone/>
            </a:pPr>
            <a:r>
              <a:rPr sz="6399" b="1">
                <a:solidFill>
                  <a:srgbClr val="FFFFFF"/>
                </a:solidFill>
                <a:latin typeface="Cambria Bold"/>
                <a:ea typeface="Cambria Bold"/>
                <a:cs typeface="Cambria Bold"/>
              </a:rPr>
              <a:t>&lt; 15 min</a:t>
            </a:r>
          </a:p>
        </p:txBody>
      </p:sp>
      <p:sp>
        <p:nvSpPr>
          <p:cNvPr id="22" name="TextBox 22">
            <a:extLst xmlns:a="http://schemas.openxmlformats.org/drawingml/2006/main">
              <a:ext uri="{FF2B5EF4-FFF2-40B4-BE49-F238E27FC236}">
                <a16:creationId xmlns:a16="http://schemas.microsoft.com/office/drawing/2014/main" id="{F9EE2CDC-2C6B-4C6B-A8A0-16402B0F6E17}"/>
              </a:ext>
            </a:extLst>
          </p:cNvPr>
          <p:cNvSpPr>
            <a:spLocks xmlns:a="http://schemas.openxmlformats.org/drawingml/2006/main" noGrp="1"/>
          </p:cNvSpPr>
          <p:nvPr/>
        </p:nvSpPr>
        <p:spPr>
          <a:xfrm xmlns:a="http://schemas.openxmlformats.org/drawingml/2006/main">
            <a:off x="9692640" y="4057650"/>
            <a:ext cx="7315200" cy="1245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entre la desviación y la primera acción, en el 80 % de las incidencias</a:t>
            </a:r>
          </a:p>
        </p:txBody>
      </p:sp>
      <p:sp>
        <p:nvSpPr>
          <p:cNvPr id="24" name="Freeform 24">
            <a:extLst xmlns:a="http://schemas.openxmlformats.org/drawingml/2006/main">
              <a:ext uri="{FF2B5EF4-FFF2-40B4-BE49-F238E27FC236}">
                <a16:creationId xmlns:a16="http://schemas.microsoft.com/office/drawing/2014/main" id="{C620D76A-3143-4C97-A12E-829CB0347182}"/>
              </a:ext>
            </a:extLst>
          </p:cNvPr>
          <p:cNvSpPr>
            <a:spLocks xmlns:a="http://schemas.openxmlformats.org/drawingml/2006/main" noGrp="1"/>
          </p:cNvSpPr>
          <p:nvPr/>
        </p:nvSpPr>
        <p:spPr>
          <a:xfrm xmlns:a="http://schemas.openxmlformats.org/drawingml/2006/main" rot="0" flipH="0" flipV="0">
            <a:off x="901703" y="5839463"/>
            <a:ext cx="8072151" cy="3317271"/>
          </a:xfrm>
          <a:custGeom xmlns:a="http://schemas.openxmlformats.org/drawingml/2006/main">
            <a:rect l="l" t="t" r="r" b="b"/>
            <a:pathLst>
              <a:path w="10762869" h="4423029">
                <a:moveTo>
                  <a:pt x="0" y="0"/>
                </a:moveTo>
                <a:lnTo>
                  <a:pt x="10762869" y="0"/>
                </a:lnTo>
                <a:lnTo>
                  <a:pt x="10762869" y="4423029"/>
                </a:lnTo>
                <a:lnTo>
                  <a:pt x="0" y="4423029"/>
                </a:lnTo>
                <a:close/>
              </a:path>
            </a:pathLst>
          </a:custGeom>
          <a:solidFill xmlns:a="http://schemas.openxmlformats.org/drawingml/2006/main">
            <a:srgbClr val="0B2A43"/>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6" name="Freeform 26">
            <a:extLst xmlns:a="http://schemas.openxmlformats.org/drawingml/2006/main">
              <a:ext uri="{FF2B5EF4-FFF2-40B4-BE49-F238E27FC236}">
                <a16:creationId xmlns:a16="http://schemas.microsoft.com/office/drawing/2014/main" id="{C7DBE732-C543-4585-BA3E-2AEB2539F905}"/>
              </a:ext>
            </a:extLst>
          </p:cNvPr>
          <p:cNvSpPr>
            <a:spLocks xmlns:a="http://schemas.openxmlformats.org/drawingml/2006/main" noGrp="1"/>
          </p:cNvSpPr>
          <p:nvPr/>
        </p:nvSpPr>
        <p:spPr>
          <a:xfrm xmlns:a="http://schemas.openxmlformats.org/drawingml/2006/main" rot="0" flipH="0" flipV="0">
            <a:off x="1280160" y="6071616"/>
            <a:ext cx="2194560" cy="548640"/>
          </a:xfrm>
          <a:custGeom xmlns:a="http://schemas.openxmlformats.org/drawingml/2006/main">
            <a:rect l="l" t="t" r="r" b="b"/>
            <a:pathLst>
              <a:path w="2926080" h="731520">
                <a:moveTo>
                  <a:pt x="0" y="0"/>
                </a:moveTo>
                <a:lnTo>
                  <a:pt x="2926080" y="0"/>
                </a:lnTo>
                <a:lnTo>
                  <a:pt x="2926080" y="731520"/>
                </a:lnTo>
                <a:lnTo>
                  <a:pt x="0" y="731520"/>
                </a:lnTo>
                <a:close/>
              </a:path>
            </a:pathLst>
          </a:custGeom>
          <a:blipFill xmlns:a="http://schemas.openxmlformats.org/drawingml/2006/main">
            <a:blip xmlns:r="http://schemas.openxmlformats.org/officeDocument/2006/relationships" r:embed="R1970ad43bb4f4b6c">
              <a:alphaModFix amt="0"/>
            </a:blip>
            <a:stretch>
              <a:fillRect l="0" t="-27940" r="0" b="-27940"/>
            </a:stretch>
          </a:blipFill>
        </p:spPr>
        <p:txBody>
          <a:bodyPr xmlns:a="http://schemas.openxmlformats.org/drawingml/2006/main"/>
          <a:lstStyle xmlns:a="http://schemas.openxmlformats.org/drawingml/2006/main"/>
          <a:p xmlns:a="http://schemas.openxmlformats.org/drawingml/2006/main">
            <a:endParaRPr/>
          </a:p>
        </p:txBody>
      </p:sp>
      <p:sp>
        <p:nvSpPr>
          <p:cNvPr id="27" name="TextBox 27">
            <a:extLst xmlns:a="http://schemas.openxmlformats.org/drawingml/2006/main">
              <a:ext uri="{FF2B5EF4-FFF2-40B4-BE49-F238E27FC236}">
                <a16:creationId xmlns:a16="http://schemas.microsoft.com/office/drawing/2014/main" id="{629485ED-7AA6-4ACE-8E22-98F627EB94FD}"/>
              </a:ext>
            </a:extLst>
          </p:cNvPr>
          <p:cNvSpPr>
            <a:spLocks xmlns:a="http://schemas.openxmlformats.org/drawingml/2006/main" noGrp="1"/>
          </p:cNvSpPr>
          <p:nvPr/>
        </p:nvSpPr>
        <p:spPr>
          <a:xfrm xmlns:a="http://schemas.openxmlformats.org/drawingml/2006/main" rot="0" flipH="0" flipV="0">
            <a:off x="1280160" y="6043041"/>
            <a:ext cx="21945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879"/>
              </a:lnSpc>
              <a:buNone/>
            </a:pPr>
            <a:r>
              <a:rPr sz="2400" b="1">
                <a:solidFill>
                  <a:srgbClr val="F2A33A"/>
                </a:solidFill>
                <a:latin typeface="Calibri (MS) Bold"/>
                <a:ea typeface="Calibri (MS) Bold"/>
                <a:cs typeface="Calibri (MS) Bold"/>
              </a:rPr>
              <a:t>BG03</a:t>
            </a:r>
          </a:p>
        </p:txBody>
      </p:sp>
      <p:sp>
        <p:nvSpPr>
          <p:cNvPr id="29" name="Freeform 29">
            <a:extLst xmlns:a="http://schemas.openxmlformats.org/drawingml/2006/main">
              <a:ext uri="{FF2B5EF4-FFF2-40B4-BE49-F238E27FC236}">
                <a16:creationId xmlns:a16="http://schemas.microsoft.com/office/drawing/2014/main" id="{A462B69E-8E51-4074-8070-6AA9F92A7896}"/>
              </a:ext>
            </a:extLst>
          </p:cNvPr>
          <p:cNvSpPr>
            <a:spLocks xmlns:a="http://schemas.openxmlformats.org/drawingml/2006/main" noGrp="1"/>
          </p:cNvSpPr>
          <p:nvPr/>
        </p:nvSpPr>
        <p:spPr>
          <a:xfrm xmlns:a="http://schemas.openxmlformats.org/drawingml/2006/main" rot="0" flipH="0" flipV="0">
            <a:off x="1280160" y="6620256"/>
            <a:ext cx="7315200" cy="1097280"/>
          </a:xfrm>
          <a:custGeom xmlns:a="http://schemas.openxmlformats.org/drawingml/2006/main">
            <a:rect l="l" t="t" r="r" b="b"/>
            <a:pathLst>
              <a:path w="9753600" h="1463040">
                <a:moveTo>
                  <a:pt x="0" y="0"/>
                </a:moveTo>
                <a:lnTo>
                  <a:pt x="9753600" y="0"/>
                </a:lnTo>
                <a:lnTo>
                  <a:pt x="9753600" y="1463040"/>
                </a:lnTo>
                <a:lnTo>
                  <a:pt x="0" y="1463040"/>
                </a:lnTo>
                <a:close/>
              </a:path>
            </a:pathLst>
          </a:custGeom>
          <a:blipFill xmlns:a="http://schemas.openxmlformats.org/drawingml/2006/main">
            <a:blip xmlns:r="http://schemas.openxmlformats.org/officeDocument/2006/relationships" r:embed="R1970ad43bb4f4b6c">
              <a:alphaModFix amt="0"/>
            </a:blip>
            <a:stretch>
              <a:fillRect l="0" t="-79900" r="0" b="-79900"/>
            </a:stretch>
          </a:blipFill>
        </p:spPr>
        <p:txBody>
          <a:bodyPr xmlns:a="http://schemas.openxmlformats.org/drawingml/2006/main"/>
          <a:lstStyle xmlns:a="http://schemas.openxmlformats.org/drawingml/2006/main"/>
          <a:p xmlns:a="http://schemas.openxmlformats.org/drawingml/2006/main">
            <a:endParaRPr/>
          </a:p>
        </p:txBody>
      </p:sp>
      <p:sp>
        <p:nvSpPr>
          <p:cNvPr id="30" name="TextBox 30">
            <a:extLst xmlns:a="http://schemas.openxmlformats.org/drawingml/2006/main">
              <a:ext uri="{FF2B5EF4-FFF2-40B4-BE49-F238E27FC236}">
                <a16:creationId xmlns:a16="http://schemas.microsoft.com/office/drawing/2014/main" id="{D8BD4DD7-5BD9-42C1-AC30-BA49B311DAD5}"/>
              </a:ext>
            </a:extLst>
          </p:cNvPr>
          <p:cNvSpPr>
            <a:spLocks xmlns:a="http://schemas.openxmlformats.org/drawingml/2006/main" noGrp="1"/>
          </p:cNvSpPr>
          <p:nvPr/>
        </p:nvSpPr>
        <p:spPr>
          <a:xfrm xmlns:a="http://schemas.openxmlformats.org/drawingml/2006/main" rot="0" flipH="0" flipV="0">
            <a:off x="1280160" y="6613113"/>
            <a:ext cx="731520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7679"/>
              </a:lnSpc>
              <a:buNone/>
            </a:pPr>
            <a:r>
              <a:rPr sz="6399" b="1">
                <a:solidFill>
                  <a:srgbClr val="FFFFFF"/>
                </a:solidFill>
                <a:latin typeface="Cambria Bold"/>
                <a:ea typeface="Cambria Bold"/>
                <a:cs typeface="Cambria Bold"/>
              </a:rPr>
              <a:t>60 %</a:t>
            </a:r>
          </a:p>
        </p:txBody>
      </p:sp>
      <p:sp>
        <p:nvSpPr>
          <p:cNvPr id="31" name="TextBox 31">
            <a:extLst xmlns:a="http://schemas.openxmlformats.org/drawingml/2006/main">
              <a:ext uri="{FF2B5EF4-FFF2-40B4-BE49-F238E27FC236}">
                <a16:creationId xmlns:a16="http://schemas.microsoft.com/office/drawing/2014/main" id="{8FFB3192-27AD-4AF4-A31B-142DC54DD952}"/>
              </a:ext>
            </a:extLst>
          </p:cNvPr>
          <p:cNvSpPr>
            <a:spLocks xmlns:a="http://schemas.openxmlformats.org/drawingml/2006/main" noGrp="1"/>
          </p:cNvSpPr>
          <p:nvPr/>
        </p:nvSpPr>
        <p:spPr>
          <a:xfrm xmlns:a="http://schemas.openxmlformats.org/drawingml/2006/main">
            <a:off x="1280160" y="7715250"/>
            <a:ext cx="7315200" cy="1245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de clientes de operaciones/calidad usa el reporte de trazabilidad en una auditoría</a:t>
            </a:r>
          </a:p>
        </p:txBody>
      </p:sp>
      <p:sp>
        <p:nvSpPr>
          <p:cNvPr id="33" name="Freeform 33">
            <a:extLst xmlns:a="http://schemas.openxmlformats.org/drawingml/2006/main">
              <a:ext uri="{FF2B5EF4-FFF2-40B4-BE49-F238E27FC236}">
                <a16:creationId xmlns:a16="http://schemas.microsoft.com/office/drawing/2014/main" id="{3728EFDC-B91C-4E60-96AF-4E8BF3676050}"/>
              </a:ext>
            </a:extLst>
          </p:cNvPr>
          <p:cNvSpPr>
            <a:spLocks xmlns:a="http://schemas.openxmlformats.org/drawingml/2006/main" noGrp="1"/>
          </p:cNvSpPr>
          <p:nvPr/>
        </p:nvSpPr>
        <p:spPr>
          <a:xfrm xmlns:a="http://schemas.openxmlformats.org/drawingml/2006/main" rot="0" flipH="0" flipV="0">
            <a:off x="9314183" y="5839463"/>
            <a:ext cx="8072151" cy="3317271"/>
          </a:xfrm>
          <a:custGeom xmlns:a="http://schemas.openxmlformats.org/drawingml/2006/main">
            <a:rect l="l" t="t" r="r" b="b"/>
            <a:pathLst>
              <a:path w="10762869" h="4423029">
                <a:moveTo>
                  <a:pt x="0" y="0"/>
                </a:moveTo>
                <a:lnTo>
                  <a:pt x="10762869" y="0"/>
                </a:lnTo>
                <a:lnTo>
                  <a:pt x="10762869" y="4423029"/>
                </a:lnTo>
                <a:lnTo>
                  <a:pt x="0" y="4423029"/>
                </a:lnTo>
                <a:close/>
              </a:path>
            </a:pathLst>
          </a:custGeom>
          <a:solidFill xmlns:a="http://schemas.openxmlformats.org/drawingml/2006/main">
            <a:srgbClr val="1B7F8C"/>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35" name="Freeform 35">
            <a:extLst xmlns:a="http://schemas.openxmlformats.org/drawingml/2006/main">
              <a:ext uri="{FF2B5EF4-FFF2-40B4-BE49-F238E27FC236}">
                <a16:creationId xmlns:a16="http://schemas.microsoft.com/office/drawing/2014/main" id="{C350A273-CF4F-4A4E-B4CB-8D1F5D71AC8A}"/>
              </a:ext>
            </a:extLst>
          </p:cNvPr>
          <p:cNvSpPr>
            <a:spLocks xmlns:a="http://schemas.openxmlformats.org/drawingml/2006/main" noGrp="1"/>
          </p:cNvSpPr>
          <p:nvPr/>
        </p:nvSpPr>
        <p:spPr>
          <a:xfrm xmlns:a="http://schemas.openxmlformats.org/drawingml/2006/main" rot="0" flipH="0" flipV="0">
            <a:off x="9692640" y="6071616"/>
            <a:ext cx="2194560" cy="548640"/>
          </a:xfrm>
          <a:custGeom xmlns:a="http://schemas.openxmlformats.org/drawingml/2006/main">
            <a:rect l="l" t="t" r="r" b="b"/>
            <a:pathLst>
              <a:path w="2926080" h="731520">
                <a:moveTo>
                  <a:pt x="0" y="0"/>
                </a:moveTo>
                <a:lnTo>
                  <a:pt x="2926080" y="0"/>
                </a:lnTo>
                <a:lnTo>
                  <a:pt x="2926080" y="731520"/>
                </a:lnTo>
                <a:lnTo>
                  <a:pt x="0" y="731520"/>
                </a:lnTo>
                <a:close/>
              </a:path>
            </a:pathLst>
          </a:custGeom>
          <a:blipFill xmlns:a="http://schemas.openxmlformats.org/drawingml/2006/main">
            <a:blip xmlns:r="http://schemas.openxmlformats.org/officeDocument/2006/relationships" r:embed="R1970ad43bb4f4b6c">
              <a:alphaModFix amt="0"/>
            </a:blip>
            <a:stretch>
              <a:fillRect l="0" t="-27940" r="0" b="-27940"/>
            </a:stretch>
          </a:blipFill>
        </p:spPr>
        <p:txBody>
          <a:bodyPr xmlns:a="http://schemas.openxmlformats.org/drawingml/2006/main"/>
          <a:lstStyle xmlns:a="http://schemas.openxmlformats.org/drawingml/2006/main"/>
          <a:p xmlns:a="http://schemas.openxmlformats.org/drawingml/2006/main">
            <a:endParaRPr/>
          </a:p>
        </p:txBody>
      </p:sp>
      <p:sp>
        <p:nvSpPr>
          <p:cNvPr id="36" name="TextBox 36">
            <a:extLst xmlns:a="http://schemas.openxmlformats.org/drawingml/2006/main">
              <a:ext uri="{FF2B5EF4-FFF2-40B4-BE49-F238E27FC236}">
                <a16:creationId xmlns:a16="http://schemas.microsoft.com/office/drawing/2014/main" id="{FE6215F7-14AD-4782-84C3-21AB57B66790}"/>
              </a:ext>
            </a:extLst>
          </p:cNvPr>
          <p:cNvSpPr>
            <a:spLocks xmlns:a="http://schemas.openxmlformats.org/drawingml/2006/main" noGrp="1"/>
          </p:cNvSpPr>
          <p:nvPr/>
        </p:nvSpPr>
        <p:spPr>
          <a:xfrm xmlns:a="http://schemas.openxmlformats.org/drawingml/2006/main" rot="0" flipH="0" flipV="0">
            <a:off x="9692640" y="6043041"/>
            <a:ext cx="21945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879"/>
              </a:lnSpc>
              <a:buNone/>
            </a:pPr>
            <a:r>
              <a:rPr sz="2400" b="1">
                <a:solidFill>
                  <a:srgbClr val="F2A33A"/>
                </a:solidFill>
                <a:latin typeface="Calibri (MS) Bold"/>
                <a:ea typeface="Calibri (MS) Bold"/>
                <a:cs typeface="Calibri (MS) Bold"/>
              </a:rPr>
              <a:t>BG04</a:t>
            </a:r>
          </a:p>
        </p:txBody>
      </p:sp>
      <p:sp>
        <p:nvSpPr>
          <p:cNvPr id="38" name="Freeform 38">
            <a:extLst xmlns:a="http://schemas.openxmlformats.org/drawingml/2006/main">
              <a:ext uri="{FF2B5EF4-FFF2-40B4-BE49-F238E27FC236}">
                <a16:creationId xmlns:a16="http://schemas.microsoft.com/office/drawing/2014/main" id="{36C7806A-E023-4929-832D-554E9E4A88D7}"/>
              </a:ext>
            </a:extLst>
          </p:cNvPr>
          <p:cNvSpPr>
            <a:spLocks xmlns:a="http://schemas.openxmlformats.org/drawingml/2006/main" noGrp="1"/>
          </p:cNvSpPr>
          <p:nvPr/>
        </p:nvSpPr>
        <p:spPr>
          <a:xfrm xmlns:a="http://schemas.openxmlformats.org/drawingml/2006/main" rot="0" flipH="0" flipV="0">
            <a:off x="9692640" y="6620256"/>
            <a:ext cx="7315200" cy="1097280"/>
          </a:xfrm>
          <a:custGeom xmlns:a="http://schemas.openxmlformats.org/drawingml/2006/main">
            <a:rect l="l" t="t" r="r" b="b"/>
            <a:pathLst>
              <a:path w="9753600" h="1463040">
                <a:moveTo>
                  <a:pt x="0" y="0"/>
                </a:moveTo>
                <a:lnTo>
                  <a:pt x="9753600" y="0"/>
                </a:lnTo>
                <a:lnTo>
                  <a:pt x="9753600" y="1463040"/>
                </a:lnTo>
                <a:lnTo>
                  <a:pt x="0" y="1463040"/>
                </a:lnTo>
                <a:close/>
              </a:path>
            </a:pathLst>
          </a:custGeom>
          <a:blipFill xmlns:a="http://schemas.openxmlformats.org/drawingml/2006/main">
            <a:blip xmlns:r="http://schemas.openxmlformats.org/officeDocument/2006/relationships" r:embed="R1970ad43bb4f4b6c">
              <a:alphaModFix amt="0"/>
            </a:blip>
            <a:stretch>
              <a:fillRect l="0" t="-79900" r="0" b="-79900"/>
            </a:stretch>
          </a:blipFill>
        </p:spPr>
        <p:txBody>
          <a:bodyPr xmlns:a="http://schemas.openxmlformats.org/drawingml/2006/main"/>
          <a:lstStyle xmlns:a="http://schemas.openxmlformats.org/drawingml/2006/main"/>
          <a:p xmlns:a="http://schemas.openxmlformats.org/drawingml/2006/main">
            <a:endParaRPr/>
          </a:p>
        </p:txBody>
      </p:sp>
      <p:sp>
        <p:nvSpPr>
          <p:cNvPr id="39" name="TextBox 39">
            <a:extLst xmlns:a="http://schemas.openxmlformats.org/drawingml/2006/main">
              <a:ext uri="{FF2B5EF4-FFF2-40B4-BE49-F238E27FC236}">
                <a16:creationId xmlns:a16="http://schemas.microsoft.com/office/drawing/2014/main" id="{9E24AB03-F25B-4D4D-96A3-2E53A4D8CA15}"/>
              </a:ext>
            </a:extLst>
          </p:cNvPr>
          <p:cNvSpPr>
            <a:spLocks xmlns:a="http://schemas.openxmlformats.org/drawingml/2006/main" noGrp="1"/>
          </p:cNvSpPr>
          <p:nvPr/>
        </p:nvSpPr>
        <p:spPr>
          <a:xfrm xmlns:a="http://schemas.openxmlformats.org/drawingml/2006/main" rot="0" flipH="0" flipV="0">
            <a:off x="9692640" y="6613113"/>
            <a:ext cx="7315200" cy="110442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7679"/>
              </a:lnSpc>
              <a:buNone/>
            </a:pPr>
            <a:r>
              <a:rPr sz="6399" b="1">
                <a:solidFill>
                  <a:srgbClr val="FFFFFF"/>
                </a:solidFill>
                <a:latin typeface="Cambria Bold"/>
                <a:ea typeface="Cambria Bold"/>
                <a:cs typeface="Cambria Bold"/>
              </a:rPr>
              <a:t>50 orgs</a:t>
            </a:r>
          </a:p>
        </p:txBody>
      </p:sp>
      <p:sp>
        <p:nvSpPr>
          <p:cNvPr id="40" name="TextBox 40">
            <a:extLst xmlns:a="http://schemas.openxmlformats.org/drawingml/2006/main">
              <a:ext uri="{FF2B5EF4-FFF2-40B4-BE49-F238E27FC236}">
                <a16:creationId xmlns:a16="http://schemas.microsoft.com/office/drawing/2014/main" id="{DFAD0AE7-E90D-474C-BFBF-C7E2095F19BA}"/>
              </a:ext>
            </a:extLst>
          </p:cNvPr>
          <p:cNvSpPr>
            <a:spLocks xmlns:a="http://schemas.openxmlformats.org/drawingml/2006/main" noGrp="1"/>
          </p:cNvSpPr>
          <p:nvPr/>
        </p:nvSpPr>
        <p:spPr>
          <a:xfrm xmlns:a="http://schemas.openxmlformats.org/drawingml/2006/main">
            <a:off x="9692640" y="7715250"/>
            <a:ext cx="7315200" cy="1245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registradas, 15 de pago y retención trimestral de 70 %, en 8 meses</a:t>
            </a:r>
          </a:p>
        </p:txBody>
      </p:sp>
      <p:sp>
        <p:nvSpPr>
          <p:cNvPr id="41" name="TextBox 41">
            <a:extLst xmlns:a="http://schemas.openxmlformats.org/drawingml/2006/main">
              <a:ext uri="{FF2B5EF4-FFF2-40B4-BE49-F238E27FC236}">
                <a16:creationId xmlns:a16="http://schemas.microsoft.com/office/drawing/2014/main" id="{C0C3391D-5A84-4D37-A95B-0910814A1070}"/>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7</a:t>
            </a:r>
          </a:p>
        </p:txBody>
      </p:sp>
      <p:sp>
        <p:nvSpPr>
          <p:cNvPr id="42" name="Objetivos de negocio (Impact Map)">
            <a:extLst xmlns:a="http://schemas.openxmlformats.org/drawingml/2006/main">
              <a:ext uri="{FF2B5EF4-FFF2-40B4-BE49-F238E27FC236}">
                <a16:creationId xmlns:a16="http://schemas.microsoft.com/office/drawing/2014/main" id="{3E685673-6D6C-4536-8A3D-71480B2759C1}"/>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Objetivos de negocio (Impact Map)</a:t>
            </a:r>
          </a:p>
        </p:txBody>
      </p:sp>
    </p:spTree>
    <p:extLst>
      <p:ext uri="{BB962C8B-B14F-4D97-AF65-F5344CB8AC3E}">
        <p14:creationId xmlns:p14="http://schemas.microsoft.com/office/powerpoint/2010/main" val="546798864"/>
      </p:ext>
    </p:extLst>
  </p:cSld>
</p:sld>
</file>

<file path=ppt/slides/slide8.xml><?xml version="1.0" encoding="utf-8"?>
<p:sld xmlns:p="http://schemas.openxmlformats.org/presentationml/2006/main">
  <p:cSld>
    <p:bg>
      <p:bgPr>
        <a:solidFill xmlns:a="http://schemas.openxmlformats.org/drawingml/2006/main">
          <a:srgbClr val="1B7F8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A300F8C-BC00-4284-B257-773563EF18D0}"/>
              </a:ext>
            </a:extLst>
          </p:cNvPr>
          <p:cNvSpPr>
            <a:spLocks xmlns:a="http://schemas.openxmlformats.org/drawingml/2006/main" noGrp="1"/>
          </p:cNvSpPr>
          <p:nvPr/>
        </p:nvSpPr>
        <p:spPr>
          <a:xfrm xmlns:a="http://schemas.openxmlformats.org/drawingml/2006/main" rot="0" flipH="0" flipV="0">
            <a:off x="1280160" y="2194560"/>
            <a:ext cx="5486400" cy="2194560"/>
          </a:xfrm>
          <a:custGeom xmlns:a="http://schemas.openxmlformats.org/drawingml/2006/main">
            <a:rect l="l" t="t" r="r" b="b"/>
            <a:pathLst>
              <a:path w="7315200" h="2926080">
                <a:moveTo>
                  <a:pt x="0" y="0"/>
                </a:moveTo>
                <a:lnTo>
                  <a:pt x="7315200" y="0"/>
                </a:lnTo>
                <a:lnTo>
                  <a:pt x="7315200" y="2926080"/>
                </a:lnTo>
                <a:lnTo>
                  <a:pt x="0" y="2926080"/>
                </a:lnTo>
                <a:close/>
              </a:path>
            </a:pathLst>
          </a:custGeom>
          <a:blipFill xmlns:a="http://schemas.openxmlformats.org/drawingml/2006/main">
            <a:blip xmlns:r="http://schemas.openxmlformats.org/officeDocument/2006/relationships" r:embed="Rc3c590f68ed94ec0">
              <a:alphaModFix amt="0"/>
            </a:blip>
            <a:stretch>
              <a:fillRect l="-1321" t="0" r="-1321" b="0"/>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9CD9D97F-C4B7-4E2E-907C-1DBCA99B8EDA}"/>
              </a:ext>
            </a:extLst>
          </p:cNvPr>
          <p:cNvSpPr>
            <a:spLocks xmlns:a="http://schemas.openxmlformats.org/drawingml/2006/main" noGrp="1"/>
          </p:cNvSpPr>
          <p:nvPr/>
        </p:nvSpPr>
        <p:spPr>
          <a:xfrm xmlns:a="http://schemas.openxmlformats.org/drawingml/2006/main" rot="0" flipH="0" flipV="0">
            <a:off x="1280160" y="2180273"/>
            <a:ext cx="5486400" cy="220884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7280"/>
              </a:lnSpc>
              <a:buNone/>
            </a:pPr>
            <a:r>
              <a:rPr sz="14400" b="1">
                <a:solidFill>
                  <a:srgbClr val="F2A33A"/>
                </a:solidFill>
                <a:latin typeface="Cambria Bold"/>
                <a:ea typeface="Cambria Bold"/>
                <a:cs typeface="Cambria Bold"/>
              </a:rPr>
              <a:t>02</a:t>
            </a:r>
          </a:p>
        </p:txBody>
      </p:sp>
      <p:sp>
        <p:nvSpPr>
          <p:cNvPr id="6" name="Freeform 6">
            <a:extLst xmlns:a="http://schemas.openxmlformats.org/drawingml/2006/main">
              <a:ext uri="{FF2B5EF4-FFF2-40B4-BE49-F238E27FC236}">
                <a16:creationId xmlns:a16="http://schemas.microsoft.com/office/drawing/2014/main" id="{062130EB-FCB7-4F35-B1A0-AF91D22E1FD4}"/>
              </a:ext>
            </a:extLst>
          </p:cNvPr>
          <p:cNvSpPr>
            <a:spLocks xmlns:a="http://schemas.openxmlformats.org/drawingml/2006/main" noGrp="1"/>
          </p:cNvSpPr>
          <p:nvPr/>
        </p:nvSpPr>
        <p:spPr>
          <a:xfrm xmlns:a="http://schemas.openxmlformats.org/drawingml/2006/main" rot="0" flipH="0" flipV="0">
            <a:off x="1280160" y="4572000"/>
            <a:ext cx="15727679" cy="1645920"/>
          </a:xfrm>
          <a:custGeom xmlns:a="http://schemas.openxmlformats.org/drawingml/2006/main">
            <a:rect l="l" t="t" r="r" b="b"/>
            <a:pathLst>
              <a:path w="20970239" h="2194560">
                <a:moveTo>
                  <a:pt x="0" y="0"/>
                </a:moveTo>
                <a:lnTo>
                  <a:pt x="20970239" y="0"/>
                </a:lnTo>
                <a:lnTo>
                  <a:pt x="20970239" y="2194560"/>
                </a:lnTo>
                <a:lnTo>
                  <a:pt x="0" y="2194560"/>
                </a:lnTo>
                <a:close/>
              </a:path>
            </a:pathLst>
          </a:custGeom>
          <a:blipFill xmlns:a="http://schemas.openxmlformats.org/drawingml/2006/main">
            <a:blip xmlns:r="http://schemas.openxmlformats.org/officeDocument/2006/relationships" r:embed="Rc3c590f68ed94ec0">
              <a:alphaModFix amt="0"/>
            </a:blip>
            <a:stretch>
              <a:fillRect l="0" t="-136190" r="0" b="-136190"/>
            </a:stretch>
          </a:blip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AC9BE09D-A7D3-417F-A7EC-5290C3F510B8}"/>
              </a:ext>
            </a:extLst>
          </p:cNvPr>
          <p:cNvSpPr>
            <a:spLocks xmlns:a="http://schemas.openxmlformats.org/drawingml/2006/main" noGrp="1"/>
          </p:cNvSpPr>
          <p:nvPr/>
        </p:nvSpPr>
        <p:spPr>
          <a:xfrm xmlns:a="http://schemas.openxmlformats.org/drawingml/2006/main" rot="0" flipH="0" flipV="0">
            <a:off x="1280160" y="4557713"/>
            <a:ext cx="15727680" cy="166020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8640"/>
              </a:lnSpc>
              <a:buNone/>
            </a:pPr>
            <a:r>
              <a:rPr sz="7200" b="1">
                <a:solidFill>
                  <a:srgbClr val="FFFFFF"/>
                </a:solidFill>
                <a:latin typeface="Cambria Bold"/>
                <a:ea typeface="Cambria Bold"/>
                <a:cs typeface="Cambria Bold"/>
              </a:rPr>
              <a:t>Product Backlog</a:t>
            </a:r>
          </a:p>
        </p:txBody>
      </p:sp>
      <p:sp>
        <p:nvSpPr>
          <p:cNvPr id="8" name="8">
            <a:extLst xmlns:a="http://schemas.openxmlformats.org/drawingml/2006/main">
              <a:ext uri="{FF2B5EF4-FFF2-40B4-BE49-F238E27FC236}">
                <a16:creationId xmlns:a16="http://schemas.microsoft.com/office/drawing/2014/main" id="{1F974A60-3F66-4F01-8095-854B88952266}"/>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8</a:t>
            </a:r>
          </a:p>
        </p:txBody>
      </p:sp>
    </p:spTree>
    <p:extLst>
      <p:ext uri="{BB962C8B-B14F-4D97-AF65-F5344CB8AC3E}">
        <p14:creationId xmlns:p14="http://schemas.microsoft.com/office/powerpoint/2010/main" val="18115098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9F6A99A-25FB-4DAC-946A-B482A9794B63}"/>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9c1b93e77b684adc">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graphicFrame>
        <p:nvGraphicFramePr>
          <p:cNvPr id="6" name="Table 6">
            <a:extLst xmlns:a="http://schemas.openxmlformats.org/drawingml/2006/main">
              <a:ext uri="{FF2B5EF4-FFF2-40B4-BE49-F238E27FC236}">
                <a16:creationId xmlns:a16="http://schemas.microsoft.com/office/drawing/2014/main" id="{47BEA317-3149-4D3B-AA80-5A6DD1525663}"/>
              </a:ext>
            </a:extLst>
          </p:cNvPr>
          <p:cNvGraphicFramePr/>
          <p:nvPr/>
        </p:nvGraphicFramePr>
        <p:xfrm>
          <a:off xmlns:a="http://schemas.openxmlformats.org/drawingml/2006/main" x="11338560" y="2194560"/>
          <a:ext xmlns:a="http://schemas.openxmlformats.org/drawingml/2006/main" cx="6019800" cy="6705600"/>
        </p:xfrm>
        <a:graphic xmlns:a="http://schemas.openxmlformats.org/drawingml/2006/main">
          <a:graphicData uri="http://schemas.openxmlformats.org/drawingml/2006/table">
            <a:tbl>
              <a:tblPr/>
              <a:tblGrid>
                <a:gridCol w="4154930"/>
                <a:gridCol w="932435"/>
                <a:gridCol w="932435"/>
              </a:tblGrid>
              <a:tr h="609600">
                <a:tc>
                  <a:txBody>
                    <a:bodyPr/>
                    <a:lstStyle/>
                    <a:p>
                      <a:pPr algn="l">
                        <a:lnSpc>
                          <a:spcPts val="2639"/>
                        </a:lnSpc>
                        <a:buNone/>
                      </a:pPr>
                      <a:r>
                        <a:rPr sz="2199" b="1">
                          <a:solidFill>
                            <a:srgbClr val="FFFFFF"/>
                          </a:solidFill>
                          <a:latin typeface="Calibri (MS) Bold"/>
                          <a:ea typeface="Calibri (MS) Bold"/>
                          <a:cs typeface="Calibri (MS) Bold"/>
                        </a:rPr>
                        <a:t>Grupo</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ctr">
                        <a:lnSpc>
                          <a:spcPts val="2639"/>
                        </a:lnSpc>
                        <a:buNone/>
                      </a:pPr>
                      <a:r>
                        <a:rPr sz="2199" b="1">
                          <a:solidFill>
                            <a:srgbClr val="FFFFFF"/>
                          </a:solidFill>
                          <a:latin typeface="Calibri (MS) Bold"/>
                          <a:ea typeface="Calibri (MS) Bold"/>
                          <a:cs typeface="Calibri (MS) Bold"/>
                        </a:rPr>
                        <a:t>US</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ctr">
                        <a:lnSpc>
                          <a:spcPts val="2639"/>
                        </a:lnSpc>
                        <a:buNone/>
                      </a:pPr>
                      <a:r>
                        <a:rPr sz="2199" b="1">
                          <a:solidFill>
                            <a:srgbClr val="FFFFFF"/>
                          </a:solidFill>
                          <a:latin typeface="Calibri (MS) Bold"/>
                          <a:ea typeface="Calibri (MS) Bold"/>
                          <a:cs typeface="Calibri (MS) Bold"/>
                        </a:rPr>
                        <a:t>Pts</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609600">
                <a:tc>
                  <a:txBody>
                    <a:bodyPr/>
                    <a:lstStyle/>
                    <a:p>
                      <a:pPr algn="l">
                        <a:lnSpc>
                          <a:spcPts val="2639"/>
                        </a:lnSpc>
                        <a:buNone/>
                      </a:pPr>
                      <a:r>
                        <a:rPr sz="2199">
                          <a:solidFill>
                            <a:srgbClr val="1F2D3A"/>
                          </a:solidFill>
                          <a:latin typeface="Calibri (MS)"/>
                          <a:ea typeface="Calibri (MS)"/>
                          <a:cs typeface="Calibri (MS)"/>
                        </a:rPr>
                        <a:t>Activos y fuentes de medición</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8</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21</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Monitoreo y conectividad</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8</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35</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Alertas</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6</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21</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Incidencias</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4</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13</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Historial, reportes y trazabilidad</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10</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33</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Mantenimiento</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3</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7</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Cuenta, usuarios y roles</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6</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14</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Asistencia con IA</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4</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17</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a:solidFill>
                            <a:srgbClr val="1F2D3A"/>
                          </a:solidFill>
                          <a:latin typeface="Calibri (MS)"/>
                          <a:ea typeface="Calibri (MS)"/>
                          <a:cs typeface="Calibri (MS)"/>
                        </a:rPr>
                        <a:t>Suscripción y planes</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4</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a:solidFill>
                            <a:srgbClr val="1F2D3A"/>
                          </a:solidFill>
                          <a:latin typeface="Calibri (MS)"/>
                          <a:ea typeface="Calibri (MS)"/>
                          <a:cs typeface="Calibri (MS)"/>
                        </a:rPr>
                        <a:t>11</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609600">
                <a:tc>
                  <a:txBody>
                    <a:bodyPr/>
                    <a:lstStyle/>
                    <a:p>
                      <a:pPr algn="l">
                        <a:lnSpc>
                          <a:spcPts val="2639"/>
                        </a:lnSpc>
                        <a:buNone/>
                      </a:pPr>
                      <a:r>
                        <a:rPr sz="2199" b="1">
                          <a:solidFill>
                            <a:srgbClr val="1F2D3A"/>
                          </a:solidFill>
                          <a:latin typeface="Calibri (MS) Bold"/>
                          <a:ea typeface="Calibri (MS) Bold"/>
                          <a:cs typeface="Calibri (MS) Bold"/>
                        </a:rPr>
                        <a:t>Total</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b="1">
                          <a:solidFill>
                            <a:srgbClr val="1F2D3A"/>
                          </a:solidFill>
                          <a:latin typeface="Calibri (MS) Bold"/>
                          <a:ea typeface="Calibri (MS) Bold"/>
                          <a:cs typeface="Calibri (MS) Bold"/>
                        </a:rPr>
                        <a:t>53</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ctr">
                        <a:lnSpc>
                          <a:spcPts val="2639"/>
                        </a:lnSpc>
                        <a:buNone/>
                      </a:pPr>
                      <a:r>
                        <a:rPr sz="2199" b="1">
                          <a:solidFill>
                            <a:srgbClr val="1F2D3A"/>
                          </a:solidFill>
                          <a:latin typeface="Calibri (MS) Bold"/>
                          <a:ea typeface="Calibri (MS) Bold"/>
                          <a:cs typeface="Calibri (MS) Bold"/>
                        </a:rPr>
                        <a:t>172</a:t>
                      </a:r>
                      <a:endParaRPr sz="1100"/>
                    </a:p>
                  </a:txBody>
                  <a:tcPr marL="54864" marR="54864" marT="54864" marB="54864"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bl>
          </a:graphicData>
        </a:graphic>
      </p:graphicFrame>
      <p:sp>
        <p:nvSpPr>
          <p:cNvPr id="7" name="TextBox 7">
            <a:extLst xmlns:a="http://schemas.openxmlformats.org/drawingml/2006/main">
              <a:ext uri="{FF2B5EF4-FFF2-40B4-BE49-F238E27FC236}">
                <a16:creationId xmlns:a16="http://schemas.microsoft.com/office/drawing/2014/main" id="{1F826E99-DA4C-4309-8FCF-E6ACCD57492B}"/>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9</a:t>
            </a:r>
          </a:p>
        </p:txBody>
      </p:sp>
      <p:sp>
        <p:nvSpPr>
          <p:cNvPr id="8" name="Producto completo">
            <a:extLst xmlns:a="http://schemas.openxmlformats.org/drawingml/2006/main">
              <a:ext uri="{FF2B5EF4-FFF2-40B4-BE49-F238E27FC236}">
                <a16:creationId xmlns:a16="http://schemas.microsoft.com/office/drawing/2014/main" id="{31194F03-5CFD-4540-80EF-4855FF6C0839}"/>
              </a:ext>
            </a:extLst>
          </p:cNvPr>
          <p:cNvSpPr>
            <a:spLocks xmlns:a="http://schemas.openxmlformats.org/drawingml/2006/main" noGrp="1"/>
          </p:cNvSpPr>
          <p:nvPr/>
        </p:nvSpPr>
        <p:spPr>
          <a:xfrm xmlns:a="http://schemas.openxmlformats.org/drawingml/2006/main">
            <a:off x="914400" y="24765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B7F8C"/>
                </a:solidFill>
              </a:defRPr>
            </a:defPPr>
            <a:lvl1pPr>
              <a:defRPr sz="3600" b="1">
                <a:solidFill>
                  <a:srgbClr val="1B7F8C"/>
                </a:solidFill>
              </a:defRPr>
            </a:lvl1pPr>
            <a:lvl2pPr>
              <a:defRPr sz="3600" b="1">
                <a:solidFill>
                  <a:srgbClr val="1B7F8C"/>
                </a:solidFill>
              </a:defRPr>
            </a:lvl2pPr>
            <a:lvl3pPr>
              <a:defRPr sz="3600" b="1">
                <a:solidFill>
                  <a:srgbClr val="1B7F8C"/>
                </a:solidFill>
              </a:defRPr>
            </a:lvl3pPr>
            <a:lvl4pPr>
              <a:defRPr sz="3600" b="1">
                <a:solidFill>
                  <a:srgbClr val="1B7F8C"/>
                </a:solidFill>
              </a:defRPr>
            </a:lvl4pPr>
            <a:lvl5pPr>
              <a:defRPr sz="3600" b="1">
                <a:solidFill>
                  <a:srgbClr val="1B7F8C"/>
                </a:solidFill>
              </a:defRPr>
            </a:lvl5pPr>
            <a:lvl6pPr>
              <a:defRPr sz="3600" b="1">
                <a:solidFill>
                  <a:srgbClr val="1B7F8C"/>
                </a:solidFill>
              </a:defRPr>
            </a:lvl6pPr>
            <a:lvl7pPr>
              <a:defRPr sz="3600" b="1">
                <a:solidFill>
                  <a:srgbClr val="1B7F8C"/>
                </a:solidFill>
              </a:defRPr>
            </a:lvl7pPr>
            <a:lvl8pPr>
              <a:defRPr sz="3600" b="1">
                <a:solidFill>
                  <a:srgbClr val="1B7F8C"/>
                </a:solidFill>
              </a:defRPr>
            </a:lvl8pPr>
            <a:lvl9pPr>
              <a:defRPr sz="3600" b="1">
                <a:solidFill>
                  <a:srgbClr val="1B7F8C"/>
                </a:solidFill>
              </a:defRPr>
            </a:lvl9pPr>
          </a:lstStyle>
          <a:p xmlns:a="http://schemas.openxmlformats.org/drawingml/2006/main">
            <a:pPr>
              <a:defRPr sz="3600" b="1">
                <a:solidFill>
                  <a:srgbClr val="1B7F8C"/>
                </a:solidFill>
              </a:defRPr>
            </a:pPr>
            <a:r>
              <a:rPr sz="3600" b="1">
                <a:solidFill>
                  <a:srgbClr val="1B7F8C"/>
                </a:solidFill>
              </a:rPr>
              <a:t>Producto completo</a:t>
            </a:r>
          </a:p>
        </p:txBody>
      </p:sp>
      <p:sp>
        <p:nvSpPr>
          <p:cNvPr id="9" name="53 historias · 172 puntos">
            <a:extLst xmlns:a="http://schemas.openxmlformats.org/drawingml/2006/main">
              <a:ext uri="{FF2B5EF4-FFF2-40B4-BE49-F238E27FC236}">
                <a16:creationId xmlns:a16="http://schemas.microsoft.com/office/drawing/2014/main" id="{4A38F7DC-7029-45F1-94AB-93B05429A4FD}"/>
              </a:ext>
            </a:extLst>
          </p:cNvPr>
          <p:cNvSpPr>
            <a:spLocks xmlns:a="http://schemas.openxmlformats.org/drawingml/2006/main" noGrp="1"/>
          </p:cNvSpPr>
          <p:nvPr/>
        </p:nvSpPr>
        <p:spPr>
          <a:xfrm xmlns:a="http://schemas.openxmlformats.org/drawingml/2006/main">
            <a:off x="914400" y="3476625"/>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75" b="1">
                <a:solidFill>
                  <a:srgbClr val="0B2A43"/>
                </a:solidFill>
              </a:defRPr>
            </a:defPPr>
            <a:lvl1pPr>
              <a:defRPr sz="3975" b="1">
                <a:solidFill>
                  <a:srgbClr val="0B2A43"/>
                </a:solidFill>
              </a:defRPr>
            </a:lvl1pPr>
            <a:lvl2pPr>
              <a:defRPr sz="3975" b="1">
                <a:solidFill>
                  <a:srgbClr val="0B2A43"/>
                </a:solidFill>
              </a:defRPr>
            </a:lvl2pPr>
            <a:lvl3pPr>
              <a:defRPr sz="3975" b="1">
                <a:solidFill>
                  <a:srgbClr val="0B2A43"/>
                </a:solidFill>
              </a:defRPr>
            </a:lvl3pPr>
            <a:lvl4pPr>
              <a:defRPr sz="3975" b="1">
                <a:solidFill>
                  <a:srgbClr val="0B2A43"/>
                </a:solidFill>
              </a:defRPr>
            </a:lvl4pPr>
            <a:lvl5pPr>
              <a:defRPr sz="3975" b="1">
                <a:solidFill>
                  <a:srgbClr val="0B2A43"/>
                </a:solidFill>
              </a:defRPr>
            </a:lvl5pPr>
            <a:lvl6pPr>
              <a:defRPr sz="3975" b="1">
                <a:solidFill>
                  <a:srgbClr val="0B2A43"/>
                </a:solidFill>
              </a:defRPr>
            </a:lvl6pPr>
            <a:lvl7pPr>
              <a:defRPr sz="3975" b="1">
                <a:solidFill>
                  <a:srgbClr val="0B2A43"/>
                </a:solidFill>
              </a:defRPr>
            </a:lvl7pPr>
            <a:lvl8pPr>
              <a:defRPr sz="3975" b="1">
                <a:solidFill>
                  <a:srgbClr val="0B2A43"/>
                </a:solidFill>
              </a:defRPr>
            </a:lvl8pPr>
            <a:lvl9pPr>
              <a:defRPr sz="3975" b="1">
                <a:solidFill>
                  <a:srgbClr val="0B2A43"/>
                </a:solidFill>
              </a:defRPr>
            </a:lvl9pPr>
          </a:lstStyle>
          <a:p xmlns:a="http://schemas.openxmlformats.org/drawingml/2006/main">
            <a:pPr>
              <a:defRPr sz="3975" b="1">
                <a:solidFill>
                  <a:srgbClr val="0B2A43"/>
                </a:solidFill>
              </a:defRPr>
            </a:pPr>
            <a:r>
              <a:rPr sz="3975" b="1">
                <a:solidFill>
                  <a:srgbClr val="0B2A43"/>
                </a:solidFill>
              </a:rPr>
              <a:t>53 historias · 172 puntos</a:t>
            </a:r>
          </a:p>
        </p:txBody>
      </p:sp>
      <p:sp>
        <p:nvSpPr>
          <p:cNvPr id="10" name="Capacidades de monitoreo, respuesta, trazabil">
            <a:extLst xmlns:a="http://schemas.openxmlformats.org/drawingml/2006/main">
              <a:ext uri="{FF2B5EF4-FFF2-40B4-BE49-F238E27FC236}">
                <a16:creationId xmlns:a16="http://schemas.microsoft.com/office/drawing/2014/main" id="{D7D20AD3-2E4E-4EBC-AF6A-C87AF8419479}"/>
              </a:ext>
            </a:extLst>
          </p:cNvPr>
          <p:cNvSpPr>
            <a:spLocks xmlns:a="http://schemas.openxmlformats.org/drawingml/2006/main" noGrp="1"/>
          </p:cNvSpPr>
          <p:nvPr/>
        </p:nvSpPr>
        <p:spPr>
          <a:xfrm xmlns:a="http://schemas.openxmlformats.org/drawingml/2006/main">
            <a:off x="914400" y="4667250"/>
            <a:ext cx="952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0">
                <a:solidFill>
                  <a:srgbClr val="1F2D3A"/>
                </a:solidFill>
              </a:defRPr>
            </a:defPPr>
            <a:lvl1pPr>
              <a:defRPr sz="3000" b="0">
                <a:solidFill>
                  <a:srgbClr val="1F2D3A"/>
                </a:solidFill>
              </a:defRPr>
            </a:lvl1pPr>
            <a:lvl2pPr>
              <a:defRPr sz="3000" b="0">
                <a:solidFill>
                  <a:srgbClr val="1F2D3A"/>
                </a:solidFill>
              </a:defRPr>
            </a:lvl2pPr>
            <a:lvl3pPr>
              <a:defRPr sz="3000" b="0">
                <a:solidFill>
                  <a:srgbClr val="1F2D3A"/>
                </a:solidFill>
              </a:defRPr>
            </a:lvl3pPr>
            <a:lvl4pPr>
              <a:defRPr sz="3000" b="0">
                <a:solidFill>
                  <a:srgbClr val="1F2D3A"/>
                </a:solidFill>
              </a:defRPr>
            </a:lvl4pPr>
            <a:lvl5pPr>
              <a:defRPr sz="3000" b="0">
                <a:solidFill>
                  <a:srgbClr val="1F2D3A"/>
                </a:solidFill>
              </a:defRPr>
            </a:lvl5pPr>
            <a:lvl6pPr>
              <a:defRPr sz="3000" b="0">
                <a:solidFill>
                  <a:srgbClr val="1F2D3A"/>
                </a:solidFill>
              </a:defRPr>
            </a:lvl6pPr>
            <a:lvl7pPr>
              <a:defRPr sz="3000" b="0">
                <a:solidFill>
                  <a:srgbClr val="1F2D3A"/>
                </a:solidFill>
              </a:defRPr>
            </a:lvl7pPr>
            <a:lvl8pPr>
              <a:defRPr sz="3000" b="0">
                <a:solidFill>
                  <a:srgbClr val="1F2D3A"/>
                </a:solidFill>
              </a:defRPr>
            </a:lvl8pPr>
            <a:lvl9pPr>
              <a:defRPr sz="3000" b="0">
                <a:solidFill>
                  <a:srgbClr val="1F2D3A"/>
                </a:solidFill>
              </a:defRPr>
            </a:lvl9pPr>
          </a:lstStyle>
          <a:p xmlns:a="http://schemas.openxmlformats.org/drawingml/2006/main">
            <a:pPr>
              <a:defRPr sz="3000" b="0">
                <a:solidFill>
                  <a:srgbClr val="1F2D3A"/>
                </a:solidFill>
              </a:defRPr>
            </a:pPr>
            <a:r>
              <a:rPr sz="3000" b="0">
                <a:solidFill>
                  <a:srgbClr val="1F2D3A"/>
                </a:solidFill>
              </a:rPr>
              <a:t>Capacidades de monitoreo, respuesta, trazabilidad y evolución comercial.</a:t>
            </a:r>
          </a:p>
        </p:txBody>
      </p:sp>
      <p:sp>
        <p:nvSpPr>
          <p:cNvPr id="11" name="Sprint 1">
            <a:extLst xmlns:a="http://schemas.openxmlformats.org/drawingml/2006/main">
              <a:ext uri="{FF2B5EF4-FFF2-40B4-BE49-F238E27FC236}">
                <a16:creationId xmlns:a16="http://schemas.microsoft.com/office/drawing/2014/main" id="{0AC3C54C-B7D6-47AC-8715-452E5FA676A3}"/>
              </a:ext>
            </a:extLst>
          </p:cNvPr>
          <p:cNvSpPr>
            <a:spLocks xmlns:a="http://schemas.openxmlformats.org/drawingml/2006/main" noGrp="1"/>
          </p:cNvSpPr>
          <p:nvPr/>
        </p:nvSpPr>
        <p:spPr>
          <a:xfrm xmlns:a="http://schemas.openxmlformats.org/drawingml/2006/main">
            <a:off x="914400" y="66675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B7F8C"/>
                </a:solidFill>
              </a:defRPr>
            </a:defPPr>
            <a:lvl1pPr>
              <a:defRPr sz="3450" b="1">
                <a:solidFill>
                  <a:srgbClr val="1B7F8C"/>
                </a:solidFill>
              </a:defRPr>
            </a:lvl1pPr>
            <a:lvl2pPr>
              <a:defRPr sz="3450" b="1">
                <a:solidFill>
                  <a:srgbClr val="1B7F8C"/>
                </a:solidFill>
              </a:defRPr>
            </a:lvl2pPr>
            <a:lvl3pPr>
              <a:defRPr sz="3450" b="1">
                <a:solidFill>
                  <a:srgbClr val="1B7F8C"/>
                </a:solidFill>
              </a:defRPr>
            </a:lvl3pPr>
            <a:lvl4pPr>
              <a:defRPr sz="3450" b="1">
                <a:solidFill>
                  <a:srgbClr val="1B7F8C"/>
                </a:solidFill>
              </a:defRPr>
            </a:lvl4pPr>
            <a:lvl5pPr>
              <a:defRPr sz="3450" b="1">
                <a:solidFill>
                  <a:srgbClr val="1B7F8C"/>
                </a:solidFill>
              </a:defRPr>
            </a:lvl5pPr>
            <a:lvl6pPr>
              <a:defRPr sz="3450" b="1">
                <a:solidFill>
                  <a:srgbClr val="1B7F8C"/>
                </a:solidFill>
              </a:defRPr>
            </a:lvl6pPr>
            <a:lvl7pPr>
              <a:defRPr sz="3450" b="1">
                <a:solidFill>
                  <a:srgbClr val="1B7F8C"/>
                </a:solidFill>
              </a:defRPr>
            </a:lvl7pPr>
            <a:lvl8pPr>
              <a:defRPr sz="3450" b="1">
                <a:solidFill>
                  <a:srgbClr val="1B7F8C"/>
                </a:solidFill>
              </a:defRPr>
            </a:lvl8pPr>
            <a:lvl9pPr>
              <a:defRPr sz="3450" b="1">
                <a:solidFill>
                  <a:srgbClr val="1B7F8C"/>
                </a:solidFill>
              </a:defRPr>
            </a:lvl9pPr>
          </a:lstStyle>
          <a:p xmlns:a="http://schemas.openxmlformats.org/drawingml/2006/main">
            <a:pPr>
              <a:defRPr sz="3450" b="1">
                <a:solidFill>
                  <a:srgbClr val="1B7F8C"/>
                </a:solidFill>
              </a:defRPr>
            </a:pPr>
            <a:r>
              <a:rPr sz="3450" b="1">
                <a:solidFill>
                  <a:srgbClr val="1B7F8C"/>
                </a:solidFill>
              </a:rPr>
              <a:t>Sprint 1</a:t>
            </a:r>
          </a:p>
        </p:txBody>
      </p:sp>
      <p:sp>
        <p:nvSpPr>
          <p:cNvPr id="12" name="9 historias · 42 puntos">
            <a:extLst xmlns:a="http://schemas.openxmlformats.org/drawingml/2006/main">
              <a:ext uri="{FF2B5EF4-FFF2-40B4-BE49-F238E27FC236}">
                <a16:creationId xmlns:a16="http://schemas.microsoft.com/office/drawing/2014/main" id="{74A7E048-7CEF-432E-90CA-120122784096}"/>
              </a:ext>
            </a:extLst>
          </p:cNvPr>
          <p:cNvSpPr>
            <a:spLocks xmlns:a="http://schemas.openxmlformats.org/drawingml/2006/main" noGrp="1"/>
          </p:cNvSpPr>
          <p:nvPr/>
        </p:nvSpPr>
        <p:spPr>
          <a:xfrm xmlns:a="http://schemas.openxmlformats.org/drawingml/2006/main">
            <a:off x="914400" y="75723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750" b="1">
                <a:solidFill>
                  <a:srgbClr val="0B2A43"/>
                </a:solidFill>
              </a:defRPr>
            </a:defPPr>
            <a:lvl1pPr>
              <a:defRPr sz="3750" b="1">
                <a:solidFill>
                  <a:srgbClr val="0B2A43"/>
                </a:solidFill>
              </a:defRPr>
            </a:lvl1pPr>
            <a:lvl2pPr>
              <a:defRPr sz="3750" b="1">
                <a:solidFill>
                  <a:srgbClr val="0B2A43"/>
                </a:solidFill>
              </a:defRPr>
            </a:lvl2pPr>
            <a:lvl3pPr>
              <a:defRPr sz="3750" b="1">
                <a:solidFill>
                  <a:srgbClr val="0B2A43"/>
                </a:solidFill>
              </a:defRPr>
            </a:lvl3pPr>
            <a:lvl4pPr>
              <a:defRPr sz="3750" b="1">
                <a:solidFill>
                  <a:srgbClr val="0B2A43"/>
                </a:solidFill>
              </a:defRPr>
            </a:lvl4pPr>
            <a:lvl5pPr>
              <a:defRPr sz="3750" b="1">
                <a:solidFill>
                  <a:srgbClr val="0B2A43"/>
                </a:solidFill>
              </a:defRPr>
            </a:lvl5pPr>
            <a:lvl6pPr>
              <a:defRPr sz="3750" b="1">
                <a:solidFill>
                  <a:srgbClr val="0B2A43"/>
                </a:solidFill>
              </a:defRPr>
            </a:lvl6pPr>
            <a:lvl7pPr>
              <a:defRPr sz="3750" b="1">
                <a:solidFill>
                  <a:srgbClr val="0B2A43"/>
                </a:solidFill>
              </a:defRPr>
            </a:lvl7pPr>
            <a:lvl8pPr>
              <a:defRPr sz="3750" b="1">
                <a:solidFill>
                  <a:srgbClr val="0B2A43"/>
                </a:solidFill>
              </a:defRPr>
            </a:lvl8pPr>
            <a:lvl9pPr>
              <a:defRPr sz="3750" b="1">
                <a:solidFill>
                  <a:srgbClr val="0B2A43"/>
                </a:solidFill>
              </a:defRPr>
            </a:lvl9pPr>
          </a:lstStyle>
          <a:p xmlns:a="http://schemas.openxmlformats.org/drawingml/2006/main">
            <a:pPr>
              <a:defRPr sz="3750" b="1">
                <a:solidFill>
                  <a:srgbClr val="0B2A43"/>
                </a:solidFill>
              </a:defRPr>
            </a:pPr>
            <a:r>
              <a:rPr sz="3750" b="1">
                <a:solidFill>
                  <a:srgbClr val="0B2A43"/>
                </a:solidFill>
              </a:rPr>
              <a:t>9 historias · 42 puntos</a:t>
            </a:r>
          </a:p>
        </p:txBody>
      </p:sp>
      <p:sp>
        <p:nvSpPr>
          <p:cNvPr id="13" name="Backlog funcional: 53 historias, 172 puntos">
            <a:extLst xmlns:a="http://schemas.openxmlformats.org/drawingml/2006/main">
              <a:ext uri="{FF2B5EF4-FFF2-40B4-BE49-F238E27FC236}">
                <a16:creationId xmlns:a16="http://schemas.microsoft.com/office/drawing/2014/main" id="{DA583ED2-C67C-403C-837B-77646ECC4693}"/>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Backlog funcional: 53 historias, 172 puntos</a:t>
            </a:r>
          </a:p>
        </p:txBody>
      </p:sp>
    </p:spTree>
    <p:extLst>
      <p:ext uri="{BB962C8B-B14F-4D97-AF65-F5344CB8AC3E}">
        <p14:creationId xmlns:p14="http://schemas.microsoft.com/office/powerpoint/2010/main" val="169487906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05DE108-BC53-40E0-8FBE-B43781FDF1EF}"/>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75fd328a7bd6498d">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graphicFrame>
        <p:nvGraphicFramePr>
          <p:cNvPr id="5" name="Table 5">
            <a:extLst xmlns:a="http://schemas.openxmlformats.org/drawingml/2006/main">
              <a:ext uri="{FF2B5EF4-FFF2-40B4-BE49-F238E27FC236}">
                <a16:creationId xmlns:a16="http://schemas.microsoft.com/office/drawing/2014/main" id="{01418B1B-B2F7-4E3D-9E3B-8DECA7987709}"/>
              </a:ext>
            </a:extLst>
          </p:cNvPr>
          <p:cNvGraphicFramePr/>
          <p:nvPr/>
        </p:nvGraphicFramePr>
        <p:xfrm>
          <a:off xmlns:a="http://schemas.openxmlformats.org/drawingml/2006/main" x="914400" y="2011680"/>
          <a:ext xmlns:a="http://schemas.openxmlformats.org/drawingml/2006/main" cx="16408399" cy="6350000"/>
        </p:xfrm>
        <a:graphic xmlns:a="http://schemas.openxmlformats.org/drawingml/2006/main">
          <a:graphicData uri="http://schemas.openxmlformats.org/drawingml/2006/table">
            <a:tbl>
              <a:tblPr/>
              <a:tblGrid>
                <a:gridCol w="1667244"/>
                <a:gridCol w="10358038"/>
                <a:gridCol w="4383117"/>
              </a:tblGrid>
              <a:tr h="635000">
                <a:tc>
                  <a:txBody>
                    <a:bodyPr/>
                    <a:lstStyle/>
                    <a:p>
                      <a:pPr algn="l">
                        <a:lnSpc>
                          <a:spcPts val="3359"/>
                        </a:lnSpc>
                        <a:buNone/>
                      </a:pPr>
                      <a:r>
                        <a:rPr sz="2799" b="1">
                          <a:solidFill>
                            <a:srgbClr val="FFFFFF"/>
                          </a:solidFill>
                          <a:latin typeface="Calibri (MS) Bold"/>
                          <a:ea typeface="Calibri (MS) Bold"/>
                          <a:cs typeface="Calibri (MS) Bold"/>
                        </a:rPr>
                        <a:t>ID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3359"/>
                        </a:lnSpc>
                        <a:buNone/>
                      </a:pPr>
                      <a:r>
                        <a:rPr sz="2799" b="1">
                          <a:solidFill>
                            <a:srgbClr val="FFFFFF"/>
                          </a:solidFill>
                          <a:latin typeface="Calibri (MS) Bold"/>
                          <a:ea typeface="Calibri (MS) Bold"/>
                          <a:cs typeface="Calibri (MS) Bold"/>
                        </a:rPr>
                        <a:t>User Story</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3359"/>
                        </a:lnSpc>
                        <a:buNone/>
                      </a:pPr>
                      <a:r>
                        <a:rPr sz="2799" b="1">
                          <a:solidFill>
                            <a:srgbClr val="FFFFFF"/>
                          </a:solidFill>
                          <a:latin typeface="Calibri (MS) Bold"/>
                          <a:ea typeface="Calibri (MS) Bold"/>
                          <a:cs typeface="Calibri (MS) Bold"/>
                        </a:rPr>
                        <a:t>Driver</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US06</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Recibir alerta por desviación</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Rendimiento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DCEBF5"/>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US04</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Consultar estado actual de un activo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Rendimiento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DCEBF5"/>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US16</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Supervisar varios activos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Rendimiento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DCEBF5"/>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US14</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Generar reporte de trazabilidad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Rendimiento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DCEBF5"/>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US46</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Recibir aviso por interrupción de lecturas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Disponibilidad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DFF1EA"/>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US47</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Recuperar lecturas pendientes tras reconexión</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Disponibilidad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DFF1EA"/>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US33</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Consultar detalle de una alerta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Usabilidad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FDF1DC"/>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US08</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Reconocer y asignar una alerta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Usabilidad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FDF1DC"/>
                    </a:solidFill>
                  </a:tcPr>
                </a:tc>
              </a:tr>
              <a:tr h="635000">
                <a:tc>
                  <a:txBody>
                    <a:bodyPr/>
                    <a:lstStyle/>
                    <a:p>
                      <a:pPr algn="l">
                        <a:lnSpc>
                          <a:spcPts val="3359"/>
                        </a:lnSpc>
                        <a:buNone/>
                      </a:pPr>
                      <a:r>
                        <a:rPr sz="2799" b="1">
                          <a:solidFill>
                            <a:srgbClr val="1F2D3A"/>
                          </a:solidFill>
                          <a:latin typeface="Calibri (MS) Bold"/>
                          <a:ea typeface="Calibri (MS) Bold"/>
                          <a:cs typeface="Calibri (MS) Bold"/>
                        </a:rPr>
                        <a:t>US09</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Gestionar una incidencia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Usabilidad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FDF1DC"/>
                    </a:solidFill>
                  </a:tcPr>
                </a:tc>
              </a:tr>
            </a:tbl>
          </a:graphicData>
        </a:graphic>
      </p:graphicFrame>
      <p:sp>
        <p:nvSpPr>
          <p:cNvPr id="7" name="Freeform 7">
            <a:extLst xmlns:a="http://schemas.openxmlformats.org/drawingml/2006/main">
              <a:ext uri="{FF2B5EF4-FFF2-40B4-BE49-F238E27FC236}">
                <a16:creationId xmlns:a16="http://schemas.microsoft.com/office/drawing/2014/main" id="{93FA94D7-9DF4-425B-9584-1BC8090A1CCB}"/>
              </a:ext>
            </a:extLst>
          </p:cNvPr>
          <p:cNvSpPr>
            <a:spLocks xmlns:a="http://schemas.openxmlformats.org/drawingml/2006/main" noGrp="1"/>
          </p:cNvSpPr>
          <p:nvPr/>
        </p:nvSpPr>
        <p:spPr>
          <a:xfrm xmlns:a="http://schemas.openxmlformats.org/drawingml/2006/main" rot="0" flipH="0" flipV="0">
            <a:off x="914400" y="8869680"/>
            <a:ext cx="16459200" cy="822960"/>
          </a:xfrm>
          <a:custGeom xmlns:a="http://schemas.openxmlformats.org/drawingml/2006/main">
            <a:rect l="l" t="t" r="r" b="b"/>
            <a:pathLst>
              <a:path w="21945600" h="1097280">
                <a:moveTo>
                  <a:pt x="0" y="0"/>
                </a:moveTo>
                <a:lnTo>
                  <a:pt x="21945600" y="0"/>
                </a:lnTo>
                <a:lnTo>
                  <a:pt x="21945600" y="1097280"/>
                </a:lnTo>
                <a:lnTo>
                  <a:pt x="0" y="1097280"/>
                </a:lnTo>
                <a:close/>
              </a:path>
            </a:pathLst>
          </a:custGeom>
          <a:blipFill xmlns:a="http://schemas.openxmlformats.org/drawingml/2006/main">
            <a:blip xmlns:r="http://schemas.openxmlformats.org/officeDocument/2006/relationships" r:embed="R75fd328a7bd6498d">
              <a:alphaModFix amt="0"/>
            </a:blip>
            <a:stretch>
              <a:fillRect l="0" t="-339700" r="0" b="-339700"/>
            </a:stretch>
          </a:blipFill>
        </p:spPr>
        <p:txBody>
          <a:bodyPr xmlns:a="http://schemas.openxmlformats.org/drawingml/2006/main"/>
          <a:lstStyle xmlns:a="http://schemas.openxmlformats.org/drawingml/2006/main"/>
          <a:p xmlns:a="http://schemas.openxmlformats.org/drawingml/2006/main">
            <a:endParaRPr/>
          </a:p>
        </p:txBody>
      </p:sp>
      <p:sp>
        <p:nvSpPr>
          <p:cNvPr id="8" name="TextBox 8">
            <a:extLst xmlns:a="http://schemas.openxmlformats.org/drawingml/2006/main">
              <a:ext uri="{FF2B5EF4-FFF2-40B4-BE49-F238E27FC236}">
                <a16:creationId xmlns:a16="http://schemas.microsoft.com/office/drawing/2014/main" id="{95514EB7-1E6B-4C98-BE47-1ACA03AB0304}"/>
              </a:ext>
            </a:extLst>
          </p:cNvPr>
          <p:cNvSpPr>
            <a:spLocks xmlns:a="http://schemas.openxmlformats.org/drawingml/2006/main" noGrp="1"/>
          </p:cNvSpPr>
          <p:nvPr/>
        </p:nvSpPr>
        <p:spPr>
          <a:xfrm xmlns:a="http://schemas.openxmlformats.org/drawingml/2006/main" rot="0" flipH="0" flipV="0">
            <a:off x="914400" y="8841105"/>
            <a:ext cx="16459200" cy="85153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879"/>
              </a:lnSpc>
              <a:buNone/>
            </a:pPr>
            <a:r>
              <a:rPr sz="2400" i="1">
                <a:solidFill>
                  <a:srgbClr val="5B6B7A"/>
                </a:solidFill>
                <a:latin typeface="Calibri (MS) Italics"/>
                <a:ea typeface="Calibri (MS) Italics"/>
                <a:cs typeface="Calibri (MS) Italics"/>
              </a:rPr>
              <a:t>Selección del backlog de producto (53 historias, 172 puntos). Implementación en revisión; aceptación del equipo pendiente.</a:t>
            </a:r>
          </a:p>
        </p:txBody>
      </p:sp>
      <p:sp>
        <p:nvSpPr>
          <p:cNvPr id="9" name="TextBox 9">
            <a:extLst xmlns:a="http://schemas.openxmlformats.org/drawingml/2006/main">
              <a:ext uri="{FF2B5EF4-FFF2-40B4-BE49-F238E27FC236}">
                <a16:creationId xmlns:a16="http://schemas.microsoft.com/office/drawing/2014/main" id="{4984F065-1A47-429C-A560-EF20B10CE4A0}"/>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10</a:t>
            </a:r>
          </a:p>
        </p:txBody>
      </p:sp>
      <p:sp>
        <p:nvSpPr>
          <p:cNvPr id="10" name="Sprint 1: nueve historias, 42 puntos">
            <a:extLst xmlns:a="http://schemas.openxmlformats.org/drawingml/2006/main">
              <a:ext uri="{FF2B5EF4-FFF2-40B4-BE49-F238E27FC236}">
                <a16:creationId xmlns:a16="http://schemas.microsoft.com/office/drawing/2014/main" id="{34B68277-10F8-414F-B487-AEDCB9C4EE85}"/>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Sprint 1: nueve historias, 42 puntos</a:t>
            </a:r>
          </a:p>
        </p:txBody>
      </p:sp>
    </p:spTree>
    <p:extLst>
      <p:ext uri="{BB962C8B-B14F-4D97-AF65-F5344CB8AC3E}">
        <p14:creationId xmlns:p14="http://schemas.microsoft.com/office/powerpoint/2010/main" val="15662347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27BADC08-12A9-45FE-A222-81949AC1F8AB}"/>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7bef035a19214165">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0F535A84-A1A5-4FBC-A86E-F8D553A42537}"/>
              </a:ext>
            </a:extLst>
          </p:cNvPr>
          <p:cNvSpPr>
            <a:spLocks xmlns:a="http://schemas.openxmlformats.org/drawingml/2006/main" noGrp="1"/>
          </p:cNvSpPr>
          <p:nvPr/>
        </p:nvSpPr>
        <p:spPr>
          <a:xfrm xmlns:a="http://schemas.openxmlformats.org/drawingml/2006/main" rot="0" flipH="0" flipV="0">
            <a:off x="901703" y="1998983"/>
            <a:ext cx="5328951" cy="7523511"/>
          </a:xfrm>
          <a:custGeom xmlns:a="http://schemas.openxmlformats.org/drawingml/2006/main">
            <a:rect l="l" t="t" r="r" b="b"/>
            <a:pathLst>
              <a:path w="7105269" h="10031349">
                <a:moveTo>
                  <a:pt x="0" y="0"/>
                </a:moveTo>
                <a:lnTo>
                  <a:pt x="7105269" y="0"/>
                </a:lnTo>
                <a:lnTo>
                  <a:pt x="7105269" y="10031349"/>
                </a:lnTo>
                <a:lnTo>
                  <a:pt x="0" y="1003134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0F0ECA9F-9D15-40BA-8508-3E5F89371F65}"/>
              </a:ext>
            </a:extLst>
          </p:cNvPr>
          <p:cNvSpPr>
            <a:spLocks xmlns:a="http://schemas.openxmlformats.org/drawingml/2006/main" noGrp="1"/>
          </p:cNvSpPr>
          <p:nvPr/>
        </p:nvSpPr>
        <p:spPr>
          <a:xfrm xmlns:a="http://schemas.openxmlformats.org/drawingml/2006/main" rot="0" flipH="0" flipV="0">
            <a:off x="1188720" y="2194560"/>
            <a:ext cx="4754880" cy="731520"/>
          </a:xfrm>
          <a:custGeom xmlns:a="http://schemas.openxmlformats.org/drawingml/2006/main">
            <a:rect l="l" t="t" r="r" b="b"/>
            <a:pathLst>
              <a:path w="6339840" h="975360">
                <a:moveTo>
                  <a:pt x="0" y="0"/>
                </a:moveTo>
                <a:lnTo>
                  <a:pt x="6339840" y="0"/>
                </a:lnTo>
                <a:lnTo>
                  <a:pt x="6339840" y="975360"/>
                </a:lnTo>
                <a:lnTo>
                  <a:pt x="0" y="975360"/>
                </a:lnTo>
                <a:close/>
              </a:path>
            </a:pathLst>
          </a:custGeom>
          <a:blipFill xmlns:a="http://schemas.openxmlformats.org/drawingml/2006/main">
            <a:blip xmlns:r="http://schemas.openxmlformats.org/officeDocument/2006/relationships" r:embed="R7bef035a19214165">
              <a:alphaModFix amt="0"/>
            </a:blip>
            <a:stretch>
              <a:fillRect l="0" t="-76652" r="0" b="-76652"/>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952994D7-959E-4BE2-98E6-0880B153D911}"/>
              </a:ext>
            </a:extLst>
          </p:cNvPr>
          <p:cNvSpPr>
            <a:spLocks xmlns:a="http://schemas.openxmlformats.org/drawingml/2006/main" noGrp="1"/>
          </p:cNvSpPr>
          <p:nvPr/>
        </p:nvSpPr>
        <p:spPr>
          <a:xfrm xmlns:a="http://schemas.openxmlformats.org/drawingml/2006/main" rot="0" flipH="0" flipV="0">
            <a:off x="1188720" y="2187417"/>
            <a:ext cx="475488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840"/>
              </a:lnSpc>
              <a:buNone/>
            </a:pPr>
            <a:r>
              <a:rPr sz="3200" b="1">
                <a:solidFill>
                  <a:srgbClr val="0B2A43"/>
                </a:solidFill>
                <a:latin typeface="Cambria Bold"/>
                <a:ea typeface="Cambria Bold"/>
                <a:cs typeface="Cambria Bold"/>
              </a:rPr>
              <a:t>QA-01 Disponibilidad</a:t>
            </a:r>
          </a:p>
        </p:txBody>
      </p:sp>
      <p:sp>
        <p:nvSpPr>
          <p:cNvPr id="10" name="TextBox 10">
            <a:extLst xmlns:a="http://schemas.openxmlformats.org/drawingml/2006/main">
              <a:ext uri="{FF2B5EF4-FFF2-40B4-BE49-F238E27FC236}">
                <a16:creationId xmlns:a16="http://schemas.microsoft.com/office/drawing/2014/main" id="{7A13FB1A-2125-413F-99F5-CCF1BAFCC66D}"/>
              </a:ext>
            </a:extLst>
          </p:cNvPr>
          <p:cNvSpPr>
            <a:spLocks xmlns:a="http://schemas.openxmlformats.org/drawingml/2006/main" noGrp="1"/>
          </p:cNvSpPr>
          <p:nvPr/>
        </p:nvSpPr>
        <p:spPr>
          <a:xfrm xmlns:a="http://schemas.openxmlformats.org/drawingml/2006/main">
            <a:off x="1188720" y="2960370"/>
            <a:ext cx="4754880" cy="17030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i="1">
                <a:solidFill>
                  <a:srgbClr val="5B6B7A"/>
                </a:solidFill>
                <a:latin typeface="Calibri (MS) Italics"/>
                <a:ea typeface="Calibri (MS) Italics"/>
                <a:cs typeface="Calibri (MS) Italics"/>
              </a:rPr>
              <a:t>Un corte de red no debe hacer ver un activo como «normal»</a:t>
            </a:r>
          </a:p>
        </p:txBody>
      </p:sp>
      <p:sp>
        <p:nvSpPr>
          <p:cNvPr id="11" name="TextBox 11">
            <a:extLst xmlns:a="http://schemas.openxmlformats.org/drawingml/2006/main">
              <a:ext uri="{FF2B5EF4-FFF2-40B4-BE49-F238E27FC236}">
                <a16:creationId xmlns:a16="http://schemas.microsoft.com/office/drawing/2014/main" id="{2123DCA5-A6EB-4C2C-8018-0FF757967A44}"/>
              </a:ext>
            </a:extLst>
          </p:cNvPr>
          <p:cNvSpPr>
            <a:spLocks xmlns:a="http://schemas.openxmlformats.org/drawingml/2006/main" noGrp="1"/>
          </p:cNvSpPr>
          <p:nvPr/>
        </p:nvSpPr>
        <p:spPr>
          <a:xfrm xmlns:a="http://schemas.openxmlformats.org/drawingml/2006/main">
            <a:off x="1188720" y="4606290"/>
            <a:ext cx="4754880" cy="1981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2400"/>
            </a:defPPr>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xmlns:a="http://schemas.openxmlformats.org/drawingml/2006/main">
            <a:pPr marL="627381" lvl="1" indent="-313690" algn="l">
              <a:lnSpc>
                <a:spcPts val="3120"/>
              </a:lnSpc>
              <a:buFont typeface="Arial"/>
              <a:buChar char="•"/>
              <a:defRPr sz="2400"/>
            </a:pPr>
            <a:r>
              <a:rPr sz="2400">
                <a:solidFill>
                  <a:srgbClr val="1F2D3A"/>
                </a:solidFill>
                <a:latin typeface="Calibri (MS)"/>
                <a:ea typeface="Calibri (MS)"/>
                <a:cs typeface="Calibri (MS)"/>
              </a:rPr>
              <a:t>Brecha visible en ≤ 30 s después del umbral configurado</a:t>
            </a:r>
          </a:p>
          <a:p xmlns:a="http://schemas.openxmlformats.org/drawingml/2006/main">
            <a:pPr marL="627381" lvl="1" indent="-313690" algn="l">
              <a:lnSpc>
                <a:spcPts val="3120"/>
              </a:lnSpc>
              <a:buFont typeface="Arial"/>
              <a:buChar char="•"/>
              <a:defRPr sz="2400"/>
            </a:pPr>
            <a:r>
              <a:rPr sz="2400">
                <a:solidFill>
                  <a:srgbClr val="1F2D3A"/>
                </a:solidFill>
                <a:latin typeface="Calibri (MS)"/>
                <a:ea typeface="Calibri (MS)"/>
                <a:cs typeface="Calibri (MS)"/>
              </a:rPr>
              <a:t>100 % de lecturas retenidas recuperadas sin duplicados en ≤ 5 min tras reconexión</a:t>
            </a:r>
          </a:p>
        </p:txBody>
      </p:sp>
      <p:sp>
        <p:nvSpPr>
          <p:cNvPr id="13" name="Freeform 13">
            <a:extLst xmlns:a="http://schemas.openxmlformats.org/drawingml/2006/main">
              <a:ext uri="{FF2B5EF4-FFF2-40B4-BE49-F238E27FC236}">
                <a16:creationId xmlns:a16="http://schemas.microsoft.com/office/drawing/2014/main" id="{A75D5996-773B-4017-A888-523DF8A627DB}"/>
              </a:ext>
            </a:extLst>
          </p:cNvPr>
          <p:cNvSpPr>
            <a:spLocks xmlns:a="http://schemas.openxmlformats.org/drawingml/2006/main" noGrp="1"/>
          </p:cNvSpPr>
          <p:nvPr/>
        </p:nvSpPr>
        <p:spPr>
          <a:xfrm xmlns:a="http://schemas.openxmlformats.org/drawingml/2006/main" rot="0" flipH="0" flipV="0">
            <a:off x="1188720" y="8412480"/>
            <a:ext cx="4754880" cy="822960"/>
          </a:xfrm>
          <a:custGeom xmlns:a="http://schemas.openxmlformats.org/drawingml/2006/main">
            <a:rect l="l" t="t" r="r" b="b"/>
            <a:pathLst>
              <a:path w="6339840" h="1097280">
                <a:moveTo>
                  <a:pt x="0" y="0"/>
                </a:moveTo>
                <a:lnTo>
                  <a:pt x="6339840" y="0"/>
                </a:lnTo>
                <a:lnTo>
                  <a:pt x="6339840" y="1097280"/>
                </a:lnTo>
                <a:lnTo>
                  <a:pt x="0" y="1097280"/>
                </a:lnTo>
                <a:close/>
              </a:path>
            </a:pathLst>
          </a:custGeom>
          <a:blipFill xmlns:a="http://schemas.openxmlformats.org/drawingml/2006/main">
            <a:blip xmlns:r="http://schemas.openxmlformats.org/officeDocument/2006/relationships" r:embed="R7bef035a19214165">
              <a:alphaModFix amt="0"/>
            </a:blip>
            <a:stretch>
              <a:fillRect l="0" t="-62580" r="0" b="-62580"/>
            </a:stretch>
          </a:blipFill>
        </p:spPr>
        <p:txBody>
          <a:bodyPr xmlns:a="http://schemas.openxmlformats.org/drawingml/2006/main"/>
          <a:lstStyle xmlns:a="http://schemas.openxmlformats.org/drawingml/2006/main"/>
          <a:p xmlns:a="http://schemas.openxmlformats.org/drawingml/2006/main">
            <a:endParaRPr/>
          </a:p>
        </p:txBody>
      </p:sp>
      <p:sp>
        <p:nvSpPr>
          <p:cNvPr id="14" name="TextBox 14">
            <a:extLst xmlns:a="http://schemas.openxmlformats.org/drawingml/2006/main">
              <a:ext uri="{FF2B5EF4-FFF2-40B4-BE49-F238E27FC236}">
                <a16:creationId xmlns:a16="http://schemas.microsoft.com/office/drawing/2014/main" id="{A2257B34-5C12-4227-860F-7E70AF4703CD}"/>
              </a:ext>
            </a:extLst>
          </p:cNvPr>
          <p:cNvSpPr>
            <a:spLocks xmlns:a="http://schemas.openxmlformats.org/drawingml/2006/main" noGrp="1"/>
          </p:cNvSpPr>
          <p:nvPr/>
        </p:nvSpPr>
        <p:spPr>
          <a:xfrm xmlns:a="http://schemas.openxmlformats.org/drawingml/2006/main" rot="0" flipH="0" flipV="0">
            <a:off x="1188720" y="8383905"/>
            <a:ext cx="4754880" cy="851535"/>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l">
              <a:lnSpc>
                <a:spcPts val="2879"/>
              </a:lnSpc>
              <a:buNone/>
            </a:pPr>
            <a:r>
              <a:rPr sz="2400" b="1">
                <a:solidFill>
                  <a:srgbClr val="1B7F8C"/>
                </a:solidFill>
                <a:latin typeface="Calibri (MS) Bold"/>
                <a:ea typeface="Calibri (MS) Bold"/>
                <a:cs typeface="Calibri (MS) Bold"/>
              </a:rPr>
              <a:t>Historias: US46, US47</a:t>
            </a:r>
          </a:p>
        </p:txBody>
      </p:sp>
      <p:sp>
        <p:nvSpPr>
          <p:cNvPr id="16" name="Freeform 16">
            <a:extLst xmlns:a="http://schemas.openxmlformats.org/drawingml/2006/main">
              <a:ext uri="{FF2B5EF4-FFF2-40B4-BE49-F238E27FC236}">
                <a16:creationId xmlns:a16="http://schemas.microsoft.com/office/drawing/2014/main" id="{DE6D5A94-2AB5-4B2A-8C1F-5F8F1C94E821}"/>
              </a:ext>
            </a:extLst>
          </p:cNvPr>
          <p:cNvSpPr>
            <a:spLocks xmlns:a="http://schemas.openxmlformats.org/drawingml/2006/main" noGrp="1"/>
          </p:cNvSpPr>
          <p:nvPr/>
        </p:nvSpPr>
        <p:spPr>
          <a:xfrm xmlns:a="http://schemas.openxmlformats.org/drawingml/2006/main" rot="0" flipH="0" flipV="0">
            <a:off x="6479543" y="1998983"/>
            <a:ext cx="5328951" cy="7523511"/>
          </a:xfrm>
          <a:custGeom xmlns:a="http://schemas.openxmlformats.org/drawingml/2006/main">
            <a:rect l="l" t="t" r="r" b="b"/>
            <a:pathLst>
              <a:path w="7105269" h="10031349">
                <a:moveTo>
                  <a:pt x="0" y="0"/>
                </a:moveTo>
                <a:lnTo>
                  <a:pt x="7105269" y="0"/>
                </a:lnTo>
                <a:lnTo>
                  <a:pt x="7105269" y="10031349"/>
                </a:lnTo>
                <a:lnTo>
                  <a:pt x="0" y="1003134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8" name="Freeform 18">
            <a:extLst xmlns:a="http://schemas.openxmlformats.org/drawingml/2006/main">
              <a:ext uri="{FF2B5EF4-FFF2-40B4-BE49-F238E27FC236}">
                <a16:creationId xmlns:a16="http://schemas.microsoft.com/office/drawing/2014/main" id="{8920A525-6EF5-4695-97FF-1B7A12C29810}"/>
              </a:ext>
            </a:extLst>
          </p:cNvPr>
          <p:cNvSpPr>
            <a:spLocks xmlns:a="http://schemas.openxmlformats.org/drawingml/2006/main" noGrp="1"/>
          </p:cNvSpPr>
          <p:nvPr/>
        </p:nvSpPr>
        <p:spPr>
          <a:xfrm xmlns:a="http://schemas.openxmlformats.org/drawingml/2006/main" rot="0" flipH="0" flipV="0">
            <a:off x="6766560" y="2194560"/>
            <a:ext cx="4754880" cy="731520"/>
          </a:xfrm>
          <a:custGeom xmlns:a="http://schemas.openxmlformats.org/drawingml/2006/main">
            <a:rect l="l" t="t" r="r" b="b"/>
            <a:pathLst>
              <a:path w="6339840" h="975360">
                <a:moveTo>
                  <a:pt x="0" y="0"/>
                </a:moveTo>
                <a:lnTo>
                  <a:pt x="6339840" y="0"/>
                </a:lnTo>
                <a:lnTo>
                  <a:pt x="6339840" y="975360"/>
                </a:lnTo>
                <a:lnTo>
                  <a:pt x="0" y="975360"/>
                </a:lnTo>
                <a:close/>
              </a:path>
            </a:pathLst>
          </a:custGeom>
          <a:blipFill xmlns:a="http://schemas.openxmlformats.org/drawingml/2006/main">
            <a:blip xmlns:r="http://schemas.openxmlformats.org/officeDocument/2006/relationships" r:embed="R7bef035a19214165">
              <a:alphaModFix amt="0"/>
            </a:blip>
            <a:stretch>
              <a:fillRect l="0" t="-76652" r="0" b="-76652"/>
            </a:stretch>
          </a:blipFill>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CD198A74-27F6-49DC-917B-ABF633B5BA73}"/>
              </a:ext>
            </a:extLst>
          </p:cNvPr>
          <p:cNvSpPr>
            <a:spLocks xmlns:a="http://schemas.openxmlformats.org/drawingml/2006/main" noGrp="1"/>
          </p:cNvSpPr>
          <p:nvPr/>
        </p:nvSpPr>
        <p:spPr>
          <a:xfrm xmlns:a="http://schemas.openxmlformats.org/drawingml/2006/main" rot="0" flipH="0" flipV="0">
            <a:off x="6766560" y="2187417"/>
            <a:ext cx="475488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840"/>
              </a:lnSpc>
              <a:buNone/>
            </a:pPr>
            <a:r>
              <a:rPr sz="3200" b="1">
                <a:solidFill>
                  <a:srgbClr val="0B2A43"/>
                </a:solidFill>
                <a:latin typeface="Cambria Bold"/>
                <a:ea typeface="Cambria Bold"/>
                <a:cs typeface="Cambria Bold"/>
              </a:rPr>
              <a:t>QA-02 Rendimiento</a:t>
            </a:r>
          </a:p>
        </p:txBody>
      </p:sp>
      <p:sp>
        <p:nvSpPr>
          <p:cNvPr id="20" name="TextBox 20">
            <a:extLst xmlns:a="http://schemas.openxmlformats.org/drawingml/2006/main">
              <a:ext uri="{FF2B5EF4-FFF2-40B4-BE49-F238E27FC236}">
                <a16:creationId xmlns:a16="http://schemas.microsoft.com/office/drawing/2014/main" id="{CB61A661-29F7-487C-9C65-51DE7449FCC1}"/>
              </a:ext>
            </a:extLst>
          </p:cNvPr>
          <p:cNvSpPr>
            <a:spLocks xmlns:a="http://schemas.openxmlformats.org/drawingml/2006/main" noGrp="1"/>
          </p:cNvSpPr>
          <p:nvPr/>
        </p:nvSpPr>
        <p:spPr>
          <a:xfrm xmlns:a="http://schemas.openxmlformats.org/drawingml/2006/main">
            <a:off x="6766560" y="2960370"/>
            <a:ext cx="4754880" cy="17030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i="1">
                <a:solidFill>
                  <a:srgbClr val="5B6B7A"/>
                </a:solidFill>
                <a:latin typeface="Calibri (MS) Italics"/>
                <a:ea typeface="Calibri (MS) Italics"/>
                <a:cs typeface="Calibri (MS) Italics"/>
              </a:rPr>
              <a:t>Hasta 1 000 sensores enviando en ventanas de 10 s</a:t>
            </a:r>
          </a:p>
        </p:txBody>
      </p:sp>
      <p:sp>
        <p:nvSpPr>
          <p:cNvPr id="21" name="TextBox 21">
            <a:extLst xmlns:a="http://schemas.openxmlformats.org/drawingml/2006/main">
              <a:ext uri="{FF2B5EF4-FFF2-40B4-BE49-F238E27FC236}">
                <a16:creationId xmlns:a16="http://schemas.microsoft.com/office/drawing/2014/main" id="{DA4B726E-A883-46F5-BD53-FBC7DC0271AB}"/>
              </a:ext>
            </a:extLst>
          </p:cNvPr>
          <p:cNvSpPr>
            <a:spLocks xmlns:a="http://schemas.openxmlformats.org/drawingml/2006/main" noGrp="1"/>
          </p:cNvSpPr>
          <p:nvPr/>
        </p:nvSpPr>
        <p:spPr>
          <a:xfrm xmlns:a="http://schemas.openxmlformats.org/drawingml/2006/main">
            <a:off x="6766560" y="4606290"/>
            <a:ext cx="4754880" cy="3531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627381" lvl="1" indent="-313690" algn="l">
              <a:lnSpc>
                <a:spcPts val="3120"/>
              </a:lnSpc>
              <a:buFont typeface="Arial"/>
              <a:buChar char="•"/>
            </a:pPr>
            <a:r>
              <a:rPr sz="2600">
                <a:solidFill>
                  <a:srgbClr val="1F2D3A"/>
                </a:solidFill>
                <a:latin typeface="Calibri (MS)"/>
                <a:ea typeface="Calibri (MS)"/>
                <a:cs typeface="Calibri (MS)"/>
              </a:rPr>
              <a:t>95 % de lecturas confirmadas en &lt; 2 s</a:t>
            </a:r>
          </a:p>
          <a:p xmlns:a="http://schemas.openxmlformats.org/drawingml/2006/main">
            <a:pPr marL="627381" lvl="1" indent="-313690" algn="l">
              <a:lnSpc>
                <a:spcPts val="3120"/>
              </a:lnSpc>
              <a:buFont typeface="Arial"/>
              <a:buChar char="•"/>
            </a:pPr>
            <a:r>
              <a:rPr sz="2600">
                <a:solidFill>
                  <a:srgbClr val="1F2D3A"/>
                </a:solidFill>
                <a:latin typeface="Calibri (MS)"/>
                <a:ea typeface="Calibri (MS)"/>
                <a:cs typeface="Calibri (MS)"/>
              </a:rPr>
              <a:t>99 % evaluadas y guardadas en &lt; 5 s</a:t>
            </a:r>
          </a:p>
          <a:p xmlns:a="http://schemas.openxmlformats.org/drawingml/2006/main">
            <a:pPr marL="627381" lvl="1" indent="-313690" algn="l">
              <a:lnSpc>
                <a:spcPts val="3120"/>
              </a:lnSpc>
              <a:buFont typeface="Arial"/>
              <a:buChar char="•"/>
            </a:pPr>
            <a:r>
              <a:rPr sz="2600">
                <a:solidFill>
                  <a:srgbClr val="1F2D3A"/>
                </a:solidFill>
                <a:latin typeface="Calibri (MS)"/>
                <a:ea typeface="Calibri (MS)"/>
                <a:cs typeface="Calibri (MS)"/>
              </a:rPr>
              <a:t>Notificación en &lt; 10 s</a:t>
            </a:r>
          </a:p>
        </p:txBody>
      </p:sp>
      <p:sp>
        <p:nvSpPr>
          <p:cNvPr id="23" name="Freeform 23">
            <a:extLst xmlns:a="http://schemas.openxmlformats.org/drawingml/2006/main">
              <a:ext uri="{FF2B5EF4-FFF2-40B4-BE49-F238E27FC236}">
                <a16:creationId xmlns:a16="http://schemas.microsoft.com/office/drawing/2014/main" id="{F04A00E3-4E63-4076-A9E5-3AB8C79828C9}"/>
              </a:ext>
            </a:extLst>
          </p:cNvPr>
          <p:cNvSpPr>
            <a:spLocks xmlns:a="http://schemas.openxmlformats.org/drawingml/2006/main" noGrp="1"/>
          </p:cNvSpPr>
          <p:nvPr/>
        </p:nvSpPr>
        <p:spPr>
          <a:xfrm xmlns:a="http://schemas.openxmlformats.org/drawingml/2006/main" rot="0" flipH="0" flipV="0">
            <a:off x="6766560" y="8412480"/>
            <a:ext cx="4754880" cy="822960"/>
          </a:xfrm>
          <a:custGeom xmlns:a="http://schemas.openxmlformats.org/drawingml/2006/main">
            <a:rect l="l" t="t" r="r" b="b"/>
            <a:pathLst>
              <a:path w="6339840" h="1097280">
                <a:moveTo>
                  <a:pt x="0" y="0"/>
                </a:moveTo>
                <a:lnTo>
                  <a:pt x="6339840" y="0"/>
                </a:lnTo>
                <a:lnTo>
                  <a:pt x="6339840" y="1097280"/>
                </a:lnTo>
                <a:lnTo>
                  <a:pt x="0" y="1097280"/>
                </a:lnTo>
                <a:close/>
              </a:path>
            </a:pathLst>
          </a:custGeom>
          <a:blipFill xmlns:a="http://schemas.openxmlformats.org/drawingml/2006/main">
            <a:blip xmlns:r="http://schemas.openxmlformats.org/officeDocument/2006/relationships" r:embed="R7bef035a19214165">
              <a:alphaModFix amt="0"/>
            </a:blip>
            <a:stretch>
              <a:fillRect l="0" t="-62580" r="0" b="-62580"/>
            </a:stretch>
          </a:blipFill>
        </p:spPr>
        <p:txBody>
          <a:bodyPr xmlns:a="http://schemas.openxmlformats.org/drawingml/2006/main"/>
          <a:lstStyle xmlns:a="http://schemas.openxmlformats.org/drawingml/2006/main"/>
          <a:p xmlns:a="http://schemas.openxmlformats.org/drawingml/2006/main">
            <a:endParaRPr/>
          </a:p>
        </p:txBody>
      </p:sp>
      <p:sp>
        <p:nvSpPr>
          <p:cNvPr id="24" name="TextBox 24">
            <a:extLst xmlns:a="http://schemas.openxmlformats.org/drawingml/2006/main">
              <a:ext uri="{FF2B5EF4-FFF2-40B4-BE49-F238E27FC236}">
                <a16:creationId xmlns:a16="http://schemas.microsoft.com/office/drawing/2014/main" id="{C1ACE1AD-E63F-49E6-B1CB-A7589AC70CBC}"/>
              </a:ext>
            </a:extLst>
          </p:cNvPr>
          <p:cNvSpPr>
            <a:spLocks xmlns:a="http://schemas.openxmlformats.org/drawingml/2006/main" noGrp="1"/>
          </p:cNvSpPr>
          <p:nvPr/>
        </p:nvSpPr>
        <p:spPr>
          <a:xfrm xmlns:a="http://schemas.openxmlformats.org/drawingml/2006/main" rot="0" flipH="0" flipV="0">
            <a:off x="6766560" y="8383905"/>
            <a:ext cx="4754880" cy="851535"/>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l">
              <a:lnSpc>
                <a:spcPts val="2879"/>
              </a:lnSpc>
              <a:buNone/>
            </a:pPr>
            <a:r>
              <a:rPr sz="2400" b="1">
                <a:solidFill>
                  <a:srgbClr val="1B7F8C"/>
                </a:solidFill>
                <a:latin typeface="Calibri (MS) Bold"/>
                <a:ea typeface="Calibri (MS) Bold"/>
                <a:cs typeface="Calibri (MS) Bold"/>
              </a:rPr>
              <a:t>Historias: US04, US06, US14, US16</a:t>
            </a:r>
          </a:p>
        </p:txBody>
      </p:sp>
      <p:sp>
        <p:nvSpPr>
          <p:cNvPr id="26" name="Freeform 26">
            <a:extLst xmlns:a="http://schemas.openxmlformats.org/drawingml/2006/main">
              <a:ext uri="{FF2B5EF4-FFF2-40B4-BE49-F238E27FC236}">
                <a16:creationId xmlns:a16="http://schemas.microsoft.com/office/drawing/2014/main" id="{2753F6D3-E523-41BE-A4EC-8833679733FF}"/>
              </a:ext>
            </a:extLst>
          </p:cNvPr>
          <p:cNvSpPr>
            <a:spLocks xmlns:a="http://schemas.openxmlformats.org/drawingml/2006/main" noGrp="1"/>
          </p:cNvSpPr>
          <p:nvPr/>
        </p:nvSpPr>
        <p:spPr>
          <a:xfrm xmlns:a="http://schemas.openxmlformats.org/drawingml/2006/main" rot="0" flipH="0" flipV="0">
            <a:off x="12057383" y="1998983"/>
            <a:ext cx="5328951" cy="7523511"/>
          </a:xfrm>
          <a:custGeom xmlns:a="http://schemas.openxmlformats.org/drawingml/2006/main">
            <a:rect l="l" t="t" r="r" b="b"/>
            <a:pathLst>
              <a:path w="7105269" h="10031349">
                <a:moveTo>
                  <a:pt x="0" y="0"/>
                </a:moveTo>
                <a:lnTo>
                  <a:pt x="7105269" y="0"/>
                </a:lnTo>
                <a:lnTo>
                  <a:pt x="7105269" y="10031349"/>
                </a:lnTo>
                <a:lnTo>
                  <a:pt x="0" y="1003134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8" name="Freeform 28">
            <a:extLst xmlns:a="http://schemas.openxmlformats.org/drawingml/2006/main">
              <a:ext uri="{FF2B5EF4-FFF2-40B4-BE49-F238E27FC236}">
                <a16:creationId xmlns:a16="http://schemas.microsoft.com/office/drawing/2014/main" id="{1519076C-509C-46E6-B5CB-8BFBEF15DBB2}"/>
              </a:ext>
            </a:extLst>
          </p:cNvPr>
          <p:cNvSpPr>
            <a:spLocks xmlns:a="http://schemas.openxmlformats.org/drawingml/2006/main" noGrp="1"/>
          </p:cNvSpPr>
          <p:nvPr/>
        </p:nvSpPr>
        <p:spPr>
          <a:xfrm xmlns:a="http://schemas.openxmlformats.org/drawingml/2006/main" rot="0" flipH="0" flipV="0">
            <a:off x="12344400" y="2194560"/>
            <a:ext cx="4754880" cy="731520"/>
          </a:xfrm>
          <a:custGeom xmlns:a="http://schemas.openxmlformats.org/drawingml/2006/main">
            <a:rect l="l" t="t" r="r" b="b"/>
            <a:pathLst>
              <a:path w="6339840" h="975360">
                <a:moveTo>
                  <a:pt x="0" y="0"/>
                </a:moveTo>
                <a:lnTo>
                  <a:pt x="6339840" y="0"/>
                </a:lnTo>
                <a:lnTo>
                  <a:pt x="6339840" y="975360"/>
                </a:lnTo>
                <a:lnTo>
                  <a:pt x="0" y="975360"/>
                </a:lnTo>
                <a:close/>
              </a:path>
            </a:pathLst>
          </a:custGeom>
          <a:blipFill xmlns:a="http://schemas.openxmlformats.org/drawingml/2006/main">
            <a:blip xmlns:r="http://schemas.openxmlformats.org/officeDocument/2006/relationships" r:embed="R7bef035a19214165">
              <a:alphaModFix amt="0"/>
            </a:blip>
            <a:stretch>
              <a:fillRect l="0" t="-76652" r="0" b="-76652"/>
            </a:stretch>
          </a:blipFill>
        </p:spPr>
        <p:txBody>
          <a:bodyPr xmlns:a="http://schemas.openxmlformats.org/drawingml/2006/main"/>
          <a:lstStyle xmlns:a="http://schemas.openxmlformats.org/drawingml/2006/main"/>
          <a:p xmlns:a="http://schemas.openxmlformats.org/drawingml/2006/main">
            <a:endParaRPr/>
          </a:p>
        </p:txBody>
      </p:sp>
      <p:sp>
        <p:nvSpPr>
          <p:cNvPr id="29" name="TextBox 29">
            <a:extLst xmlns:a="http://schemas.openxmlformats.org/drawingml/2006/main">
              <a:ext uri="{FF2B5EF4-FFF2-40B4-BE49-F238E27FC236}">
                <a16:creationId xmlns:a16="http://schemas.microsoft.com/office/drawing/2014/main" id="{102C3EA6-86BB-4006-A0E8-31D6558ED9AC}"/>
              </a:ext>
            </a:extLst>
          </p:cNvPr>
          <p:cNvSpPr>
            <a:spLocks xmlns:a="http://schemas.openxmlformats.org/drawingml/2006/main" noGrp="1"/>
          </p:cNvSpPr>
          <p:nvPr/>
        </p:nvSpPr>
        <p:spPr>
          <a:xfrm xmlns:a="http://schemas.openxmlformats.org/drawingml/2006/main" rot="0" flipH="0" flipV="0">
            <a:off x="12344400" y="2187417"/>
            <a:ext cx="475488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840"/>
              </a:lnSpc>
              <a:buNone/>
            </a:pPr>
            <a:r>
              <a:rPr sz="3200" b="1">
                <a:solidFill>
                  <a:srgbClr val="0B2A43"/>
                </a:solidFill>
                <a:latin typeface="Cambria Bold"/>
                <a:ea typeface="Cambria Bold"/>
                <a:cs typeface="Cambria Bold"/>
              </a:rPr>
              <a:t>QA-03 Usabilidad</a:t>
            </a:r>
          </a:p>
        </p:txBody>
      </p:sp>
      <p:sp>
        <p:nvSpPr>
          <p:cNvPr id="30" name="TextBox 30">
            <a:extLst xmlns:a="http://schemas.openxmlformats.org/drawingml/2006/main">
              <a:ext uri="{FF2B5EF4-FFF2-40B4-BE49-F238E27FC236}">
                <a16:creationId xmlns:a16="http://schemas.microsoft.com/office/drawing/2014/main" id="{97BF2F6E-D702-460D-9F70-8E864E725B5E}"/>
              </a:ext>
            </a:extLst>
          </p:cNvPr>
          <p:cNvSpPr>
            <a:spLocks xmlns:a="http://schemas.openxmlformats.org/drawingml/2006/main" noGrp="1"/>
          </p:cNvSpPr>
          <p:nvPr/>
        </p:nvSpPr>
        <p:spPr>
          <a:xfrm xmlns:a="http://schemas.openxmlformats.org/drawingml/2006/main">
            <a:off x="12344400" y="2960370"/>
            <a:ext cx="4754880" cy="17030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i="1">
                <a:solidFill>
                  <a:srgbClr val="5B6B7A"/>
                </a:solidFill>
                <a:latin typeface="Calibri (MS) Italics"/>
                <a:ea typeface="Calibri (MS) Italics"/>
                <a:cs typeface="Calibri (MS) Italics"/>
              </a:rPr>
              <a:t>Atender una alerta desde el celular, sin capacitación</a:t>
            </a:r>
          </a:p>
        </p:txBody>
      </p:sp>
      <p:sp>
        <p:nvSpPr>
          <p:cNvPr id="31" name="TextBox 31">
            <a:extLst xmlns:a="http://schemas.openxmlformats.org/drawingml/2006/main">
              <a:ext uri="{FF2B5EF4-FFF2-40B4-BE49-F238E27FC236}">
                <a16:creationId xmlns:a16="http://schemas.microsoft.com/office/drawing/2014/main" id="{3C9E6833-F227-4DA5-B670-EAA5D1BA9ADA}"/>
              </a:ext>
            </a:extLst>
          </p:cNvPr>
          <p:cNvSpPr>
            <a:spLocks xmlns:a="http://schemas.openxmlformats.org/drawingml/2006/main" noGrp="1"/>
          </p:cNvSpPr>
          <p:nvPr/>
        </p:nvSpPr>
        <p:spPr>
          <a:xfrm xmlns:a="http://schemas.openxmlformats.org/drawingml/2006/main">
            <a:off x="12344400" y="4606290"/>
            <a:ext cx="4754880" cy="35318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627381" lvl="1" indent="-313690" algn="l">
              <a:lnSpc>
                <a:spcPts val="3120"/>
              </a:lnSpc>
              <a:buFont typeface="Arial"/>
              <a:buChar char="•"/>
            </a:pPr>
            <a:r>
              <a:rPr sz="2600">
                <a:solidFill>
                  <a:srgbClr val="1F2D3A"/>
                </a:solidFill>
                <a:latin typeface="Calibri (MS)"/>
                <a:ea typeface="Calibri (MS)"/>
                <a:cs typeface="Calibri (MS)"/>
              </a:rPr>
              <a:t>90 % reconoce y asigna en &lt; 1 min sin ayuda</a:t>
            </a:r>
          </a:p>
          <a:p xmlns:a="http://schemas.openxmlformats.org/drawingml/2006/main">
            <a:pPr marL="627381" lvl="1" indent="-313690" algn="l">
              <a:lnSpc>
                <a:spcPts val="3120"/>
              </a:lnSpc>
              <a:buFont typeface="Arial"/>
              <a:buChar char="•"/>
            </a:pPr>
            <a:r>
              <a:rPr sz="2600">
                <a:solidFill>
                  <a:srgbClr val="1F2D3A"/>
                </a:solidFill>
                <a:latin typeface="Calibri (MS)"/>
                <a:ea typeface="Calibri (MS)"/>
                <a:cs typeface="Calibri (MS)"/>
              </a:rPr>
              <a:t>Confirmación visual en &lt; 2 s</a:t>
            </a:r>
          </a:p>
        </p:txBody>
      </p:sp>
      <p:sp>
        <p:nvSpPr>
          <p:cNvPr id="33" name="Freeform 33">
            <a:extLst xmlns:a="http://schemas.openxmlformats.org/drawingml/2006/main">
              <a:ext uri="{FF2B5EF4-FFF2-40B4-BE49-F238E27FC236}">
                <a16:creationId xmlns:a16="http://schemas.microsoft.com/office/drawing/2014/main" id="{A4A7A197-F200-44B9-9EDE-20B9E07EE8A4}"/>
              </a:ext>
            </a:extLst>
          </p:cNvPr>
          <p:cNvSpPr>
            <a:spLocks xmlns:a="http://schemas.openxmlformats.org/drawingml/2006/main" noGrp="1"/>
          </p:cNvSpPr>
          <p:nvPr/>
        </p:nvSpPr>
        <p:spPr>
          <a:xfrm xmlns:a="http://schemas.openxmlformats.org/drawingml/2006/main" rot="0" flipH="0" flipV="0">
            <a:off x="12344400" y="8412480"/>
            <a:ext cx="4754880" cy="822960"/>
          </a:xfrm>
          <a:custGeom xmlns:a="http://schemas.openxmlformats.org/drawingml/2006/main">
            <a:rect l="l" t="t" r="r" b="b"/>
            <a:pathLst>
              <a:path w="6339840" h="1097280">
                <a:moveTo>
                  <a:pt x="0" y="0"/>
                </a:moveTo>
                <a:lnTo>
                  <a:pt x="6339840" y="0"/>
                </a:lnTo>
                <a:lnTo>
                  <a:pt x="6339840" y="1097280"/>
                </a:lnTo>
                <a:lnTo>
                  <a:pt x="0" y="1097280"/>
                </a:lnTo>
                <a:close/>
              </a:path>
            </a:pathLst>
          </a:custGeom>
          <a:blipFill xmlns:a="http://schemas.openxmlformats.org/drawingml/2006/main">
            <a:blip xmlns:r="http://schemas.openxmlformats.org/officeDocument/2006/relationships" r:embed="R7bef035a19214165">
              <a:alphaModFix amt="0"/>
            </a:blip>
            <a:stretch>
              <a:fillRect l="0" t="-62580" r="0" b="-62580"/>
            </a:stretch>
          </a:blipFill>
        </p:spPr>
        <p:txBody>
          <a:bodyPr xmlns:a="http://schemas.openxmlformats.org/drawingml/2006/main"/>
          <a:lstStyle xmlns:a="http://schemas.openxmlformats.org/drawingml/2006/main"/>
          <a:p xmlns:a="http://schemas.openxmlformats.org/drawingml/2006/main">
            <a:endParaRPr/>
          </a:p>
        </p:txBody>
      </p:sp>
      <p:sp>
        <p:nvSpPr>
          <p:cNvPr id="34" name="TextBox 34">
            <a:extLst xmlns:a="http://schemas.openxmlformats.org/drawingml/2006/main">
              <a:ext uri="{FF2B5EF4-FFF2-40B4-BE49-F238E27FC236}">
                <a16:creationId xmlns:a16="http://schemas.microsoft.com/office/drawing/2014/main" id="{872B777F-197D-4FC1-B25B-4463B3120CCC}"/>
              </a:ext>
            </a:extLst>
          </p:cNvPr>
          <p:cNvSpPr>
            <a:spLocks xmlns:a="http://schemas.openxmlformats.org/drawingml/2006/main" noGrp="1"/>
          </p:cNvSpPr>
          <p:nvPr/>
        </p:nvSpPr>
        <p:spPr>
          <a:xfrm xmlns:a="http://schemas.openxmlformats.org/drawingml/2006/main" rot="0" flipH="0" flipV="0">
            <a:off x="12344400" y="8383905"/>
            <a:ext cx="4754880" cy="851535"/>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l">
              <a:lnSpc>
                <a:spcPts val="2879"/>
              </a:lnSpc>
              <a:buNone/>
            </a:pPr>
            <a:r>
              <a:rPr sz="2400" b="1">
                <a:solidFill>
                  <a:srgbClr val="1B7F8C"/>
                </a:solidFill>
                <a:latin typeface="Calibri (MS) Bold"/>
                <a:ea typeface="Calibri (MS) Bold"/>
                <a:cs typeface="Calibri (MS) Bold"/>
              </a:rPr>
              <a:t>Historias: US08, US09, US33</a:t>
            </a:r>
          </a:p>
        </p:txBody>
      </p:sp>
      <p:sp>
        <p:nvSpPr>
          <p:cNvPr id="35" name="TextBox 35">
            <a:extLst xmlns:a="http://schemas.openxmlformats.org/drawingml/2006/main">
              <a:ext uri="{FF2B5EF4-FFF2-40B4-BE49-F238E27FC236}">
                <a16:creationId xmlns:a16="http://schemas.microsoft.com/office/drawing/2014/main" id="{B507DC0B-CACC-401F-B0A0-6B90FCAEFC48}"/>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11</a:t>
            </a:r>
          </a:p>
        </p:txBody>
      </p:sp>
      <p:sp>
        <p:nvSpPr>
          <p:cNvPr id="36" name="Backlog no funcional: escenarios de calidad">
            <a:extLst xmlns:a="http://schemas.openxmlformats.org/drawingml/2006/main">
              <a:ext uri="{FF2B5EF4-FFF2-40B4-BE49-F238E27FC236}">
                <a16:creationId xmlns:a16="http://schemas.microsoft.com/office/drawing/2014/main" id="{B7BEED12-33EE-4DE7-8709-105FD39C540E}"/>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Backlog no funcional: escenarios de calidad</a:t>
            </a:r>
          </a:p>
        </p:txBody>
      </p:sp>
    </p:spTree>
    <p:extLst>
      <p:ext uri="{BB962C8B-B14F-4D97-AF65-F5344CB8AC3E}">
        <p14:creationId xmlns:p14="http://schemas.microsoft.com/office/powerpoint/2010/main" val="73237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C3767E3-7ECC-4673-BF5C-849A8B2DE7A0}"/>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c27275f1df05407d">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graphicFrame>
        <p:nvGraphicFramePr>
          <p:cNvPr id="5" name="Table 5">
            <a:extLst xmlns:a="http://schemas.openxmlformats.org/drawingml/2006/main">
              <a:ext uri="{FF2B5EF4-FFF2-40B4-BE49-F238E27FC236}">
                <a16:creationId xmlns:a16="http://schemas.microsoft.com/office/drawing/2014/main" id="{228DA83E-3544-4B6D-9361-E7D3CC5AF9E4}"/>
              </a:ext>
            </a:extLst>
          </p:cNvPr>
          <p:cNvGraphicFramePr/>
          <p:nvPr/>
        </p:nvGraphicFramePr>
        <p:xfrm>
          <a:off xmlns:a="http://schemas.openxmlformats.org/drawingml/2006/main" x="914400" y="2011680"/>
          <a:ext xmlns:a="http://schemas.openxmlformats.org/drawingml/2006/main" cx="16433801" cy="6908800"/>
        </p:xfrm>
        <a:graphic xmlns:a="http://schemas.openxmlformats.org/drawingml/2006/main">
          <a:graphicData uri="http://schemas.openxmlformats.org/drawingml/2006/table">
            <a:tbl>
              <a:tblPr/>
              <a:tblGrid>
                <a:gridCol w="1851164"/>
                <a:gridCol w="7835334"/>
                <a:gridCol w="6747303"/>
              </a:tblGrid>
              <a:tr h="863600">
                <a:tc>
                  <a:txBody>
                    <a:bodyPr/>
                    <a:lstStyle/>
                    <a:p>
                      <a:pPr algn="l">
                        <a:lnSpc>
                          <a:spcPts val="3359"/>
                        </a:lnSpc>
                        <a:buNone/>
                      </a:pPr>
                      <a:r>
                        <a:rPr sz="2799" b="1">
                          <a:solidFill>
                            <a:srgbClr val="FFFFFF"/>
                          </a:solidFill>
                          <a:latin typeface="Calibri (MS) Bold"/>
                          <a:ea typeface="Calibri (MS) Bold"/>
                          <a:cs typeface="Calibri (MS) Bold"/>
                        </a:rPr>
                        <a:t>ID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3359"/>
                        </a:lnSpc>
                        <a:buNone/>
                      </a:pPr>
                      <a:r>
                        <a:rPr sz="2799" b="1">
                          <a:solidFill>
                            <a:srgbClr val="FFFFFF"/>
                          </a:solidFill>
                          <a:latin typeface="Calibri (MS) Bold"/>
                          <a:ea typeface="Calibri (MS) Bold"/>
                          <a:cs typeface="Calibri (MS) Bold"/>
                        </a:rPr>
                        <a:t>Restricción</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3359"/>
                        </a:lnSpc>
                        <a:buNone/>
                      </a:pPr>
                      <a:r>
                        <a:rPr sz="2799" b="1">
                          <a:solidFill>
                            <a:srgbClr val="FFFFFF"/>
                          </a:solidFill>
                          <a:latin typeface="Calibri (MS) Bold"/>
                          <a:ea typeface="Calibri (MS) Bold"/>
                          <a:cs typeface="Calibri (MS) Bold"/>
                        </a:rPr>
                        <a:t>Implicación</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863600">
                <a:tc>
                  <a:txBody>
                    <a:bodyPr/>
                    <a:lstStyle/>
                    <a:p>
                      <a:pPr algn="l">
                        <a:lnSpc>
                          <a:spcPts val="3359"/>
                        </a:lnSpc>
                        <a:buNone/>
                      </a:pPr>
                      <a:r>
                        <a:rPr sz="2799" b="1">
                          <a:solidFill>
                            <a:srgbClr val="1F2D3A"/>
                          </a:solidFill>
                          <a:latin typeface="Calibri (MS) Bold"/>
                          <a:ea typeface="Calibri (MS) Bold"/>
                          <a:cs typeface="Calibri (MS) Bold"/>
                        </a:rPr>
                        <a:t>CON-01</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Solución brownfield existente</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Evolución incremental</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863600">
                <a:tc>
                  <a:txBody>
                    <a:bodyPr/>
                    <a:lstStyle/>
                    <a:p>
                      <a:pPr algn="l">
                        <a:lnSpc>
                          <a:spcPts val="3359"/>
                        </a:lnSpc>
                        <a:buNone/>
                      </a:pPr>
                      <a:r>
                        <a:rPr sz="2799" b="1">
                          <a:solidFill>
                            <a:srgbClr val="1F2D3A"/>
                          </a:solidFill>
                          <a:latin typeface="Calibri (MS) Bold"/>
                          <a:ea typeface="Calibri (MS) Bold"/>
                          <a:cs typeface="Calibri (MS) Bold"/>
                        </a:rPr>
                        <a:t>CON-02</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Microservicios, DDD y cloud-native</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Servicios con límites explícitos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863600">
                <a:tc>
                  <a:txBody>
                    <a:bodyPr/>
                    <a:lstStyle/>
                    <a:p>
                      <a:pPr algn="l">
                        <a:lnSpc>
                          <a:spcPts val="3359"/>
                        </a:lnSpc>
                        <a:buNone/>
                      </a:pPr>
                      <a:r>
                        <a:rPr sz="2799" b="1">
                          <a:solidFill>
                            <a:srgbClr val="1F2D3A"/>
                          </a:solidFill>
                          <a:latin typeface="Calibri (MS) Bold"/>
                          <a:ea typeface="Calibri (MS) Bold"/>
                          <a:cs typeface="Calibri (MS) Bold"/>
                        </a:rPr>
                        <a:t>CON-03</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Backend de referencia en Java y Spring Boot</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Reutilizar código y dominio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863600">
                <a:tc>
                  <a:txBody>
                    <a:bodyPr/>
                    <a:lstStyle/>
                    <a:p>
                      <a:pPr algn="l">
                        <a:lnSpc>
                          <a:spcPts val="3359"/>
                        </a:lnSpc>
                        <a:buNone/>
                      </a:pPr>
                      <a:r>
                        <a:rPr sz="2799" b="1">
                          <a:solidFill>
                            <a:srgbClr val="1F2D3A"/>
                          </a:solidFill>
                          <a:latin typeface="Calibri (MS) Bold"/>
                          <a:ea typeface="Calibri (MS) Bold"/>
                          <a:cs typeface="Calibri (MS) Bold"/>
                        </a:rPr>
                        <a:t>CON-04</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Persistencia MySQL / Cloud SQL</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Sin acceso a tablas de otro servicio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863600">
                <a:tc>
                  <a:txBody>
                    <a:bodyPr/>
                    <a:lstStyle/>
                    <a:p>
                      <a:pPr algn="l">
                        <a:lnSpc>
                          <a:spcPts val="3359"/>
                        </a:lnSpc>
                        <a:buNone/>
                      </a:pPr>
                      <a:r>
                        <a:rPr sz="2799" b="1">
                          <a:solidFill>
                            <a:srgbClr val="1F2D3A"/>
                          </a:solidFill>
                          <a:latin typeface="Calibri (MS) Bold"/>
                          <a:ea typeface="Calibri (MS) Bold"/>
                          <a:cs typeface="Calibri (MS) Bold"/>
                        </a:rPr>
                        <a:t>CON-05</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API REST documentada con OpenAPI</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Contratos versionados (/api/v1)</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863600">
                <a:tc>
                  <a:txBody>
                    <a:bodyPr/>
                    <a:lstStyle/>
                    <a:p>
                      <a:pPr algn="l">
                        <a:lnSpc>
                          <a:spcPts val="3359"/>
                        </a:lnSpc>
                        <a:buNone/>
                      </a:pPr>
                      <a:r>
                        <a:rPr sz="2799" b="1">
                          <a:solidFill>
                            <a:srgbClr val="1F2D3A"/>
                          </a:solidFill>
                          <a:latin typeface="Calibri (MS) Bold"/>
                          <a:ea typeface="Calibri (MS) Bold"/>
                          <a:cs typeface="Calibri (MS) Bold"/>
                        </a:rPr>
                        <a:t>CON-06</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Contenedores sobre Google Cloud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Cloud Run, Cloud SQL y Pub/Sub</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863600">
                <a:tc>
                  <a:txBody>
                    <a:bodyPr/>
                    <a:lstStyle/>
                    <a:p>
                      <a:pPr algn="l">
                        <a:lnSpc>
                          <a:spcPts val="3359"/>
                        </a:lnSpc>
                        <a:buNone/>
                      </a:pPr>
                      <a:r>
                        <a:rPr sz="2799" b="1">
                          <a:solidFill>
                            <a:srgbClr val="1F2D3A"/>
                          </a:solidFill>
                          <a:latin typeface="Calibri (MS) Bold"/>
                          <a:ea typeface="Calibri (MS) Bold"/>
                          <a:cs typeface="Calibri (MS) Bold"/>
                        </a:rPr>
                        <a:t>CON-07</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Pagos, identidad e IA en servicios externos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359"/>
                        </a:lnSpc>
                        <a:buNone/>
                      </a:pPr>
                      <a:r>
                        <a:rPr sz="2799">
                          <a:solidFill>
                            <a:srgbClr val="1F2D3A"/>
                          </a:solidFill>
                          <a:latin typeface="Calibri (MS)"/>
                          <a:ea typeface="Calibri (MS)"/>
                          <a:cs typeface="Calibri (MS)"/>
                        </a:rPr>
                        <a:t>Proveedores tras puertos y adaptadores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bl>
          </a:graphicData>
        </a:graphic>
      </p:graphicFrame>
      <p:sp>
        <p:nvSpPr>
          <p:cNvPr id="6" name="TextBox 6">
            <a:extLst xmlns:a="http://schemas.openxmlformats.org/drawingml/2006/main">
              <a:ext uri="{FF2B5EF4-FFF2-40B4-BE49-F238E27FC236}">
                <a16:creationId xmlns:a16="http://schemas.microsoft.com/office/drawing/2014/main" id="{2BDB3E75-A212-4E6E-83FA-8EE6C4416D8F}"/>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12</a:t>
            </a:r>
          </a:p>
        </p:txBody>
      </p:sp>
      <p:sp>
        <p:nvSpPr>
          <p:cNvPr id="7" name="Backlog no funcional: restricciones">
            <a:extLst xmlns:a="http://schemas.openxmlformats.org/drawingml/2006/main">
              <a:ext uri="{FF2B5EF4-FFF2-40B4-BE49-F238E27FC236}">
                <a16:creationId xmlns:a16="http://schemas.microsoft.com/office/drawing/2014/main" id="{E757C6BD-4691-4989-A219-D3A5F5CF31BC}"/>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Backlog no funcional: restricciones</a:t>
            </a:r>
          </a:p>
        </p:txBody>
      </p:sp>
    </p:spTree>
    <p:extLst>
      <p:ext uri="{BB962C8B-B14F-4D97-AF65-F5344CB8AC3E}">
        <p14:creationId xmlns:p14="http://schemas.microsoft.com/office/powerpoint/2010/main" val="703486689"/>
      </p:ext>
    </p:extLst>
  </p:cSld>
</p:sld>
</file>

<file path=ppt/slides/slide13.xml><?xml version="1.0" encoding="utf-8"?>
<p:sld xmlns:p="http://schemas.openxmlformats.org/presentationml/2006/main">
  <p:cSld>
    <p:bg>
      <p:bgPr>
        <a:solidFill xmlns:a="http://schemas.openxmlformats.org/drawingml/2006/main">
          <a:srgbClr val="1B7F8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84D39F8-AB5B-43F3-8D00-C7E363C8D92B}"/>
              </a:ext>
            </a:extLst>
          </p:cNvPr>
          <p:cNvSpPr>
            <a:spLocks xmlns:a="http://schemas.openxmlformats.org/drawingml/2006/main" noGrp="1"/>
          </p:cNvSpPr>
          <p:nvPr/>
        </p:nvSpPr>
        <p:spPr>
          <a:xfrm xmlns:a="http://schemas.openxmlformats.org/drawingml/2006/main" rot="0" flipH="0" flipV="0">
            <a:off x="1280160" y="2194560"/>
            <a:ext cx="5486400" cy="2194560"/>
          </a:xfrm>
          <a:custGeom xmlns:a="http://schemas.openxmlformats.org/drawingml/2006/main">
            <a:rect l="l" t="t" r="r" b="b"/>
            <a:pathLst>
              <a:path w="7315200" h="2926080">
                <a:moveTo>
                  <a:pt x="0" y="0"/>
                </a:moveTo>
                <a:lnTo>
                  <a:pt x="7315200" y="0"/>
                </a:lnTo>
                <a:lnTo>
                  <a:pt x="7315200" y="2926080"/>
                </a:lnTo>
                <a:lnTo>
                  <a:pt x="0" y="2926080"/>
                </a:lnTo>
                <a:close/>
              </a:path>
            </a:pathLst>
          </a:custGeom>
          <a:blipFill xmlns:a="http://schemas.openxmlformats.org/drawingml/2006/main">
            <a:blip xmlns:r="http://schemas.openxmlformats.org/officeDocument/2006/relationships" r:embed="R9ee46bcc9a084e7f">
              <a:alphaModFix amt="0"/>
            </a:blip>
            <a:stretch>
              <a:fillRect l="-1321" t="0" r="-1321" b="0"/>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646D173F-2D7D-4173-B577-F799DC89ADA2}"/>
              </a:ext>
            </a:extLst>
          </p:cNvPr>
          <p:cNvSpPr>
            <a:spLocks xmlns:a="http://schemas.openxmlformats.org/drawingml/2006/main" noGrp="1"/>
          </p:cNvSpPr>
          <p:nvPr/>
        </p:nvSpPr>
        <p:spPr>
          <a:xfrm xmlns:a="http://schemas.openxmlformats.org/drawingml/2006/main" rot="0" flipH="0" flipV="0">
            <a:off x="1280160" y="2180273"/>
            <a:ext cx="5486400" cy="220884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7280"/>
              </a:lnSpc>
              <a:buNone/>
            </a:pPr>
            <a:r>
              <a:rPr sz="14400" b="1">
                <a:solidFill>
                  <a:srgbClr val="F2A33A"/>
                </a:solidFill>
                <a:latin typeface="Cambria Bold"/>
                <a:ea typeface="Cambria Bold"/>
                <a:cs typeface="Cambria Bold"/>
              </a:rPr>
              <a:t>03</a:t>
            </a:r>
          </a:p>
        </p:txBody>
      </p:sp>
      <p:sp>
        <p:nvSpPr>
          <p:cNvPr id="6" name="Freeform 6">
            <a:extLst xmlns:a="http://schemas.openxmlformats.org/drawingml/2006/main">
              <a:ext uri="{FF2B5EF4-FFF2-40B4-BE49-F238E27FC236}">
                <a16:creationId xmlns:a16="http://schemas.microsoft.com/office/drawing/2014/main" id="{ABEE5F10-2829-4FFD-903E-AB555BD1D0E6}"/>
              </a:ext>
            </a:extLst>
          </p:cNvPr>
          <p:cNvSpPr>
            <a:spLocks xmlns:a="http://schemas.openxmlformats.org/drawingml/2006/main" noGrp="1"/>
          </p:cNvSpPr>
          <p:nvPr/>
        </p:nvSpPr>
        <p:spPr>
          <a:xfrm xmlns:a="http://schemas.openxmlformats.org/drawingml/2006/main" rot="0" flipH="0" flipV="0">
            <a:off x="1280160" y="4572000"/>
            <a:ext cx="15727679" cy="1645920"/>
          </a:xfrm>
          <a:custGeom xmlns:a="http://schemas.openxmlformats.org/drawingml/2006/main">
            <a:rect l="l" t="t" r="r" b="b"/>
            <a:pathLst>
              <a:path w="20970239" h="2194560">
                <a:moveTo>
                  <a:pt x="0" y="0"/>
                </a:moveTo>
                <a:lnTo>
                  <a:pt x="20970239" y="0"/>
                </a:lnTo>
                <a:lnTo>
                  <a:pt x="20970239" y="2194560"/>
                </a:lnTo>
                <a:lnTo>
                  <a:pt x="0" y="2194560"/>
                </a:lnTo>
                <a:close/>
              </a:path>
            </a:pathLst>
          </a:custGeom>
          <a:blipFill xmlns:a="http://schemas.openxmlformats.org/drawingml/2006/main">
            <a:blip xmlns:r="http://schemas.openxmlformats.org/officeDocument/2006/relationships" r:embed="R9ee46bcc9a084e7f">
              <a:alphaModFix amt="0"/>
            </a:blip>
            <a:stretch>
              <a:fillRect l="0" t="-136190" r="0" b="-136190"/>
            </a:stretch>
          </a:blip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8ACAC051-F94C-4614-A748-0F859EC6B14D}"/>
              </a:ext>
            </a:extLst>
          </p:cNvPr>
          <p:cNvSpPr>
            <a:spLocks xmlns:a="http://schemas.openxmlformats.org/drawingml/2006/main" noGrp="1"/>
          </p:cNvSpPr>
          <p:nvPr/>
        </p:nvSpPr>
        <p:spPr>
          <a:xfrm xmlns:a="http://schemas.openxmlformats.org/drawingml/2006/main" rot="0" flipH="0" flipV="0">
            <a:off x="1280160" y="4557713"/>
            <a:ext cx="15727680" cy="166020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8640"/>
              </a:lnSpc>
              <a:buNone/>
            </a:pPr>
            <a:r>
              <a:rPr sz="7200" b="1">
                <a:solidFill>
                  <a:srgbClr val="FFFFFF"/>
                </a:solidFill>
                <a:latin typeface="Cambria Bold"/>
                <a:ea typeface="Cambria Bold"/>
                <a:cs typeface="Cambria Bold"/>
              </a:rPr>
              <a:t>Prototipos de pantalla</a:t>
            </a:r>
          </a:p>
        </p:txBody>
      </p:sp>
      <p:sp>
        <p:nvSpPr>
          <p:cNvPr id="8" name="13">
            <a:extLst xmlns:a="http://schemas.openxmlformats.org/drawingml/2006/main">
              <a:ext uri="{FF2B5EF4-FFF2-40B4-BE49-F238E27FC236}">
                <a16:creationId xmlns:a16="http://schemas.microsoft.com/office/drawing/2014/main" id="{DE47363C-4F14-4146-B090-590D7D9897FD}"/>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13</a:t>
            </a:r>
          </a:p>
        </p:txBody>
      </p:sp>
    </p:spTree>
    <p:extLst>
      <p:ext uri="{BB962C8B-B14F-4D97-AF65-F5344CB8AC3E}">
        <p14:creationId xmlns:p14="http://schemas.microsoft.com/office/powerpoint/2010/main" val="181570547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Monitoreo y detección de ausencia de datos">
            <a:extLst xmlns:a="http://schemas.openxmlformats.org/drawingml/2006/main">
              <a:ext uri="{FF2B5EF4-FFF2-40B4-BE49-F238E27FC236}">
                <a16:creationId xmlns:a16="http://schemas.microsoft.com/office/drawing/2014/main" id="{7D533675-E96A-4C31-A8A8-DF87FF74F4B1}"/>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Monitoreo y detección de ausencia de datos</a:t>
            </a:r>
          </a:p>
        </p:txBody>
      </p:sp>
      <p:pic>
        <p:nvPicPr>
          <p:cNvPr id="2" name="">
            <a:extLst xmlns:a="http://schemas.openxmlformats.org/drawingml/2006/main">
              <a:ext uri="{FF2B5EF4-FFF2-40B4-BE49-F238E27FC236}">
                <a16:creationId xmlns:a16="http://schemas.microsoft.com/office/drawing/2014/main" id="{298DE86B-21BC-4E71-AA71-955351DE9D8F}"/>
              </a:ext>
            </a:extLst>
          </p:cNvPr>
          <p:cNvPicPr>
            <a:picLocks xmlns:a="http://schemas.openxmlformats.org/drawingml/2006/main" noChangeAspect="1"/>
          </p:cNvPicPr>
          <p:nvPr/>
        </p:nvPicPr>
        <p:blipFill>
          <a:blip xmlns:r="http://schemas.openxmlformats.org/officeDocument/2006/relationships" xmlns:a="http://schemas.openxmlformats.org/drawingml/2006/main" r:embed="R2364175981f0492e"/>
          <a:srcRect xmlns:a="http://schemas.openxmlformats.org/drawingml/2006/main" l="28500" t="0" r="15000" b="44000"/>
          <a:stretch xmlns:a="http://schemas.openxmlformats.org/drawingml/2006/main"/>
        </p:blipFill>
        <p:spPr>
          <a:xfrm xmlns:a="http://schemas.openxmlformats.org/drawingml/2006/main">
            <a:off x="914400" y="2095500"/>
            <a:ext cx="16459200" cy="6172200"/>
          </a:xfrm>
          <a:prstGeom xmlns:a="http://schemas.openxmlformats.org/drawingml/2006/main" prst="rect">
            <a:avLst/>
          </a:prstGeom>
        </p:spPr>
      </p:pic>
      <p:sp>
        <p:nvSpPr>
          <p:cNvPr id="3" name="US04 y US16: comparar estado, lectura y rango">
            <a:extLst xmlns:a="http://schemas.openxmlformats.org/drawingml/2006/main">
              <a:ext uri="{FF2B5EF4-FFF2-40B4-BE49-F238E27FC236}">
                <a16:creationId xmlns:a16="http://schemas.microsoft.com/office/drawing/2014/main" id="{B467B31F-96B5-46FE-804A-B875D2065F64}"/>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US04 y US16: comparar estado, lectura y rango. US46: distinguir una interrupción de datos.</a:t>
            </a:r>
          </a:p>
        </p:txBody>
      </p:sp>
      <p:sp>
        <p:nvSpPr>
          <p:cNvPr id="4" name="14">
            <a:extLst xmlns:a="http://schemas.openxmlformats.org/drawingml/2006/main">
              <a:ext uri="{FF2B5EF4-FFF2-40B4-BE49-F238E27FC236}">
                <a16:creationId xmlns:a16="http://schemas.microsoft.com/office/drawing/2014/main" id="{496B0DA1-7069-409B-A48C-D7D12E9162A9}"/>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14</a:t>
            </a:r>
          </a:p>
        </p:txBody>
      </p:sp>
    </p:spTree>
    <p:extLst>
      <p:ext uri="{BB962C8B-B14F-4D97-AF65-F5344CB8AC3E}">
        <p14:creationId xmlns:p14="http://schemas.microsoft.com/office/powerpoint/2010/main" val="69483075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Contexto y asignación de la alerta">
            <a:extLst xmlns:a="http://schemas.openxmlformats.org/drawingml/2006/main">
              <a:ext uri="{FF2B5EF4-FFF2-40B4-BE49-F238E27FC236}">
                <a16:creationId xmlns:a16="http://schemas.microsoft.com/office/drawing/2014/main" id="{DEB133F1-B11C-46EE-BD0E-77F8B0C29198}"/>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Contexto y asignación de la alerta</a:t>
            </a:r>
          </a:p>
        </p:txBody>
      </p:sp>
      <p:pic>
        <p:nvPicPr>
          <p:cNvPr id="2" name="">
            <a:extLst xmlns:a="http://schemas.openxmlformats.org/drawingml/2006/main">
              <a:ext uri="{FF2B5EF4-FFF2-40B4-BE49-F238E27FC236}">
                <a16:creationId xmlns:a16="http://schemas.microsoft.com/office/drawing/2014/main" id="{45397A61-3658-4BA2-BB92-A1A12C41480E}"/>
              </a:ext>
            </a:extLst>
          </p:cNvPr>
          <p:cNvPicPr>
            <a:picLocks xmlns:a="http://schemas.openxmlformats.org/drawingml/2006/main" noChangeAspect="1"/>
          </p:cNvPicPr>
          <p:nvPr/>
        </p:nvPicPr>
        <p:blipFill>
          <a:blip xmlns:r="http://schemas.openxmlformats.org/officeDocument/2006/relationships" xmlns:a="http://schemas.openxmlformats.org/drawingml/2006/main" r:embed="R99071fa149ec49b6"/>
          <a:srcRect xmlns:a="http://schemas.openxmlformats.org/drawingml/2006/main" l="28500" t="0" r="15000" b="47000"/>
          <a:stretch xmlns:a="http://schemas.openxmlformats.org/drawingml/2006/main"/>
        </p:blipFill>
        <p:spPr>
          <a:xfrm xmlns:a="http://schemas.openxmlformats.org/drawingml/2006/main">
            <a:off x="914400" y="1809750"/>
            <a:ext cx="16459200" cy="7048500"/>
          </a:xfrm>
          <a:prstGeom xmlns:a="http://schemas.openxmlformats.org/drawingml/2006/main" prst="rect">
            <a:avLst/>
          </a:prstGeom>
        </p:spPr>
      </p:pic>
      <p:sp>
        <p:nvSpPr>
          <p:cNvPr id="3" name="US33: lectura y rango en contexto. US08: reco">
            <a:extLst xmlns:a="http://schemas.openxmlformats.org/drawingml/2006/main">
              <a:ext uri="{FF2B5EF4-FFF2-40B4-BE49-F238E27FC236}">
                <a16:creationId xmlns:a16="http://schemas.microsoft.com/office/drawing/2014/main" id="{C376EF35-0155-4F01-91EF-B1F9E0F8CAA9}"/>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US33: lectura y rango en contexto. US08: reconocer y asignar en una operación.</a:t>
            </a:r>
          </a:p>
        </p:txBody>
      </p:sp>
      <p:sp>
        <p:nvSpPr>
          <p:cNvPr id="4" name="15">
            <a:extLst xmlns:a="http://schemas.openxmlformats.org/drawingml/2006/main">
              <a:ext uri="{FF2B5EF4-FFF2-40B4-BE49-F238E27FC236}">
                <a16:creationId xmlns:a16="http://schemas.microsoft.com/office/drawing/2014/main" id="{1FC7A5B1-9C73-4B38-959F-894A3CC9A50A}"/>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15</a:t>
            </a:r>
          </a:p>
        </p:txBody>
      </p:sp>
    </p:spTree>
    <p:extLst>
      <p:ext uri="{BB962C8B-B14F-4D97-AF65-F5344CB8AC3E}">
        <p14:creationId xmlns:p14="http://schemas.microsoft.com/office/powerpoint/2010/main" val="12808614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Confirmación de atención y opción de deshacer">
            <a:extLst xmlns:a="http://schemas.openxmlformats.org/drawingml/2006/main">
              <a:ext uri="{FF2B5EF4-FFF2-40B4-BE49-F238E27FC236}">
                <a16:creationId xmlns:a16="http://schemas.microsoft.com/office/drawing/2014/main" id="{7F029FD9-D288-4CF9-A678-DAAD38E8A729}"/>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Confirmación de atención y opción de deshacer</a:t>
            </a:r>
          </a:p>
        </p:txBody>
      </p:sp>
      <p:pic>
        <p:nvPicPr>
          <p:cNvPr id="2" name="">
            <a:extLst xmlns:a="http://schemas.openxmlformats.org/drawingml/2006/main">
              <a:ext uri="{FF2B5EF4-FFF2-40B4-BE49-F238E27FC236}">
                <a16:creationId xmlns:a16="http://schemas.microsoft.com/office/drawing/2014/main" id="{423C0857-577C-43BD-8C86-E6BBAA63ADCE}"/>
              </a:ext>
            </a:extLst>
          </p:cNvPr>
          <p:cNvPicPr>
            <a:picLocks xmlns:a="http://schemas.openxmlformats.org/drawingml/2006/main" noChangeAspect="1"/>
          </p:cNvPicPr>
          <p:nvPr/>
        </p:nvPicPr>
        <p:blipFill>
          <a:blip xmlns:r="http://schemas.openxmlformats.org/officeDocument/2006/relationships" xmlns:a="http://schemas.openxmlformats.org/drawingml/2006/main" r:embed="Rdcf2665908a14cae"/>
          <a:srcRect xmlns:a="http://schemas.openxmlformats.org/drawingml/2006/main" l="28500" t="0" r="15000" b="44000"/>
          <a:stretch xmlns:a="http://schemas.openxmlformats.org/drawingml/2006/main"/>
        </p:blipFill>
        <p:spPr>
          <a:xfrm xmlns:a="http://schemas.openxmlformats.org/drawingml/2006/main">
            <a:off x="914400" y="1809750"/>
            <a:ext cx="16459200" cy="7048500"/>
          </a:xfrm>
          <a:prstGeom xmlns:a="http://schemas.openxmlformats.org/drawingml/2006/main" prst="rect">
            <a:avLst/>
          </a:prstGeom>
        </p:spPr>
      </p:pic>
      <p:sp>
        <p:nvSpPr>
          <p:cNvPr id="3" name="El responsable y el estado confirman la atenc">
            <a:extLst xmlns:a="http://schemas.openxmlformats.org/drawingml/2006/main">
              <a:ext uri="{FF2B5EF4-FFF2-40B4-BE49-F238E27FC236}">
                <a16:creationId xmlns:a16="http://schemas.microsoft.com/office/drawing/2014/main" id="{38334926-6BD3-47E9-9627-E476DC7AB562}"/>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El responsable y el estado confirman la atención. Deshacer está disponible durante 10 segundos.</a:t>
            </a:r>
          </a:p>
        </p:txBody>
      </p:sp>
      <p:sp>
        <p:nvSpPr>
          <p:cNvPr id="4" name="16">
            <a:extLst xmlns:a="http://schemas.openxmlformats.org/drawingml/2006/main">
              <a:ext uri="{FF2B5EF4-FFF2-40B4-BE49-F238E27FC236}">
                <a16:creationId xmlns:a16="http://schemas.microsoft.com/office/drawing/2014/main" id="{FA633393-C8C4-4E20-9D7B-23E3C7339439}"/>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16</a:t>
            </a:r>
          </a:p>
        </p:txBody>
      </p:sp>
    </p:spTree>
    <p:extLst>
      <p:ext uri="{BB962C8B-B14F-4D97-AF65-F5344CB8AC3E}">
        <p14:creationId xmlns:p14="http://schemas.microsoft.com/office/powerpoint/2010/main" val="15659661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razabilidad del periodo y del caso">
            <a:extLst xmlns:a="http://schemas.openxmlformats.org/drawingml/2006/main">
              <a:ext uri="{FF2B5EF4-FFF2-40B4-BE49-F238E27FC236}">
                <a16:creationId xmlns:a16="http://schemas.microsoft.com/office/drawing/2014/main" id="{61A81249-27F7-454F-AD90-DCFA41AE50AB}"/>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Trazabilidad del periodo y del caso</a:t>
            </a:r>
          </a:p>
        </p:txBody>
      </p:sp>
      <p:pic>
        <p:nvPicPr>
          <p:cNvPr id="2" name="">
            <a:extLst xmlns:a="http://schemas.openxmlformats.org/drawingml/2006/main">
              <a:ext uri="{FF2B5EF4-FFF2-40B4-BE49-F238E27FC236}">
                <a16:creationId xmlns:a16="http://schemas.microsoft.com/office/drawing/2014/main" id="{4515026A-DBD7-4E47-A2A6-AED38FC1F354}"/>
              </a:ext>
            </a:extLst>
          </p:cNvPr>
          <p:cNvPicPr>
            <a:picLocks xmlns:a="http://schemas.openxmlformats.org/drawingml/2006/main" noChangeAspect="1"/>
          </p:cNvPicPr>
          <p:nvPr/>
        </p:nvPicPr>
        <p:blipFill>
          <a:blip xmlns:r="http://schemas.openxmlformats.org/officeDocument/2006/relationships" xmlns:a="http://schemas.openxmlformats.org/drawingml/2006/main" r:embed="Ra3d0b78789cb442e"/>
          <a:srcRect xmlns:a="http://schemas.openxmlformats.org/drawingml/2006/main" l="28500" t="0" r="15000" b="35000"/>
          <a:stretch xmlns:a="http://schemas.openxmlformats.org/drawingml/2006/main"/>
        </p:blipFill>
        <p:spPr>
          <a:xfrm xmlns:a="http://schemas.openxmlformats.org/drawingml/2006/main">
            <a:off x="914400" y="1809750"/>
            <a:ext cx="16459200" cy="7048500"/>
          </a:xfrm>
          <a:prstGeom xmlns:a="http://schemas.openxmlformats.org/drawingml/2006/main" prst="rect">
            <a:avLst/>
          </a:prstGeom>
        </p:spPr>
      </p:pic>
      <p:sp>
        <p:nvSpPr>
          <p:cNvPr id="3" name="US14 y BG03: consolidar lecturas e incidencia">
            <a:extLst xmlns:a="http://schemas.openxmlformats.org/drawingml/2006/main">
              <a:ext uri="{FF2B5EF4-FFF2-40B4-BE49-F238E27FC236}">
                <a16:creationId xmlns:a16="http://schemas.microsoft.com/office/drawing/2014/main" id="{D4F183CC-5FAE-4AF7-A71F-C4C67EC968C7}"/>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US14 y BG03: consolidar lecturas e incidencias del periodo sin volver a transcribir los registros.</a:t>
            </a:r>
          </a:p>
        </p:txBody>
      </p:sp>
      <p:sp>
        <p:nvSpPr>
          <p:cNvPr id="4" name="17">
            <a:extLst xmlns:a="http://schemas.openxmlformats.org/drawingml/2006/main">
              <a:ext uri="{FF2B5EF4-FFF2-40B4-BE49-F238E27FC236}">
                <a16:creationId xmlns:a16="http://schemas.microsoft.com/office/drawing/2014/main" id="{62658CD4-324C-4C20-A9B5-4B5A22FA329D}"/>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17</a:t>
            </a:r>
          </a:p>
        </p:txBody>
      </p:sp>
    </p:spTree>
    <p:extLst>
      <p:ext uri="{BB962C8B-B14F-4D97-AF65-F5344CB8AC3E}">
        <p14:creationId xmlns:p14="http://schemas.microsoft.com/office/powerpoint/2010/main" val="404836327"/>
      </p:ext>
    </p:extLst>
  </p:cSld>
</p:sld>
</file>

<file path=ppt/slides/slide18.xml><?xml version="1.0" encoding="utf-8"?>
<p:sld xmlns:p="http://schemas.openxmlformats.org/presentationml/2006/main">
  <p:cSld>
    <p:bg>
      <p:bgPr>
        <a:solidFill xmlns:a="http://schemas.openxmlformats.org/drawingml/2006/main">
          <a:srgbClr val="1B7F8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C10C969-E491-46B8-AC00-07B58E908151}"/>
              </a:ext>
            </a:extLst>
          </p:cNvPr>
          <p:cNvSpPr>
            <a:spLocks xmlns:a="http://schemas.openxmlformats.org/drawingml/2006/main" noGrp="1"/>
          </p:cNvSpPr>
          <p:nvPr/>
        </p:nvSpPr>
        <p:spPr>
          <a:xfrm xmlns:a="http://schemas.openxmlformats.org/drawingml/2006/main" rot="0" flipH="0" flipV="0">
            <a:off x="1280160" y="2194560"/>
            <a:ext cx="5486400" cy="2194560"/>
          </a:xfrm>
          <a:custGeom xmlns:a="http://schemas.openxmlformats.org/drawingml/2006/main">
            <a:rect l="l" t="t" r="r" b="b"/>
            <a:pathLst>
              <a:path w="7315200" h="2926080">
                <a:moveTo>
                  <a:pt x="0" y="0"/>
                </a:moveTo>
                <a:lnTo>
                  <a:pt x="7315200" y="0"/>
                </a:lnTo>
                <a:lnTo>
                  <a:pt x="7315200" y="2926080"/>
                </a:lnTo>
                <a:lnTo>
                  <a:pt x="0" y="2926080"/>
                </a:lnTo>
                <a:close/>
              </a:path>
            </a:pathLst>
          </a:custGeom>
          <a:blipFill xmlns:a="http://schemas.openxmlformats.org/drawingml/2006/main">
            <a:blip xmlns:r="http://schemas.openxmlformats.org/officeDocument/2006/relationships" r:embed="R946a008e891c4262">
              <a:alphaModFix amt="0"/>
            </a:blip>
            <a:stretch>
              <a:fillRect l="-1321" t="0" r="-1321" b="0"/>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7F245873-F4ED-42AB-9992-A920255AAEA9}"/>
              </a:ext>
            </a:extLst>
          </p:cNvPr>
          <p:cNvSpPr>
            <a:spLocks xmlns:a="http://schemas.openxmlformats.org/drawingml/2006/main" noGrp="1"/>
          </p:cNvSpPr>
          <p:nvPr/>
        </p:nvSpPr>
        <p:spPr>
          <a:xfrm xmlns:a="http://schemas.openxmlformats.org/drawingml/2006/main" rot="0" flipH="0" flipV="0">
            <a:off x="1280160" y="2180273"/>
            <a:ext cx="5486400" cy="220884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7280"/>
              </a:lnSpc>
              <a:buNone/>
            </a:pPr>
            <a:r>
              <a:rPr sz="14400" b="1">
                <a:solidFill>
                  <a:srgbClr val="F2A33A"/>
                </a:solidFill>
                <a:latin typeface="Cambria Bold"/>
                <a:ea typeface="Cambria Bold"/>
                <a:cs typeface="Cambria Bold"/>
              </a:rPr>
              <a:t>04</a:t>
            </a:r>
          </a:p>
        </p:txBody>
      </p:sp>
      <p:sp>
        <p:nvSpPr>
          <p:cNvPr id="6" name="Freeform 6">
            <a:extLst xmlns:a="http://schemas.openxmlformats.org/drawingml/2006/main">
              <a:ext uri="{FF2B5EF4-FFF2-40B4-BE49-F238E27FC236}">
                <a16:creationId xmlns:a16="http://schemas.microsoft.com/office/drawing/2014/main" id="{AE01397C-6976-49D1-A6AD-728236894749}"/>
              </a:ext>
            </a:extLst>
          </p:cNvPr>
          <p:cNvSpPr>
            <a:spLocks xmlns:a="http://schemas.openxmlformats.org/drawingml/2006/main" noGrp="1"/>
          </p:cNvSpPr>
          <p:nvPr/>
        </p:nvSpPr>
        <p:spPr>
          <a:xfrm xmlns:a="http://schemas.openxmlformats.org/drawingml/2006/main" rot="0" flipH="0" flipV="0">
            <a:off x="1280160" y="4572000"/>
            <a:ext cx="15727679" cy="1645920"/>
          </a:xfrm>
          <a:custGeom xmlns:a="http://schemas.openxmlformats.org/drawingml/2006/main">
            <a:rect l="l" t="t" r="r" b="b"/>
            <a:pathLst>
              <a:path w="20970239" h="2194560">
                <a:moveTo>
                  <a:pt x="0" y="0"/>
                </a:moveTo>
                <a:lnTo>
                  <a:pt x="20970239" y="0"/>
                </a:lnTo>
                <a:lnTo>
                  <a:pt x="20970239" y="2194560"/>
                </a:lnTo>
                <a:lnTo>
                  <a:pt x="0" y="2194560"/>
                </a:lnTo>
                <a:close/>
              </a:path>
            </a:pathLst>
          </a:custGeom>
          <a:blipFill xmlns:a="http://schemas.openxmlformats.org/drawingml/2006/main">
            <a:blip xmlns:r="http://schemas.openxmlformats.org/officeDocument/2006/relationships" r:embed="R946a008e891c4262">
              <a:alphaModFix amt="0"/>
            </a:blip>
            <a:stretch>
              <a:fillRect l="0" t="-136190" r="0" b="-136190"/>
            </a:stretch>
          </a:blip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FC577929-3EA1-49D0-A055-3A8CF3F46F83}"/>
              </a:ext>
            </a:extLst>
          </p:cNvPr>
          <p:cNvSpPr>
            <a:spLocks xmlns:a="http://schemas.openxmlformats.org/drawingml/2006/main" noGrp="1"/>
          </p:cNvSpPr>
          <p:nvPr/>
        </p:nvSpPr>
        <p:spPr>
          <a:xfrm xmlns:a="http://schemas.openxmlformats.org/drawingml/2006/main" rot="0" flipH="0" flipV="0">
            <a:off x="1280160" y="4557713"/>
            <a:ext cx="15727680" cy="166020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8640"/>
              </a:lnSpc>
              <a:buNone/>
            </a:pPr>
            <a:r>
              <a:rPr sz="7200" b="1">
                <a:solidFill>
                  <a:srgbClr val="FFFFFF"/>
                </a:solidFill>
                <a:latin typeface="Cambria Bold"/>
                <a:ea typeface="Cambria Bold"/>
                <a:cs typeface="Cambria Bold"/>
              </a:rPr>
              <a:t>Drivers y tácticas</a:t>
            </a:r>
          </a:p>
        </p:txBody>
      </p:sp>
      <p:sp>
        <p:nvSpPr>
          <p:cNvPr id="8" name="18">
            <a:extLst xmlns:a="http://schemas.openxmlformats.org/drawingml/2006/main">
              <a:ext uri="{FF2B5EF4-FFF2-40B4-BE49-F238E27FC236}">
                <a16:creationId xmlns:a16="http://schemas.microsoft.com/office/drawing/2014/main" id="{9311B0CB-A487-4994-88CD-27B4D9B3B017}"/>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18</a:t>
            </a:r>
          </a:p>
        </p:txBody>
      </p:sp>
    </p:spTree>
    <p:extLst>
      <p:ext uri="{BB962C8B-B14F-4D97-AF65-F5344CB8AC3E}">
        <p14:creationId xmlns:p14="http://schemas.microsoft.com/office/powerpoint/2010/main" val="79040982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0CF4F90-672F-4BDD-82E0-F0EF9A6120E8}"/>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06465ed284744df3">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5" name="TextBox 5">
            <a:extLst xmlns:a="http://schemas.openxmlformats.org/drawingml/2006/main">
              <a:ext uri="{FF2B5EF4-FFF2-40B4-BE49-F238E27FC236}">
                <a16:creationId xmlns:a16="http://schemas.microsoft.com/office/drawing/2014/main" id="{686C1B57-7EF4-46F2-BC12-DF744578C062}"/>
              </a:ext>
            </a:extLst>
          </p:cNvPr>
          <p:cNvSpPr>
            <a:spLocks xmlns:a="http://schemas.openxmlformats.org/drawingml/2006/main" noGrp="1"/>
          </p:cNvSpPr>
          <p:nvPr/>
        </p:nvSpPr>
        <p:spPr>
          <a:xfrm xmlns:a="http://schemas.openxmlformats.org/drawingml/2006/main">
            <a:off x="914400" y="1853565"/>
            <a:ext cx="16459200" cy="9810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359"/>
              </a:lnSpc>
              <a:buNone/>
            </a:pPr>
            <a:r>
              <a:rPr sz="2799">
                <a:solidFill>
                  <a:srgbClr val="5B6B7A"/>
                </a:solidFill>
                <a:latin typeface="Calibri (MS)"/>
                <a:ea typeface="Calibri (MS)"/>
                <a:cs typeface="Calibri (MS)"/>
              </a:rPr>
              <a:t>Elegidos por su aporte a los Business Goals y a los usuarios del segmento inicial, no por el orden del catálogo.</a:t>
            </a:r>
          </a:p>
        </p:txBody>
      </p:sp>
      <p:sp>
        <p:nvSpPr>
          <p:cNvPr id="7" name="Freeform 7">
            <a:extLst xmlns:a="http://schemas.openxmlformats.org/drawingml/2006/main">
              <a:ext uri="{FF2B5EF4-FFF2-40B4-BE49-F238E27FC236}">
                <a16:creationId xmlns:a16="http://schemas.microsoft.com/office/drawing/2014/main" id="{A8DA9957-6531-415B-AD9C-1EE2B33450BE}"/>
              </a:ext>
            </a:extLst>
          </p:cNvPr>
          <p:cNvSpPr>
            <a:spLocks xmlns:a="http://schemas.openxmlformats.org/drawingml/2006/main" noGrp="1"/>
          </p:cNvSpPr>
          <p:nvPr/>
        </p:nvSpPr>
        <p:spPr>
          <a:xfrm xmlns:a="http://schemas.openxmlformats.org/drawingml/2006/main" rot="0" flipH="0" flipV="0">
            <a:off x="901703" y="3004823"/>
            <a:ext cx="5328951" cy="4231671"/>
          </a:xfrm>
          <a:custGeom xmlns:a="http://schemas.openxmlformats.org/drawingml/2006/main">
            <a:rect l="l" t="t" r="r" b="b"/>
            <a:pathLst>
              <a:path w="7105269" h="5642229">
                <a:moveTo>
                  <a:pt x="0" y="0"/>
                </a:moveTo>
                <a:lnTo>
                  <a:pt x="7105269" y="0"/>
                </a:lnTo>
                <a:lnTo>
                  <a:pt x="7105269" y="5642229"/>
                </a:lnTo>
                <a:lnTo>
                  <a:pt x="0" y="5642229"/>
                </a:lnTo>
                <a:close/>
              </a:path>
            </a:pathLst>
          </a:custGeom>
          <a:solidFill xmlns:a="http://schemas.openxmlformats.org/drawingml/2006/main">
            <a:srgbClr val="0B2A43"/>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9" name="Freeform 9">
            <a:extLst xmlns:a="http://schemas.openxmlformats.org/drawingml/2006/main">
              <a:ext uri="{FF2B5EF4-FFF2-40B4-BE49-F238E27FC236}">
                <a16:creationId xmlns:a16="http://schemas.microsoft.com/office/drawing/2014/main" id="{DF432CEB-162C-4290-B457-E949B68AF9CD}"/>
              </a:ext>
            </a:extLst>
          </p:cNvPr>
          <p:cNvSpPr>
            <a:spLocks xmlns:a="http://schemas.openxmlformats.org/drawingml/2006/main" noGrp="1"/>
          </p:cNvSpPr>
          <p:nvPr/>
        </p:nvSpPr>
        <p:spPr>
          <a:xfrm xmlns:a="http://schemas.openxmlformats.org/drawingml/2006/main" rot="0" flipH="0" flipV="0">
            <a:off x="1188720" y="3200400"/>
            <a:ext cx="4754880" cy="822960"/>
          </a:xfrm>
          <a:custGeom xmlns:a="http://schemas.openxmlformats.org/drawingml/2006/main">
            <a:rect l="l" t="t" r="r" b="b"/>
            <a:pathLst>
              <a:path w="6339840" h="1097280">
                <a:moveTo>
                  <a:pt x="0" y="0"/>
                </a:moveTo>
                <a:lnTo>
                  <a:pt x="6339840" y="0"/>
                </a:lnTo>
                <a:lnTo>
                  <a:pt x="6339840" y="1097280"/>
                </a:lnTo>
                <a:lnTo>
                  <a:pt x="0" y="1097280"/>
                </a:lnTo>
                <a:close/>
              </a:path>
            </a:pathLst>
          </a:custGeom>
          <a:blipFill xmlns:a="http://schemas.openxmlformats.org/drawingml/2006/main">
            <a:blip xmlns:r="http://schemas.openxmlformats.org/officeDocument/2006/relationships" r:embed="R06465ed284744df3">
              <a:alphaModFix amt="0"/>
            </a:blip>
            <a:stretch>
              <a:fillRect l="0" t="-62580" r="0" b="-62580"/>
            </a:stretch>
          </a:blipFill>
        </p:spPr>
        <p:txBody>
          <a:bodyPr xmlns:a="http://schemas.openxmlformats.org/drawingml/2006/main"/>
          <a:lstStyle xmlns:a="http://schemas.openxmlformats.org/drawingml/2006/main"/>
          <a:p xmlns:a="http://schemas.openxmlformats.org/drawingml/2006/main">
            <a:endParaRPr/>
          </a:p>
        </p:txBody>
      </p:sp>
      <p:sp>
        <p:nvSpPr>
          <p:cNvPr id="10" name="TextBox 10">
            <a:extLst xmlns:a="http://schemas.openxmlformats.org/drawingml/2006/main">
              <a:ext uri="{FF2B5EF4-FFF2-40B4-BE49-F238E27FC236}">
                <a16:creationId xmlns:a16="http://schemas.microsoft.com/office/drawing/2014/main" id="{7A224FEF-4084-4E93-8D13-0EB90BE288E9}"/>
              </a:ext>
            </a:extLst>
          </p:cNvPr>
          <p:cNvSpPr>
            <a:spLocks xmlns:a="http://schemas.openxmlformats.org/drawingml/2006/main" noGrp="1"/>
          </p:cNvSpPr>
          <p:nvPr/>
        </p:nvSpPr>
        <p:spPr>
          <a:xfrm xmlns:a="http://schemas.openxmlformats.org/drawingml/2006/main" rot="0" flipH="0" flipV="0">
            <a:off x="1188720" y="3193257"/>
            <a:ext cx="4754880" cy="8301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b="1">
                <a:solidFill>
                  <a:srgbClr val="FFFFFF"/>
                </a:solidFill>
                <a:latin typeface="Cambria Bold"/>
                <a:ea typeface="Cambria Bold"/>
                <a:cs typeface="Cambria Bold"/>
              </a:rPr>
              <a:t>Disponibilidad</a:t>
            </a:r>
          </a:p>
        </p:txBody>
      </p:sp>
      <p:sp>
        <p:nvSpPr>
          <p:cNvPr id="11" name="TextBox 11">
            <a:extLst xmlns:a="http://schemas.openxmlformats.org/drawingml/2006/main">
              <a:ext uri="{FF2B5EF4-FFF2-40B4-BE49-F238E27FC236}">
                <a16:creationId xmlns:a16="http://schemas.microsoft.com/office/drawing/2014/main" id="{E6B2731A-A4F5-4F11-853A-E3EB35A432E2}"/>
              </a:ext>
            </a:extLst>
          </p:cNvPr>
          <p:cNvSpPr>
            <a:spLocks xmlns:a="http://schemas.openxmlformats.org/drawingml/2006/main" noGrp="1"/>
          </p:cNvSpPr>
          <p:nvPr/>
        </p:nvSpPr>
        <p:spPr>
          <a:xfrm xmlns:a="http://schemas.openxmlformats.org/drawingml/2006/main">
            <a:off x="1188720" y="4057650"/>
            <a:ext cx="4754880" cy="206883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Si el monitoreo se interrumpe, el producto pierde su razón de ser.</a:t>
            </a:r>
          </a:p>
        </p:txBody>
      </p:sp>
      <p:sp>
        <p:nvSpPr>
          <p:cNvPr id="13" name="Freeform 13">
            <a:extLst xmlns:a="http://schemas.openxmlformats.org/drawingml/2006/main">
              <a:ext uri="{FF2B5EF4-FFF2-40B4-BE49-F238E27FC236}">
                <a16:creationId xmlns:a16="http://schemas.microsoft.com/office/drawing/2014/main" id="{7097F52C-A2A0-4D71-8F87-4713908C7CC1}"/>
              </a:ext>
            </a:extLst>
          </p:cNvPr>
          <p:cNvSpPr>
            <a:spLocks xmlns:a="http://schemas.openxmlformats.org/drawingml/2006/main" noGrp="1"/>
          </p:cNvSpPr>
          <p:nvPr/>
        </p:nvSpPr>
        <p:spPr>
          <a:xfrm xmlns:a="http://schemas.openxmlformats.org/drawingml/2006/main" rot="0" flipH="0" flipV="0">
            <a:off x="1188720" y="6309360"/>
            <a:ext cx="4754880" cy="731520"/>
          </a:xfrm>
          <a:custGeom xmlns:a="http://schemas.openxmlformats.org/drawingml/2006/main">
            <a:rect l="l" t="t" r="r" b="b"/>
            <a:pathLst>
              <a:path w="6339840" h="975360">
                <a:moveTo>
                  <a:pt x="0" y="0"/>
                </a:moveTo>
                <a:lnTo>
                  <a:pt x="6339840" y="0"/>
                </a:lnTo>
                <a:lnTo>
                  <a:pt x="6339840" y="975360"/>
                </a:lnTo>
                <a:lnTo>
                  <a:pt x="0" y="975360"/>
                </a:lnTo>
                <a:close/>
              </a:path>
            </a:pathLst>
          </a:custGeom>
          <a:blipFill xmlns:a="http://schemas.openxmlformats.org/drawingml/2006/main">
            <a:blip xmlns:r="http://schemas.openxmlformats.org/officeDocument/2006/relationships" r:embed="R06465ed284744df3">
              <a:alphaModFix amt="0"/>
            </a:blip>
            <a:stretch>
              <a:fillRect l="0" t="-76652" r="0" b="-76652"/>
            </a:stretch>
          </a:blipFill>
        </p:spPr>
        <p:txBody>
          <a:bodyPr xmlns:a="http://schemas.openxmlformats.org/drawingml/2006/main"/>
          <a:lstStyle xmlns:a="http://schemas.openxmlformats.org/drawingml/2006/main"/>
          <a:p xmlns:a="http://schemas.openxmlformats.org/drawingml/2006/main">
            <a:endParaRPr/>
          </a:p>
        </p:txBody>
      </p:sp>
      <p:sp>
        <p:nvSpPr>
          <p:cNvPr id="14" name="TextBox 14">
            <a:extLst xmlns:a="http://schemas.openxmlformats.org/drawingml/2006/main">
              <a:ext uri="{FF2B5EF4-FFF2-40B4-BE49-F238E27FC236}">
                <a16:creationId xmlns:a16="http://schemas.microsoft.com/office/drawing/2014/main" id="{FAB0253D-C20C-4724-874C-469150567AD3}"/>
              </a:ext>
            </a:extLst>
          </p:cNvPr>
          <p:cNvSpPr>
            <a:spLocks xmlns:a="http://schemas.openxmlformats.org/drawingml/2006/main" noGrp="1"/>
          </p:cNvSpPr>
          <p:nvPr/>
        </p:nvSpPr>
        <p:spPr>
          <a:xfrm xmlns:a="http://schemas.openxmlformats.org/drawingml/2006/main" rot="0" flipH="0" flipV="0">
            <a:off x="1188720" y="6266498"/>
            <a:ext cx="4754880" cy="77438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20"/>
              </a:lnSpc>
              <a:buNone/>
            </a:pPr>
            <a:r>
              <a:rPr sz="2600" b="1">
                <a:solidFill>
                  <a:srgbClr val="F2A33A"/>
                </a:solidFill>
                <a:latin typeface="Calibri (MS) Bold"/>
                <a:ea typeface="Calibri (MS) Bold"/>
                <a:cs typeface="Calibri (MS) Bold"/>
              </a:rPr>
              <a:t>Objetivo: BG01</a:t>
            </a:r>
          </a:p>
        </p:txBody>
      </p:sp>
      <p:sp>
        <p:nvSpPr>
          <p:cNvPr id="16" name="Freeform 16">
            <a:extLst xmlns:a="http://schemas.openxmlformats.org/drawingml/2006/main">
              <a:ext uri="{FF2B5EF4-FFF2-40B4-BE49-F238E27FC236}">
                <a16:creationId xmlns:a16="http://schemas.microsoft.com/office/drawing/2014/main" id="{06A70F79-B824-4B5C-B21A-3E40AFD5287B}"/>
              </a:ext>
            </a:extLst>
          </p:cNvPr>
          <p:cNvSpPr>
            <a:spLocks xmlns:a="http://schemas.openxmlformats.org/drawingml/2006/main" noGrp="1"/>
          </p:cNvSpPr>
          <p:nvPr/>
        </p:nvSpPr>
        <p:spPr>
          <a:xfrm xmlns:a="http://schemas.openxmlformats.org/drawingml/2006/main" rot="0" flipH="0" flipV="0">
            <a:off x="6479543" y="3004823"/>
            <a:ext cx="5328951" cy="4231671"/>
          </a:xfrm>
          <a:custGeom xmlns:a="http://schemas.openxmlformats.org/drawingml/2006/main">
            <a:rect l="l" t="t" r="r" b="b"/>
            <a:pathLst>
              <a:path w="7105269" h="5642229">
                <a:moveTo>
                  <a:pt x="0" y="0"/>
                </a:moveTo>
                <a:lnTo>
                  <a:pt x="7105269" y="0"/>
                </a:lnTo>
                <a:lnTo>
                  <a:pt x="7105269" y="5642229"/>
                </a:lnTo>
                <a:lnTo>
                  <a:pt x="0" y="5642229"/>
                </a:lnTo>
                <a:close/>
              </a:path>
            </a:pathLst>
          </a:custGeom>
          <a:solidFill xmlns:a="http://schemas.openxmlformats.org/drawingml/2006/main">
            <a:srgbClr val="0B2A43"/>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8" name="Freeform 18">
            <a:extLst xmlns:a="http://schemas.openxmlformats.org/drawingml/2006/main">
              <a:ext uri="{FF2B5EF4-FFF2-40B4-BE49-F238E27FC236}">
                <a16:creationId xmlns:a16="http://schemas.microsoft.com/office/drawing/2014/main" id="{057859B9-E566-4DD0-9CD3-2BDC2F7F81A7}"/>
              </a:ext>
            </a:extLst>
          </p:cNvPr>
          <p:cNvSpPr>
            <a:spLocks xmlns:a="http://schemas.openxmlformats.org/drawingml/2006/main" noGrp="1"/>
          </p:cNvSpPr>
          <p:nvPr/>
        </p:nvSpPr>
        <p:spPr>
          <a:xfrm xmlns:a="http://schemas.openxmlformats.org/drawingml/2006/main" rot="0" flipH="0" flipV="0">
            <a:off x="6766560" y="3200400"/>
            <a:ext cx="4754880" cy="822960"/>
          </a:xfrm>
          <a:custGeom xmlns:a="http://schemas.openxmlformats.org/drawingml/2006/main">
            <a:rect l="l" t="t" r="r" b="b"/>
            <a:pathLst>
              <a:path w="6339840" h="1097280">
                <a:moveTo>
                  <a:pt x="0" y="0"/>
                </a:moveTo>
                <a:lnTo>
                  <a:pt x="6339840" y="0"/>
                </a:lnTo>
                <a:lnTo>
                  <a:pt x="6339840" y="1097280"/>
                </a:lnTo>
                <a:lnTo>
                  <a:pt x="0" y="1097280"/>
                </a:lnTo>
                <a:close/>
              </a:path>
            </a:pathLst>
          </a:custGeom>
          <a:blipFill xmlns:a="http://schemas.openxmlformats.org/drawingml/2006/main">
            <a:blip xmlns:r="http://schemas.openxmlformats.org/officeDocument/2006/relationships" r:embed="R06465ed284744df3">
              <a:alphaModFix amt="0"/>
            </a:blip>
            <a:stretch>
              <a:fillRect l="0" t="-62580" r="0" b="-62580"/>
            </a:stretch>
          </a:blipFill>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3B96B49A-C6B2-4936-BAB3-8FC2B8842EED}"/>
              </a:ext>
            </a:extLst>
          </p:cNvPr>
          <p:cNvSpPr>
            <a:spLocks xmlns:a="http://schemas.openxmlformats.org/drawingml/2006/main" noGrp="1"/>
          </p:cNvSpPr>
          <p:nvPr/>
        </p:nvSpPr>
        <p:spPr>
          <a:xfrm xmlns:a="http://schemas.openxmlformats.org/drawingml/2006/main" rot="0" flipH="0" flipV="0">
            <a:off x="6766560" y="3193257"/>
            <a:ext cx="4754880" cy="8301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b="1">
                <a:solidFill>
                  <a:srgbClr val="FFFFFF"/>
                </a:solidFill>
                <a:latin typeface="Cambria Bold"/>
                <a:ea typeface="Cambria Bold"/>
                <a:cs typeface="Cambria Bold"/>
              </a:rPr>
              <a:t>Rendimiento</a:t>
            </a:r>
          </a:p>
        </p:txBody>
      </p:sp>
      <p:sp>
        <p:nvSpPr>
          <p:cNvPr id="20" name="TextBox 20">
            <a:extLst xmlns:a="http://schemas.openxmlformats.org/drawingml/2006/main">
              <a:ext uri="{FF2B5EF4-FFF2-40B4-BE49-F238E27FC236}">
                <a16:creationId xmlns:a16="http://schemas.microsoft.com/office/drawing/2014/main" id="{53C497D8-944F-4AF0-AEB1-E5D1CFACB6FE}"/>
              </a:ext>
            </a:extLst>
          </p:cNvPr>
          <p:cNvSpPr>
            <a:spLocks xmlns:a="http://schemas.openxmlformats.org/drawingml/2006/main" noGrp="1"/>
          </p:cNvSpPr>
          <p:nvPr/>
        </p:nvSpPr>
        <p:spPr>
          <a:xfrm xmlns:a="http://schemas.openxmlformats.org/drawingml/2006/main">
            <a:off x="6766560" y="4057650"/>
            <a:ext cx="4754880" cy="206883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La alerta debe llegar en segundos para actuar en menos de 15 minutos.</a:t>
            </a:r>
          </a:p>
        </p:txBody>
      </p:sp>
      <p:sp>
        <p:nvSpPr>
          <p:cNvPr id="22" name="Freeform 22">
            <a:extLst xmlns:a="http://schemas.openxmlformats.org/drawingml/2006/main">
              <a:ext uri="{FF2B5EF4-FFF2-40B4-BE49-F238E27FC236}">
                <a16:creationId xmlns:a16="http://schemas.microsoft.com/office/drawing/2014/main" id="{49C07AE7-0FF5-49F2-9DB6-A70498A99F74}"/>
              </a:ext>
            </a:extLst>
          </p:cNvPr>
          <p:cNvSpPr>
            <a:spLocks xmlns:a="http://schemas.openxmlformats.org/drawingml/2006/main" noGrp="1"/>
          </p:cNvSpPr>
          <p:nvPr/>
        </p:nvSpPr>
        <p:spPr>
          <a:xfrm xmlns:a="http://schemas.openxmlformats.org/drawingml/2006/main" rot="0" flipH="0" flipV="0">
            <a:off x="6766560" y="6309360"/>
            <a:ext cx="4754880" cy="731520"/>
          </a:xfrm>
          <a:custGeom xmlns:a="http://schemas.openxmlformats.org/drawingml/2006/main">
            <a:rect l="l" t="t" r="r" b="b"/>
            <a:pathLst>
              <a:path w="6339840" h="975360">
                <a:moveTo>
                  <a:pt x="0" y="0"/>
                </a:moveTo>
                <a:lnTo>
                  <a:pt x="6339840" y="0"/>
                </a:lnTo>
                <a:lnTo>
                  <a:pt x="6339840" y="975360"/>
                </a:lnTo>
                <a:lnTo>
                  <a:pt x="0" y="975360"/>
                </a:lnTo>
                <a:close/>
              </a:path>
            </a:pathLst>
          </a:custGeom>
          <a:blipFill xmlns:a="http://schemas.openxmlformats.org/drawingml/2006/main">
            <a:blip xmlns:r="http://schemas.openxmlformats.org/officeDocument/2006/relationships" r:embed="R06465ed284744df3">
              <a:alphaModFix amt="0"/>
            </a:blip>
            <a:stretch>
              <a:fillRect l="0" t="-76652" r="0" b="-76652"/>
            </a:stretch>
          </a:blipFill>
        </p:spPr>
        <p:txBody>
          <a:bodyPr xmlns:a="http://schemas.openxmlformats.org/drawingml/2006/main"/>
          <a:lstStyle xmlns:a="http://schemas.openxmlformats.org/drawingml/2006/main"/>
          <a:p xmlns:a="http://schemas.openxmlformats.org/drawingml/2006/main">
            <a:endParaRPr/>
          </a:p>
        </p:txBody>
      </p:sp>
      <p:sp>
        <p:nvSpPr>
          <p:cNvPr id="23" name="TextBox 23">
            <a:extLst xmlns:a="http://schemas.openxmlformats.org/drawingml/2006/main">
              <a:ext uri="{FF2B5EF4-FFF2-40B4-BE49-F238E27FC236}">
                <a16:creationId xmlns:a16="http://schemas.microsoft.com/office/drawing/2014/main" id="{6560E7CA-7D01-419C-9EA1-D9C90F2CBF45}"/>
              </a:ext>
            </a:extLst>
          </p:cNvPr>
          <p:cNvSpPr>
            <a:spLocks xmlns:a="http://schemas.openxmlformats.org/drawingml/2006/main" noGrp="1"/>
          </p:cNvSpPr>
          <p:nvPr/>
        </p:nvSpPr>
        <p:spPr>
          <a:xfrm xmlns:a="http://schemas.openxmlformats.org/drawingml/2006/main" rot="0" flipH="0" flipV="0">
            <a:off x="6766560" y="6266498"/>
            <a:ext cx="4754880" cy="77438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20"/>
              </a:lnSpc>
              <a:buNone/>
            </a:pPr>
            <a:r>
              <a:rPr sz="2600" b="1">
                <a:solidFill>
                  <a:srgbClr val="F2A33A"/>
                </a:solidFill>
                <a:latin typeface="Calibri (MS) Bold"/>
                <a:ea typeface="Calibri (MS) Bold"/>
                <a:cs typeface="Calibri (MS) Bold"/>
              </a:rPr>
              <a:t>Objetivo: BG01, BG02</a:t>
            </a:r>
          </a:p>
        </p:txBody>
      </p:sp>
      <p:sp>
        <p:nvSpPr>
          <p:cNvPr id="25" name="Freeform 25">
            <a:extLst xmlns:a="http://schemas.openxmlformats.org/drawingml/2006/main">
              <a:ext uri="{FF2B5EF4-FFF2-40B4-BE49-F238E27FC236}">
                <a16:creationId xmlns:a16="http://schemas.microsoft.com/office/drawing/2014/main" id="{429CA44F-DE02-499D-98B1-5898B16F8CB9}"/>
              </a:ext>
            </a:extLst>
          </p:cNvPr>
          <p:cNvSpPr>
            <a:spLocks xmlns:a="http://schemas.openxmlformats.org/drawingml/2006/main" noGrp="1"/>
          </p:cNvSpPr>
          <p:nvPr/>
        </p:nvSpPr>
        <p:spPr>
          <a:xfrm xmlns:a="http://schemas.openxmlformats.org/drawingml/2006/main" rot="0" flipH="0" flipV="0">
            <a:off x="12057383" y="3004823"/>
            <a:ext cx="5328951" cy="4231671"/>
          </a:xfrm>
          <a:custGeom xmlns:a="http://schemas.openxmlformats.org/drawingml/2006/main">
            <a:rect l="l" t="t" r="r" b="b"/>
            <a:pathLst>
              <a:path w="7105269" h="5642229">
                <a:moveTo>
                  <a:pt x="0" y="0"/>
                </a:moveTo>
                <a:lnTo>
                  <a:pt x="7105269" y="0"/>
                </a:lnTo>
                <a:lnTo>
                  <a:pt x="7105269" y="5642229"/>
                </a:lnTo>
                <a:lnTo>
                  <a:pt x="0" y="5642229"/>
                </a:lnTo>
                <a:close/>
              </a:path>
            </a:pathLst>
          </a:custGeom>
          <a:solidFill xmlns:a="http://schemas.openxmlformats.org/drawingml/2006/main">
            <a:srgbClr val="0B2A43"/>
          </a:solidFill>
          <a:ln xmlns:a="http://schemas.openxmlformats.org/drawingml/2006/main" w="25400" cap="sq">
            <a:solidFill>
              <a:srgbClr val="0B2A43"/>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7" name="Freeform 27">
            <a:extLst xmlns:a="http://schemas.openxmlformats.org/drawingml/2006/main">
              <a:ext uri="{FF2B5EF4-FFF2-40B4-BE49-F238E27FC236}">
                <a16:creationId xmlns:a16="http://schemas.microsoft.com/office/drawing/2014/main" id="{F0709404-FCF2-4E9A-826A-CF4169CDAEAB}"/>
              </a:ext>
            </a:extLst>
          </p:cNvPr>
          <p:cNvSpPr>
            <a:spLocks xmlns:a="http://schemas.openxmlformats.org/drawingml/2006/main" noGrp="1"/>
          </p:cNvSpPr>
          <p:nvPr/>
        </p:nvSpPr>
        <p:spPr>
          <a:xfrm xmlns:a="http://schemas.openxmlformats.org/drawingml/2006/main" rot="0" flipH="0" flipV="0">
            <a:off x="12344400" y="3200400"/>
            <a:ext cx="4754880" cy="822960"/>
          </a:xfrm>
          <a:custGeom xmlns:a="http://schemas.openxmlformats.org/drawingml/2006/main">
            <a:rect l="l" t="t" r="r" b="b"/>
            <a:pathLst>
              <a:path w="6339840" h="1097280">
                <a:moveTo>
                  <a:pt x="0" y="0"/>
                </a:moveTo>
                <a:lnTo>
                  <a:pt x="6339840" y="0"/>
                </a:lnTo>
                <a:lnTo>
                  <a:pt x="6339840" y="1097280"/>
                </a:lnTo>
                <a:lnTo>
                  <a:pt x="0" y="1097280"/>
                </a:lnTo>
                <a:close/>
              </a:path>
            </a:pathLst>
          </a:custGeom>
          <a:blipFill xmlns:a="http://schemas.openxmlformats.org/drawingml/2006/main">
            <a:blip xmlns:r="http://schemas.openxmlformats.org/officeDocument/2006/relationships" r:embed="R06465ed284744df3">
              <a:alphaModFix amt="0"/>
            </a:blip>
            <a:stretch>
              <a:fillRect l="0" t="-62580" r="0" b="-62580"/>
            </a:stretch>
          </a:blipFill>
        </p:spPr>
        <p:txBody>
          <a:bodyPr xmlns:a="http://schemas.openxmlformats.org/drawingml/2006/main"/>
          <a:lstStyle xmlns:a="http://schemas.openxmlformats.org/drawingml/2006/main"/>
          <a:p xmlns:a="http://schemas.openxmlformats.org/drawingml/2006/main">
            <a:endParaRPr/>
          </a:p>
        </p:txBody>
      </p:sp>
      <p:sp>
        <p:nvSpPr>
          <p:cNvPr id="28" name="TextBox 28">
            <a:extLst xmlns:a="http://schemas.openxmlformats.org/drawingml/2006/main">
              <a:ext uri="{FF2B5EF4-FFF2-40B4-BE49-F238E27FC236}">
                <a16:creationId xmlns:a16="http://schemas.microsoft.com/office/drawing/2014/main" id="{4EBE8657-ED20-4C6F-9B00-C70462E85B4B}"/>
              </a:ext>
            </a:extLst>
          </p:cNvPr>
          <p:cNvSpPr>
            <a:spLocks xmlns:a="http://schemas.openxmlformats.org/drawingml/2006/main" noGrp="1"/>
          </p:cNvSpPr>
          <p:nvPr/>
        </p:nvSpPr>
        <p:spPr>
          <a:xfrm xmlns:a="http://schemas.openxmlformats.org/drawingml/2006/main" rot="0" flipH="0" flipV="0">
            <a:off x="12344400" y="3193257"/>
            <a:ext cx="4754880" cy="8301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799"/>
              </a:lnSpc>
              <a:buNone/>
            </a:pPr>
            <a:r>
              <a:rPr sz="3999" b="1">
                <a:solidFill>
                  <a:srgbClr val="FFFFFF"/>
                </a:solidFill>
                <a:latin typeface="Cambria Bold"/>
                <a:ea typeface="Cambria Bold"/>
                <a:cs typeface="Cambria Bold"/>
              </a:rPr>
              <a:t>Usabilidad</a:t>
            </a:r>
          </a:p>
        </p:txBody>
      </p:sp>
      <p:sp>
        <p:nvSpPr>
          <p:cNvPr id="29" name="TextBox 29">
            <a:extLst xmlns:a="http://schemas.openxmlformats.org/drawingml/2006/main">
              <a:ext uri="{FF2B5EF4-FFF2-40B4-BE49-F238E27FC236}">
                <a16:creationId xmlns:a16="http://schemas.microsoft.com/office/drawing/2014/main" id="{CD3BD9ED-BD49-4F33-8B65-04DD3B7B2B0A}"/>
              </a:ext>
            </a:extLst>
          </p:cNvPr>
          <p:cNvSpPr>
            <a:spLocks xmlns:a="http://schemas.openxmlformats.org/drawingml/2006/main" noGrp="1"/>
          </p:cNvSpPr>
          <p:nvPr/>
        </p:nvSpPr>
        <p:spPr>
          <a:xfrm xmlns:a="http://schemas.openxmlformats.org/drawingml/2006/main">
            <a:off x="12344400" y="4057650"/>
            <a:ext cx="4754880" cy="206883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a:solidFill>
                  <a:srgbClr val="EAF3F6"/>
                </a:solidFill>
                <a:latin typeface="Calibri (MS)"/>
                <a:ea typeface="Calibri (MS)"/>
                <a:cs typeface="Calibri (MS)"/>
              </a:rPr>
              <a:t>El usuario no tiene perfil técnico y atiende desde el celular.</a:t>
            </a:r>
          </a:p>
        </p:txBody>
      </p:sp>
      <p:sp>
        <p:nvSpPr>
          <p:cNvPr id="31" name="Freeform 31">
            <a:extLst xmlns:a="http://schemas.openxmlformats.org/drawingml/2006/main">
              <a:ext uri="{FF2B5EF4-FFF2-40B4-BE49-F238E27FC236}">
                <a16:creationId xmlns:a16="http://schemas.microsoft.com/office/drawing/2014/main" id="{3B24247D-3DB6-4007-9CD1-F5327EE4A16E}"/>
              </a:ext>
            </a:extLst>
          </p:cNvPr>
          <p:cNvSpPr>
            <a:spLocks xmlns:a="http://schemas.openxmlformats.org/drawingml/2006/main" noGrp="1"/>
          </p:cNvSpPr>
          <p:nvPr/>
        </p:nvSpPr>
        <p:spPr>
          <a:xfrm xmlns:a="http://schemas.openxmlformats.org/drawingml/2006/main" rot="0" flipH="0" flipV="0">
            <a:off x="12344400" y="6309360"/>
            <a:ext cx="4754880" cy="731520"/>
          </a:xfrm>
          <a:custGeom xmlns:a="http://schemas.openxmlformats.org/drawingml/2006/main">
            <a:rect l="l" t="t" r="r" b="b"/>
            <a:pathLst>
              <a:path w="6339840" h="975360">
                <a:moveTo>
                  <a:pt x="0" y="0"/>
                </a:moveTo>
                <a:lnTo>
                  <a:pt x="6339840" y="0"/>
                </a:lnTo>
                <a:lnTo>
                  <a:pt x="6339840" y="975360"/>
                </a:lnTo>
                <a:lnTo>
                  <a:pt x="0" y="975360"/>
                </a:lnTo>
                <a:close/>
              </a:path>
            </a:pathLst>
          </a:custGeom>
          <a:blipFill xmlns:a="http://schemas.openxmlformats.org/drawingml/2006/main">
            <a:blip xmlns:r="http://schemas.openxmlformats.org/officeDocument/2006/relationships" r:embed="R06465ed284744df3">
              <a:alphaModFix amt="0"/>
            </a:blip>
            <a:stretch>
              <a:fillRect l="0" t="-76652" r="0" b="-76652"/>
            </a:stretch>
          </a:blipFill>
        </p:spPr>
        <p:txBody>
          <a:bodyPr xmlns:a="http://schemas.openxmlformats.org/drawingml/2006/main"/>
          <a:lstStyle xmlns:a="http://schemas.openxmlformats.org/drawingml/2006/main"/>
          <a:p xmlns:a="http://schemas.openxmlformats.org/drawingml/2006/main">
            <a:endParaRPr/>
          </a:p>
        </p:txBody>
      </p:sp>
      <p:sp>
        <p:nvSpPr>
          <p:cNvPr id="32" name="TextBox 32">
            <a:extLst xmlns:a="http://schemas.openxmlformats.org/drawingml/2006/main">
              <a:ext uri="{FF2B5EF4-FFF2-40B4-BE49-F238E27FC236}">
                <a16:creationId xmlns:a16="http://schemas.microsoft.com/office/drawing/2014/main" id="{00A4D883-8F6F-4813-8CA4-FD16D56C765A}"/>
              </a:ext>
            </a:extLst>
          </p:cNvPr>
          <p:cNvSpPr>
            <a:spLocks xmlns:a="http://schemas.openxmlformats.org/drawingml/2006/main" noGrp="1"/>
          </p:cNvSpPr>
          <p:nvPr/>
        </p:nvSpPr>
        <p:spPr>
          <a:xfrm xmlns:a="http://schemas.openxmlformats.org/drawingml/2006/main" rot="0" flipH="0" flipV="0">
            <a:off x="12344400" y="6266498"/>
            <a:ext cx="4754880" cy="77438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20"/>
              </a:lnSpc>
              <a:buNone/>
            </a:pPr>
            <a:r>
              <a:rPr sz="2600" b="1">
                <a:solidFill>
                  <a:srgbClr val="F2A33A"/>
                </a:solidFill>
                <a:latin typeface="Calibri (MS) Bold"/>
                <a:ea typeface="Calibri (MS) Bold"/>
                <a:cs typeface="Calibri (MS) Bold"/>
              </a:rPr>
              <a:t>Objetivo: BG02</a:t>
            </a:r>
          </a:p>
        </p:txBody>
      </p:sp>
      <p:sp>
        <p:nvSpPr>
          <p:cNvPr id="34" name="Freeform 34">
            <a:extLst xmlns:a="http://schemas.openxmlformats.org/drawingml/2006/main">
              <a:ext uri="{FF2B5EF4-FFF2-40B4-BE49-F238E27FC236}">
                <a16:creationId xmlns:a16="http://schemas.microsoft.com/office/drawing/2014/main" id="{349E3B2D-C681-439A-B878-E38470BAB590}"/>
              </a:ext>
            </a:extLst>
          </p:cNvPr>
          <p:cNvSpPr>
            <a:spLocks xmlns:a="http://schemas.openxmlformats.org/drawingml/2006/main" noGrp="1"/>
          </p:cNvSpPr>
          <p:nvPr/>
        </p:nvSpPr>
        <p:spPr>
          <a:xfrm xmlns:a="http://schemas.openxmlformats.org/drawingml/2006/main" rot="0" flipH="0" flipV="0">
            <a:off x="901703" y="7576823"/>
            <a:ext cx="16484632" cy="1945671"/>
          </a:xfrm>
          <a:custGeom xmlns:a="http://schemas.openxmlformats.org/drawingml/2006/main">
            <a:rect l="l" t="t" r="r" b="b"/>
            <a:pathLst>
              <a:path w="21979510" h="2594229">
                <a:moveTo>
                  <a:pt x="0" y="0"/>
                </a:moveTo>
                <a:lnTo>
                  <a:pt x="21979510" y="0"/>
                </a:lnTo>
                <a:lnTo>
                  <a:pt x="21979510" y="2594229"/>
                </a:lnTo>
                <a:lnTo>
                  <a:pt x="0" y="259422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35" name="TextBox 35">
            <a:extLst xmlns:a="http://schemas.openxmlformats.org/drawingml/2006/main">
              <a:ext uri="{FF2B5EF4-FFF2-40B4-BE49-F238E27FC236}">
                <a16:creationId xmlns:a16="http://schemas.microsoft.com/office/drawing/2014/main" id="{46695F9E-2BA7-4198-AA6F-D95809F094DF}"/>
              </a:ext>
            </a:extLst>
          </p:cNvPr>
          <p:cNvSpPr>
            <a:spLocks xmlns:a="http://schemas.openxmlformats.org/drawingml/2006/main" noGrp="1"/>
          </p:cNvSpPr>
          <p:nvPr/>
        </p:nvSpPr>
        <p:spPr>
          <a:xfrm xmlns:a="http://schemas.openxmlformats.org/drawingml/2006/main">
            <a:off x="1188720" y="7762875"/>
            <a:ext cx="15910560" cy="4265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359"/>
              </a:lnSpc>
              <a:buNone/>
            </a:pPr>
            <a:r>
              <a:rPr sz="2799" b="1">
                <a:solidFill>
                  <a:srgbClr val="0B2A43"/>
                </a:solidFill>
                <a:latin typeface="Cambria Bold"/>
                <a:ea typeface="Cambria Bold"/>
                <a:cs typeface="Cambria Bold"/>
              </a:rPr>
              <a:t>Otros atributos siguen siendo necesarios</a:t>
            </a:r>
          </a:p>
        </p:txBody>
      </p:sp>
      <p:sp>
        <p:nvSpPr>
          <p:cNvPr id="36" name="TextBox 36">
            <a:extLst xmlns:a="http://schemas.openxmlformats.org/drawingml/2006/main">
              <a:ext uri="{FF2B5EF4-FFF2-40B4-BE49-F238E27FC236}">
                <a16:creationId xmlns:a16="http://schemas.microsoft.com/office/drawing/2014/main" id="{05B08915-1212-4281-A62B-E630937D188A}"/>
              </a:ext>
            </a:extLst>
          </p:cNvPr>
          <p:cNvSpPr>
            <a:spLocks xmlns:a="http://schemas.openxmlformats.org/drawingml/2006/main" noGrp="1"/>
          </p:cNvSpPr>
          <p:nvPr/>
        </p:nvSpPr>
        <p:spPr>
          <a:xfrm xmlns:a="http://schemas.openxmlformats.org/drawingml/2006/main">
            <a:off x="1188720" y="8483346"/>
            <a:ext cx="15910560" cy="7924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2475"/>
            </a:defPPr>
            <a:lvl1pPr>
              <a:defRPr sz="2475"/>
            </a:lvl1pPr>
            <a:lvl2pPr>
              <a:defRPr sz="2475"/>
            </a:lvl2pPr>
            <a:lvl3pPr>
              <a:defRPr sz="2475"/>
            </a:lvl3pPr>
            <a:lvl4pPr>
              <a:defRPr sz="2475"/>
            </a:lvl4pPr>
            <a:lvl5pPr>
              <a:defRPr sz="2475"/>
            </a:lvl5pPr>
            <a:lvl6pPr>
              <a:defRPr sz="2475"/>
            </a:lvl6pPr>
            <a:lvl7pPr>
              <a:defRPr sz="2475"/>
            </a:lvl7pPr>
            <a:lvl8pPr>
              <a:defRPr sz="2475"/>
            </a:lvl8pPr>
            <a:lvl9pPr>
              <a:defRPr sz="2475"/>
            </a:lvl9pPr>
          </a:lstStyle>
          <a:p xmlns:a="http://schemas.openxmlformats.org/drawingml/2006/main">
            <a:pPr algn="l">
              <a:lnSpc>
                <a:spcPts val="3120"/>
              </a:lnSpc>
              <a:buNone/>
              <a:defRPr sz="2475"/>
            </a:pPr>
            <a:r>
              <a:rPr sz="2475">
                <a:solidFill>
                  <a:srgbClr val="1F2D3A"/>
                </a:solidFill>
                <a:latin typeface="Calibri (MS)"/>
                <a:ea typeface="Calibri (MS)"/>
                <a:cs typeface="Calibri (MS)"/>
              </a:rPr>
              <a:t>No profundizados en estas iteraciones. OIDC y Stripe no sustituyen permisos, aislamiento entre organizaciones ni protección de las APIs.</a:t>
            </a:r>
          </a:p>
        </p:txBody>
      </p:sp>
      <p:sp>
        <p:nvSpPr>
          <p:cNvPr id="37" name="TextBox 37">
            <a:extLst xmlns:a="http://schemas.openxmlformats.org/drawingml/2006/main">
              <a:ext uri="{FF2B5EF4-FFF2-40B4-BE49-F238E27FC236}">
                <a16:creationId xmlns:a16="http://schemas.microsoft.com/office/drawing/2014/main" id="{55EFCDCA-6F1D-44A7-BED9-B8BCC58CD671}"/>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19</a:t>
            </a:r>
          </a:p>
        </p:txBody>
      </p:sp>
      <p:sp>
        <p:nvSpPr>
          <p:cNvPr id="38" name="Drivers arquitectónicos: 3 atributos de calid">
            <a:extLst xmlns:a="http://schemas.openxmlformats.org/drawingml/2006/main">
              <a:ext uri="{FF2B5EF4-FFF2-40B4-BE49-F238E27FC236}">
                <a16:creationId xmlns:a16="http://schemas.microsoft.com/office/drawing/2014/main" id="{01C0B1D3-9B0A-46EB-A339-10722FD8ACA6}"/>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Drivers arquitectónicos: 3 atributos de calidad</a:t>
            </a:r>
          </a:p>
        </p:txBody>
      </p:sp>
    </p:spTree>
    <p:extLst>
      <p:ext uri="{BB962C8B-B14F-4D97-AF65-F5344CB8AC3E}">
        <p14:creationId xmlns:p14="http://schemas.microsoft.com/office/powerpoint/2010/main" val="61725996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BE64B33D-5C8B-4EBE-9D94-DB44A3045770}"/>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a3bb62a16c2e410b">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59BBC9BB-1328-40D5-8CA5-4801DFA9A6E1}"/>
              </a:ext>
            </a:extLst>
          </p:cNvPr>
          <p:cNvSpPr>
            <a:spLocks xmlns:a="http://schemas.openxmlformats.org/drawingml/2006/main" noGrp="1"/>
          </p:cNvSpPr>
          <p:nvPr/>
        </p:nvSpPr>
        <p:spPr>
          <a:xfrm xmlns:a="http://schemas.openxmlformats.org/drawingml/2006/main" rot="0" flipH="0" flipV="0">
            <a:off x="2273303" y="2181863"/>
            <a:ext cx="1305496" cy="1305496"/>
          </a:xfrm>
          <a:custGeom xmlns:a="http://schemas.openxmlformats.org/drawingml/2006/main">
            <a:rect l="l" t="t" r="r" b="b"/>
            <a:pathLst>
              <a:path w="1740662" h="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xmlns:a="http://schemas.openxmlformats.org/drawingml/2006/main">
            <a:srgbClr val="0B2A43"/>
          </a:solidFill>
          <a:ln xmlns:a="http://schemas.openxmlformats.org/drawingml/2006/main" w="25400" cap="sq">
            <a:solidFill>
              <a:srgbClr val="FFFFFF"/>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35CE7E6D-2969-4F87-A477-01D502853356}"/>
              </a:ext>
            </a:extLst>
          </p:cNvPr>
          <p:cNvSpPr>
            <a:spLocks xmlns:a="http://schemas.openxmlformats.org/drawingml/2006/main" noGrp="1"/>
          </p:cNvSpPr>
          <p:nvPr/>
        </p:nvSpPr>
        <p:spPr>
          <a:xfrm xmlns:a="http://schemas.openxmlformats.org/drawingml/2006/main" rot="0" flipH="0" flipV="0">
            <a:off x="2286000" y="2194560"/>
            <a:ext cx="1280160" cy="1280160"/>
          </a:xfrm>
          <a:custGeom xmlns:a="http://schemas.openxmlformats.org/drawingml/2006/main">
            <a:rect l="l" t="t" r="r" b="b"/>
            <a:pathLst>
              <a:path w="1706880" h="1706880">
                <a:moveTo>
                  <a:pt x="0" y="0"/>
                </a:moveTo>
                <a:lnTo>
                  <a:pt x="1706880" y="0"/>
                </a:lnTo>
                <a:lnTo>
                  <a:pt x="1706880" y="1706880"/>
                </a:lnTo>
                <a:lnTo>
                  <a:pt x="0" y="1706880"/>
                </a:lnTo>
                <a:close/>
              </a:path>
            </a:pathLst>
          </a:custGeom>
          <a:blipFill xmlns:a="http://schemas.openxmlformats.org/drawingml/2006/main">
            <a:blip xmlns:r="http://schemas.openxmlformats.org/officeDocument/2006/relationships" r:embed="Ra3bb62a16c2e410b">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EBB6DE1A-0C83-4FA1-9FAA-C990D59EBDF1}"/>
              </a:ext>
            </a:extLst>
          </p:cNvPr>
          <p:cNvSpPr>
            <a:spLocks xmlns:a="http://schemas.openxmlformats.org/drawingml/2006/main" noGrp="1"/>
          </p:cNvSpPr>
          <p:nvPr/>
        </p:nvSpPr>
        <p:spPr>
          <a:xfrm xmlns:a="http://schemas.openxmlformats.org/drawingml/2006/main" rot="0" flipH="0" flipV="0">
            <a:off x="2286000" y="2187417"/>
            <a:ext cx="1280160" cy="12873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759"/>
              </a:lnSpc>
              <a:buNone/>
            </a:pPr>
            <a:r>
              <a:rPr sz="4800" b="1">
                <a:solidFill>
                  <a:srgbClr val="FFFFFF"/>
                </a:solidFill>
                <a:latin typeface="Cambria Bold"/>
                <a:ea typeface="Cambria Bold"/>
                <a:cs typeface="Cambria Bold"/>
              </a:rPr>
              <a:t>0</a:t>
            </a:r>
          </a:p>
        </p:txBody>
      </p:sp>
      <p:sp>
        <p:nvSpPr>
          <p:cNvPr id="11" name="Freeform 11">
            <a:extLst xmlns:a="http://schemas.openxmlformats.org/drawingml/2006/main">
              <a:ext uri="{FF2B5EF4-FFF2-40B4-BE49-F238E27FC236}">
                <a16:creationId xmlns:a16="http://schemas.microsoft.com/office/drawing/2014/main" id="{CC1D4391-C8F1-40F2-8B0E-884FDBF05467}"/>
              </a:ext>
            </a:extLst>
          </p:cNvPr>
          <p:cNvSpPr>
            <a:spLocks xmlns:a="http://schemas.openxmlformats.org/drawingml/2006/main" noGrp="1"/>
          </p:cNvSpPr>
          <p:nvPr/>
        </p:nvSpPr>
        <p:spPr>
          <a:xfrm xmlns:a="http://schemas.openxmlformats.org/drawingml/2006/main" rot="0" flipH="0" flipV="0">
            <a:off x="914400" y="3657600"/>
            <a:ext cx="4023360" cy="548640"/>
          </a:xfrm>
          <a:custGeom xmlns:a="http://schemas.openxmlformats.org/drawingml/2006/main">
            <a:rect l="l" t="t" r="r" b="b"/>
            <a:pathLst>
              <a:path w="5364480" h="731520">
                <a:moveTo>
                  <a:pt x="0" y="0"/>
                </a:moveTo>
                <a:lnTo>
                  <a:pt x="5364480" y="0"/>
                </a:lnTo>
                <a:lnTo>
                  <a:pt x="5364480" y="731520"/>
                </a:lnTo>
                <a:lnTo>
                  <a:pt x="0" y="731520"/>
                </a:lnTo>
                <a:close/>
              </a:path>
            </a:pathLst>
          </a:custGeom>
          <a:blipFill xmlns:a="http://schemas.openxmlformats.org/drawingml/2006/main">
            <a:blip xmlns:r="http://schemas.openxmlformats.org/officeDocument/2006/relationships" r:embed="Ra3bb62a16c2e410b">
              <a:alphaModFix amt="0"/>
            </a:blip>
            <a:stretch>
              <a:fillRect l="0" t="-92890" r="0" b="-92890"/>
            </a:stretch>
          </a:blipFill>
        </p:spPr>
        <p:txBody>
          <a:bodyPr xmlns:a="http://schemas.openxmlformats.org/drawingml/2006/main"/>
          <a:lstStyle xmlns:a="http://schemas.openxmlformats.org/drawingml/2006/main"/>
          <a:p xmlns:a="http://schemas.openxmlformats.org/drawingml/2006/main">
            <a:endParaRPr/>
          </a:p>
        </p:txBody>
      </p:sp>
      <p:sp>
        <p:nvSpPr>
          <p:cNvPr id="12" name="TextBox 12">
            <a:extLst xmlns:a="http://schemas.openxmlformats.org/drawingml/2006/main">
              <a:ext uri="{FF2B5EF4-FFF2-40B4-BE49-F238E27FC236}">
                <a16:creationId xmlns:a16="http://schemas.microsoft.com/office/drawing/2014/main" id="{E7F3402E-F14A-41C7-8BAE-3208268E5140}"/>
              </a:ext>
            </a:extLst>
          </p:cNvPr>
          <p:cNvSpPr>
            <a:spLocks xmlns:a="http://schemas.openxmlformats.org/drawingml/2006/main" noGrp="1"/>
          </p:cNvSpPr>
          <p:nvPr/>
        </p:nvSpPr>
        <p:spPr>
          <a:xfrm xmlns:a="http://schemas.openxmlformats.org/drawingml/2006/main" rot="0" flipH="0" flipV="0">
            <a:off x="914400" y="3629025"/>
            <a:ext cx="40233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879"/>
              </a:lnSpc>
              <a:buNone/>
            </a:pPr>
            <a:r>
              <a:rPr sz="2400">
                <a:solidFill>
                  <a:srgbClr val="5B6B7A"/>
                </a:solidFill>
                <a:latin typeface="Calibri (MS)"/>
                <a:ea typeface="Calibri (MS)"/>
                <a:cs typeface="Calibri (MS)"/>
              </a:rPr>
              <a:t>Iteración 0</a:t>
            </a:r>
          </a:p>
        </p:txBody>
      </p:sp>
      <p:sp>
        <p:nvSpPr>
          <p:cNvPr id="14" name="Freeform 14">
            <a:extLst xmlns:a="http://schemas.openxmlformats.org/drawingml/2006/main">
              <a:ext uri="{FF2B5EF4-FFF2-40B4-BE49-F238E27FC236}">
                <a16:creationId xmlns:a16="http://schemas.microsoft.com/office/drawing/2014/main" id="{05624AB8-8E77-45BA-A56C-4004F2F11EAD}"/>
              </a:ext>
            </a:extLst>
          </p:cNvPr>
          <p:cNvSpPr>
            <a:spLocks xmlns:a="http://schemas.openxmlformats.org/drawingml/2006/main" noGrp="1"/>
          </p:cNvSpPr>
          <p:nvPr/>
        </p:nvSpPr>
        <p:spPr>
          <a:xfrm xmlns:a="http://schemas.openxmlformats.org/drawingml/2006/main" rot="0" flipH="0" flipV="0">
            <a:off x="914400" y="4206240"/>
            <a:ext cx="4023360" cy="731520"/>
          </a:xfrm>
          <a:custGeom xmlns:a="http://schemas.openxmlformats.org/drawingml/2006/main">
            <a:rect l="l" t="t" r="r" b="b"/>
            <a:pathLst>
              <a:path w="5364480" h="975360">
                <a:moveTo>
                  <a:pt x="0" y="0"/>
                </a:moveTo>
                <a:lnTo>
                  <a:pt x="5364480" y="0"/>
                </a:lnTo>
                <a:lnTo>
                  <a:pt x="5364480" y="975360"/>
                </a:lnTo>
                <a:lnTo>
                  <a:pt x="0" y="975360"/>
                </a:lnTo>
                <a:close/>
              </a:path>
            </a:pathLst>
          </a:custGeom>
          <a:blipFill xmlns:a="http://schemas.openxmlformats.org/drawingml/2006/main">
            <a:blip xmlns:r="http://schemas.openxmlformats.org/officeDocument/2006/relationships" r:embed="Ra3bb62a16c2e410b">
              <a:alphaModFix amt="0"/>
            </a:blip>
            <a:stretch>
              <a:fillRect l="0" t="-57167" r="0" b="-57167"/>
            </a:stretch>
          </a:blipFill>
        </p:spPr>
        <p:txBody>
          <a:bodyPr xmlns:a="http://schemas.openxmlformats.org/drawingml/2006/main"/>
          <a:lstStyle xmlns:a="http://schemas.openxmlformats.org/drawingml/2006/main"/>
          <a:p xmlns:a="http://schemas.openxmlformats.org/drawingml/2006/main">
            <a:endParaRPr/>
          </a:p>
        </p:txBody>
      </p:sp>
      <p:sp>
        <p:nvSpPr>
          <p:cNvPr id="15" name="TextBox 15">
            <a:extLst xmlns:a="http://schemas.openxmlformats.org/drawingml/2006/main">
              <a:ext uri="{FF2B5EF4-FFF2-40B4-BE49-F238E27FC236}">
                <a16:creationId xmlns:a16="http://schemas.microsoft.com/office/drawing/2014/main" id="{52E37573-E461-4489-8202-625E950C4E4B}"/>
              </a:ext>
            </a:extLst>
          </p:cNvPr>
          <p:cNvSpPr>
            <a:spLocks xmlns:a="http://schemas.openxmlformats.org/drawingml/2006/main" noGrp="1"/>
          </p:cNvSpPr>
          <p:nvPr/>
        </p:nvSpPr>
        <p:spPr>
          <a:xfrm xmlns:a="http://schemas.openxmlformats.org/drawingml/2006/main" rot="0" flipH="0" flipV="0">
            <a:off x="914400" y="4199097"/>
            <a:ext cx="402336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079"/>
              </a:lnSpc>
              <a:buNone/>
            </a:pPr>
            <a:r>
              <a:rPr sz="3399" b="1">
                <a:solidFill>
                  <a:srgbClr val="0B2A43"/>
                </a:solidFill>
                <a:latin typeface="Cambria Bold"/>
                <a:ea typeface="Cambria Bold"/>
                <a:cs typeface="Cambria Bold"/>
              </a:rPr>
              <a:t>Estructura</a:t>
            </a:r>
          </a:p>
        </p:txBody>
      </p:sp>
      <p:sp>
        <p:nvSpPr>
          <p:cNvPr id="16" name="TextBox 16">
            <a:extLst xmlns:a="http://schemas.openxmlformats.org/drawingml/2006/main">
              <a:ext uri="{FF2B5EF4-FFF2-40B4-BE49-F238E27FC236}">
                <a16:creationId xmlns:a16="http://schemas.microsoft.com/office/drawing/2014/main" id="{329942DA-2126-4CA1-8C6A-51E0CCA072F4}"/>
              </a:ext>
            </a:extLst>
          </p:cNvPr>
          <p:cNvSpPr>
            <a:spLocks xmlns:a="http://schemas.openxmlformats.org/drawingml/2006/main" noGrp="1"/>
          </p:cNvSpPr>
          <p:nvPr/>
        </p:nvSpPr>
        <p:spPr>
          <a:xfrm xmlns:a="http://schemas.openxmlformats.org/drawingml/2006/main">
            <a:off x="1005840" y="4972050"/>
            <a:ext cx="3840480" cy="18859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120"/>
              </a:lnSpc>
              <a:buNone/>
            </a:pPr>
            <a:r>
              <a:rPr sz="2600">
                <a:solidFill>
                  <a:srgbClr val="1F2D3A"/>
                </a:solidFill>
                <a:latin typeface="Calibri (MS)"/>
                <a:ea typeface="Calibri (MS)"/>
                <a:cs typeface="Calibri (MS)"/>
              </a:rPr>
              <a:t>Microservicios por Bounded Context tras un API Gateway</a:t>
            </a:r>
          </a:p>
        </p:txBody>
      </p:sp>
      <p:sp>
        <p:nvSpPr>
          <p:cNvPr id="17" name="TextBox 17">
            <a:extLst xmlns:a="http://schemas.openxmlformats.org/drawingml/2006/main">
              <a:ext uri="{FF2B5EF4-FFF2-40B4-BE49-F238E27FC236}">
                <a16:creationId xmlns:a16="http://schemas.microsoft.com/office/drawing/2014/main" id="{351DEA79-C687-46FF-AB5F-3167A27261C0}"/>
              </a:ext>
            </a:extLst>
          </p:cNvPr>
          <p:cNvSpPr>
            <a:spLocks xmlns:a="http://schemas.openxmlformats.org/drawingml/2006/main" noGrp="1"/>
          </p:cNvSpPr>
          <p:nvPr/>
        </p:nvSpPr>
        <p:spPr>
          <a:xfrm xmlns:a="http://schemas.openxmlformats.org/drawingml/2006/main">
            <a:off x="1005840" y="6911340"/>
            <a:ext cx="3840480" cy="13182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879"/>
              </a:lnSpc>
              <a:buNone/>
            </a:pPr>
            <a:r>
              <a:rPr sz="2400" b="1">
                <a:solidFill>
                  <a:srgbClr val="1B7F8C"/>
                </a:solidFill>
                <a:latin typeface="Calibri (MS) Bold"/>
                <a:ea typeface="Calibri (MS) Bold"/>
                <a:cs typeface="Calibri (MS) Bold"/>
              </a:rPr>
              <a:t>Drivers: CON-01 a 07, AC-04, AC-05</a:t>
            </a:r>
          </a:p>
        </p:txBody>
      </p:sp>
      <p:sp>
        <p:nvSpPr>
          <p:cNvPr id="19" name="Freeform 19">
            <a:extLst xmlns:a="http://schemas.openxmlformats.org/drawingml/2006/main">
              <a:ext uri="{FF2B5EF4-FFF2-40B4-BE49-F238E27FC236}">
                <a16:creationId xmlns:a16="http://schemas.microsoft.com/office/drawing/2014/main" id="{67DC93BF-B8AA-41A3-A7DF-CAFD3952A6EF}"/>
              </a:ext>
            </a:extLst>
          </p:cNvPr>
          <p:cNvSpPr>
            <a:spLocks xmlns:a="http://schemas.openxmlformats.org/drawingml/2006/main" noGrp="1"/>
          </p:cNvSpPr>
          <p:nvPr/>
        </p:nvSpPr>
        <p:spPr>
          <a:xfrm xmlns:a="http://schemas.openxmlformats.org/drawingml/2006/main" rot="0" flipH="0" flipV="0">
            <a:off x="6479543" y="2181863"/>
            <a:ext cx="1305496" cy="1305496"/>
          </a:xfrm>
          <a:custGeom xmlns:a="http://schemas.openxmlformats.org/drawingml/2006/main">
            <a:rect l="l" t="t" r="r" b="b"/>
            <a:pathLst>
              <a:path w="1740662" h="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xmlns:a="http://schemas.openxmlformats.org/drawingml/2006/main">
            <a:srgbClr val="1B7F8C"/>
          </a:solidFill>
          <a:ln xmlns:a="http://schemas.openxmlformats.org/drawingml/2006/main" w="25400" cap="sq">
            <a:solidFill>
              <a:srgbClr val="FFFFFF"/>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1" name="Freeform 21">
            <a:extLst xmlns:a="http://schemas.openxmlformats.org/drawingml/2006/main">
              <a:ext uri="{FF2B5EF4-FFF2-40B4-BE49-F238E27FC236}">
                <a16:creationId xmlns:a16="http://schemas.microsoft.com/office/drawing/2014/main" id="{3D7A2B48-270D-4976-B558-832843528433}"/>
              </a:ext>
            </a:extLst>
          </p:cNvPr>
          <p:cNvSpPr>
            <a:spLocks xmlns:a="http://schemas.openxmlformats.org/drawingml/2006/main" noGrp="1"/>
          </p:cNvSpPr>
          <p:nvPr/>
        </p:nvSpPr>
        <p:spPr>
          <a:xfrm xmlns:a="http://schemas.openxmlformats.org/drawingml/2006/main" rot="0" flipH="0" flipV="0">
            <a:off x="6492240" y="2194560"/>
            <a:ext cx="1280160" cy="1280160"/>
          </a:xfrm>
          <a:custGeom xmlns:a="http://schemas.openxmlformats.org/drawingml/2006/main">
            <a:rect l="l" t="t" r="r" b="b"/>
            <a:pathLst>
              <a:path w="1706880" h="1706880">
                <a:moveTo>
                  <a:pt x="0" y="0"/>
                </a:moveTo>
                <a:lnTo>
                  <a:pt x="1706880" y="0"/>
                </a:lnTo>
                <a:lnTo>
                  <a:pt x="1706880" y="1706880"/>
                </a:lnTo>
                <a:lnTo>
                  <a:pt x="0" y="1706880"/>
                </a:lnTo>
                <a:close/>
              </a:path>
            </a:pathLst>
          </a:custGeom>
          <a:blipFill xmlns:a="http://schemas.openxmlformats.org/drawingml/2006/main">
            <a:blip xmlns:r="http://schemas.openxmlformats.org/officeDocument/2006/relationships" r:embed="Ra3bb62a16c2e410b">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22" name="TextBox 22">
            <a:extLst xmlns:a="http://schemas.openxmlformats.org/drawingml/2006/main">
              <a:ext uri="{FF2B5EF4-FFF2-40B4-BE49-F238E27FC236}">
                <a16:creationId xmlns:a16="http://schemas.microsoft.com/office/drawing/2014/main" id="{C8037039-ED07-40CD-9D99-48A09A24924D}"/>
              </a:ext>
            </a:extLst>
          </p:cNvPr>
          <p:cNvSpPr>
            <a:spLocks xmlns:a="http://schemas.openxmlformats.org/drawingml/2006/main" noGrp="1"/>
          </p:cNvSpPr>
          <p:nvPr/>
        </p:nvSpPr>
        <p:spPr>
          <a:xfrm xmlns:a="http://schemas.openxmlformats.org/drawingml/2006/main" rot="0" flipH="0" flipV="0">
            <a:off x="6492240" y="2187417"/>
            <a:ext cx="1280160" cy="12873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759"/>
              </a:lnSpc>
              <a:buNone/>
            </a:pPr>
            <a:r>
              <a:rPr sz="4800" b="1">
                <a:solidFill>
                  <a:srgbClr val="FFFFFF"/>
                </a:solidFill>
                <a:latin typeface="Cambria Bold"/>
                <a:ea typeface="Cambria Bold"/>
                <a:cs typeface="Cambria Bold"/>
              </a:rPr>
              <a:t>1</a:t>
            </a:r>
          </a:p>
        </p:txBody>
      </p:sp>
      <p:sp>
        <p:nvSpPr>
          <p:cNvPr id="24" name="Freeform 24">
            <a:extLst xmlns:a="http://schemas.openxmlformats.org/drawingml/2006/main">
              <a:ext uri="{FF2B5EF4-FFF2-40B4-BE49-F238E27FC236}">
                <a16:creationId xmlns:a16="http://schemas.microsoft.com/office/drawing/2014/main" id="{266B7D4E-5F36-45A8-8C57-5B2D3109B6EF}"/>
              </a:ext>
            </a:extLst>
          </p:cNvPr>
          <p:cNvSpPr>
            <a:spLocks xmlns:a="http://schemas.openxmlformats.org/drawingml/2006/main" noGrp="1"/>
          </p:cNvSpPr>
          <p:nvPr/>
        </p:nvSpPr>
        <p:spPr>
          <a:xfrm xmlns:a="http://schemas.openxmlformats.org/drawingml/2006/main" rot="0" flipH="0" flipV="0">
            <a:off x="5120640" y="3657600"/>
            <a:ext cx="4023360" cy="548640"/>
          </a:xfrm>
          <a:custGeom xmlns:a="http://schemas.openxmlformats.org/drawingml/2006/main">
            <a:rect l="l" t="t" r="r" b="b"/>
            <a:pathLst>
              <a:path w="5364480" h="731520">
                <a:moveTo>
                  <a:pt x="0" y="0"/>
                </a:moveTo>
                <a:lnTo>
                  <a:pt x="5364480" y="0"/>
                </a:lnTo>
                <a:lnTo>
                  <a:pt x="5364480" y="731520"/>
                </a:lnTo>
                <a:lnTo>
                  <a:pt x="0" y="731520"/>
                </a:lnTo>
                <a:close/>
              </a:path>
            </a:pathLst>
          </a:custGeom>
          <a:blipFill xmlns:a="http://schemas.openxmlformats.org/drawingml/2006/main">
            <a:blip xmlns:r="http://schemas.openxmlformats.org/officeDocument/2006/relationships" r:embed="Ra3bb62a16c2e410b">
              <a:alphaModFix amt="0"/>
            </a:blip>
            <a:stretch>
              <a:fillRect l="0" t="-92890" r="0" b="-92890"/>
            </a:stretch>
          </a:blipFill>
        </p:spPr>
        <p:txBody>
          <a:bodyPr xmlns:a="http://schemas.openxmlformats.org/drawingml/2006/main"/>
          <a:lstStyle xmlns:a="http://schemas.openxmlformats.org/drawingml/2006/main"/>
          <a:p xmlns:a="http://schemas.openxmlformats.org/drawingml/2006/main">
            <a:endParaRPr/>
          </a:p>
        </p:txBody>
      </p:sp>
      <p:sp>
        <p:nvSpPr>
          <p:cNvPr id="25" name="TextBox 25">
            <a:extLst xmlns:a="http://schemas.openxmlformats.org/drawingml/2006/main">
              <a:ext uri="{FF2B5EF4-FFF2-40B4-BE49-F238E27FC236}">
                <a16:creationId xmlns:a16="http://schemas.microsoft.com/office/drawing/2014/main" id="{03E42936-33E9-4758-ADF9-0619E1B4E6EF}"/>
              </a:ext>
            </a:extLst>
          </p:cNvPr>
          <p:cNvSpPr>
            <a:spLocks xmlns:a="http://schemas.openxmlformats.org/drawingml/2006/main" noGrp="1"/>
          </p:cNvSpPr>
          <p:nvPr/>
        </p:nvSpPr>
        <p:spPr>
          <a:xfrm xmlns:a="http://schemas.openxmlformats.org/drawingml/2006/main" rot="0" flipH="0" flipV="0">
            <a:off x="5120640" y="3629025"/>
            <a:ext cx="40233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879"/>
              </a:lnSpc>
              <a:buNone/>
            </a:pPr>
            <a:r>
              <a:rPr sz="2400">
                <a:solidFill>
                  <a:srgbClr val="5B6B7A"/>
                </a:solidFill>
                <a:latin typeface="Calibri (MS)"/>
                <a:ea typeface="Calibri (MS)"/>
                <a:cs typeface="Calibri (MS)"/>
              </a:rPr>
              <a:t>Iteración 1</a:t>
            </a:r>
          </a:p>
        </p:txBody>
      </p:sp>
      <p:sp>
        <p:nvSpPr>
          <p:cNvPr id="27" name="Freeform 27">
            <a:extLst xmlns:a="http://schemas.openxmlformats.org/drawingml/2006/main">
              <a:ext uri="{FF2B5EF4-FFF2-40B4-BE49-F238E27FC236}">
                <a16:creationId xmlns:a16="http://schemas.microsoft.com/office/drawing/2014/main" id="{4F0CC2D9-68B2-400B-8201-29B9D9AB5582}"/>
              </a:ext>
            </a:extLst>
          </p:cNvPr>
          <p:cNvSpPr>
            <a:spLocks xmlns:a="http://schemas.openxmlformats.org/drawingml/2006/main" noGrp="1"/>
          </p:cNvSpPr>
          <p:nvPr/>
        </p:nvSpPr>
        <p:spPr>
          <a:xfrm xmlns:a="http://schemas.openxmlformats.org/drawingml/2006/main" rot="0" flipH="0" flipV="0">
            <a:off x="5120640" y="4206240"/>
            <a:ext cx="4023360" cy="731520"/>
          </a:xfrm>
          <a:custGeom xmlns:a="http://schemas.openxmlformats.org/drawingml/2006/main">
            <a:rect l="l" t="t" r="r" b="b"/>
            <a:pathLst>
              <a:path w="5364480" h="975360">
                <a:moveTo>
                  <a:pt x="0" y="0"/>
                </a:moveTo>
                <a:lnTo>
                  <a:pt x="5364480" y="0"/>
                </a:lnTo>
                <a:lnTo>
                  <a:pt x="5364480" y="975360"/>
                </a:lnTo>
                <a:lnTo>
                  <a:pt x="0" y="975360"/>
                </a:lnTo>
                <a:close/>
              </a:path>
            </a:pathLst>
          </a:custGeom>
          <a:blipFill xmlns:a="http://schemas.openxmlformats.org/drawingml/2006/main">
            <a:blip xmlns:r="http://schemas.openxmlformats.org/officeDocument/2006/relationships" r:embed="Ra3bb62a16c2e410b">
              <a:alphaModFix amt="0"/>
            </a:blip>
            <a:stretch>
              <a:fillRect l="0" t="-57167" r="0" b="-57167"/>
            </a:stretch>
          </a:blipFill>
        </p:spPr>
        <p:txBody>
          <a:bodyPr xmlns:a="http://schemas.openxmlformats.org/drawingml/2006/main"/>
          <a:lstStyle xmlns:a="http://schemas.openxmlformats.org/drawingml/2006/main"/>
          <a:p xmlns:a="http://schemas.openxmlformats.org/drawingml/2006/main">
            <a:endParaRPr/>
          </a:p>
        </p:txBody>
      </p:sp>
      <p:sp>
        <p:nvSpPr>
          <p:cNvPr id="28" name="TextBox 28">
            <a:extLst xmlns:a="http://schemas.openxmlformats.org/drawingml/2006/main">
              <a:ext uri="{FF2B5EF4-FFF2-40B4-BE49-F238E27FC236}">
                <a16:creationId xmlns:a16="http://schemas.microsoft.com/office/drawing/2014/main" id="{77F5CCE5-A6C0-487E-A5D8-1B06F51DA770}"/>
              </a:ext>
            </a:extLst>
          </p:cNvPr>
          <p:cNvSpPr>
            <a:spLocks xmlns:a="http://schemas.openxmlformats.org/drawingml/2006/main" noGrp="1"/>
          </p:cNvSpPr>
          <p:nvPr/>
        </p:nvSpPr>
        <p:spPr>
          <a:xfrm xmlns:a="http://schemas.openxmlformats.org/drawingml/2006/main" rot="0" flipH="0" flipV="0">
            <a:off x="5120640" y="4199097"/>
            <a:ext cx="402336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079"/>
              </a:lnSpc>
              <a:buNone/>
            </a:pPr>
            <a:r>
              <a:rPr sz="3399" b="1">
                <a:solidFill>
                  <a:srgbClr val="0B2A43"/>
                </a:solidFill>
                <a:latin typeface="Cambria Bold"/>
                <a:ea typeface="Cambria Bold"/>
                <a:cs typeface="Cambria Bold"/>
              </a:rPr>
              <a:t>Disponibilidad</a:t>
            </a:r>
          </a:p>
        </p:txBody>
      </p:sp>
      <p:sp>
        <p:nvSpPr>
          <p:cNvPr id="29" name="TextBox 29">
            <a:extLst xmlns:a="http://schemas.openxmlformats.org/drawingml/2006/main">
              <a:ext uri="{FF2B5EF4-FFF2-40B4-BE49-F238E27FC236}">
                <a16:creationId xmlns:a16="http://schemas.microsoft.com/office/drawing/2014/main" id="{D2F67A0C-AFF6-49B4-8D67-95FD50BDE2EE}"/>
              </a:ext>
            </a:extLst>
          </p:cNvPr>
          <p:cNvSpPr>
            <a:spLocks xmlns:a="http://schemas.openxmlformats.org/drawingml/2006/main" noGrp="1"/>
          </p:cNvSpPr>
          <p:nvPr/>
        </p:nvSpPr>
        <p:spPr>
          <a:xfrm xmlns:a="http://schemas.openxmlformats.org/drawingml/2006/main">
            <a:off x="5212080" y="4972050"/>
            <a:ext cx="3840480" cy="18859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120"/>
              </a:lnSpc>
              <a:buNone/>
            </a:pPr>
            <a:r>
              <a:rPr sz="2600">
                <a:solidFill>
                  <a:srgbClr val="1F2D3A"/>
                </a:solidFill>
                <a:latin typeface="Calibri (MS)"/>
                <a:ea typeface="Calibri (MS)"/>
                <a:cs typeface="Calibri (MS)"/>
              </a:rPr>
              <a:t>Que ninguna lectura se pierda ni se duplique ante cortes</a:t>
            </a:r>
          </a:p>
        </p:txBody>
      </p:sp>
      <p:sp>
        <p:nvSpPr>
          <p:cNvPr id="30" name="TextBox 30">
            <a:extLst xmlns:a="http://schemas.openxmlformats.org/drawingml/2006/main">
              <a:ext uri="{FF2B5EF4-FFF2-40B4-BE49-F238E27FC236}">
                <a16:creationId xmlns:a16="http://schemas.microsoft.com/office/drawing/2014/main" id="{4716E59D-64D1-4240-8C1C-CFA6D5366B17}"/>
              </a:ext>
            </a:extLst>
          </p:cNvPr>
          <p:cNvSpPr>
            <a:spLocks xmlns:a="http://schemas.openxmlformats.org/drawingml/2006/main" noGrp="1"/>
          </p:cNvSpPr>
          <p:nvPr/>
        </p:nvSpPr>
        <p:spPr>
          <a:xfrm xmlns:a="http://schemas.openxmlformats.org/drawingml/2006/main">
            <a:off x="5212080" y="6911340"/>
            <a:ext cx="3840480" cy="13182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879"/>
              </a:lnSpc>
              <a:buNone/>
            </a:pPr>
            <a:r>
              <a:rPr sz="2400" b="1">
                <a:solidFill>
                  <a:srgbClr val="1B7F8C"/>
                </a:solidFill>
                <a:latin typeface="Calibri (MS) Bold"/>
                <a:ea typeface="Calibri (MS) Bold"/>
                <a:cs typeface="Calibri (MS) Bold"/>
              </a:rPr>
              <a:t>Drivers: QA-01 · US46, US47</a:t>
            </a:r>
          </a:p>
        </p:txBody>
      </p:sp>
      <p:sp>
        <p:nvSpPr>
          <p:cNvPr id="32" name="Freeform 32">
            <a:extLst xmlns:a="http://schemas.openxmlformats.org/drawingml/2006/main">
              <a:ext uri="{FF2B5EF4-FFF2-40B4-BE49-F238E27FC236}">
                <a16:creationId xmlns:a16="http://schemas.microsoft.com/office/drawing/2014/main" id="{D8C034C9-93AB-4862-9481-35408D3BCD90}"/>
              </a:ext>
            </a:extLst>
          </p:cNvPr>
          <p:cNvSpPr>
            <a:spLocks xmlns:a="http://schemas.openxmlformats.org/drawingml/2006/main" noGrp="1"/>
          </p:cNvSpPr>
          <p:nvPr/>
        </p:nvSpPr>
        <p:spPr>
          <a:xfrm xmlns:a="http://schemas.openxmlformats.org/drawingml/2006/main" rot="0" flipH="0" flipV="0">
            <a:off x="10685783" y="2181863"/>
            <a:ext cx="1305496" cy="1305496"/>
          </a:xfrm>
          <a:custGeom xmlns:a="http://schemas.openxmlformats.org/drawingml/2006/main">
            <a:rect l="l" t="t" r="r" b="b"/>
            <a:pathLst>
              <a:path w="1740662" h="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xmlns:a="http://schemas.openxmlformats.org/drawingml/2006/main">
            <a:srgbClr val="1B7F8C"/>
          </a:solidFill>
          <a:ln xmlns:a="http://schemas.openxmlformats.org/drawingml/2006/main" w="25400" cap="sq">
            <a:solidFill>
              <a:srgbClr val="FFFFFF"/>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34" name="Freeform 34">
            <a:extLst xmlns:a="http://schemas.openxmlformats.org/drawingml/2006/main">
              <a:ext uri="{FF2B5EF4-FFF2-40B4-BE49-F238E27FC236}">
                <a16:creationId xmlns:a16="http://schemas.microsoft.com/office/drawing/2014/main" id="{CEA174C4-5E0B-4B37-BA75-8DDB6A378B60}"/>
              </a:ext>
            </a:extLst>
          </p:cNvPr>
          <p:cNvSpPr>
            <a:spLocks xmlns:a="http://schemas.openxmlformats.org/drawingml/2006/main" noGrp="1"/>
          </p:cNvSpPr>
          <p:nvPr/>
        </p:nvSpPr>
        <p:spPr>
          <a:xfrm xmlns:a="http://schemas.openxmlformats.org/drawingml/2006/main" rot="0" flipH="0" flipV="0">
            <a:off x="10698480" y="2194560"/>
            <a:ext cx="1280160" cy="1280160"/>
          </a:xfrm>
          <a:custGeom xmlns:a="http://schemas.openxmlformats.org/drawingml/2006/main">
            <a:rect l="l" t="t" r="r" b="b"/>
            <a:pathLst>
              <a:path w="1706880" h="1706880">
                <a:moveTo>
                  <a:pt x="0" y="0"/>
                </a:moveTo>
                <a:lnTo>
                  <a:pt x="1706880" y="0"/>
                </a:lnTo>
                <a:lnTo>
                  <a:pt x="1706880" y="1706880"/>
                </a:lnTo>
                <a:lnTo>
                  <a:pt x="0" y="1706880"/>
                </a:lnTo>
                <a:close/>
              </a:path>
            </a:pathLst>
          </a:custGeom>
          <a:blipFill xmlns:a="http://schemas.openxmlformats.org/drawingml/2006/main">
            <a:blip xmlns:r="http://schemas.openxmlformats.org/officeDocument/2006/relationships" r:embed="Ra3bb62a16c2e410b">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35" name="TextBox 35">
            <a:extLst xmlns:a="http://schemas.openxmlformats.org/drawingml/2006/main">
              <a:ext uri="{FF2B5EF4-FFF2-40B4-BE49-F238E27FC236}">
                <a16:creationId xmlns:a16="http://schemas.microsoft.com/office/drawing/2014/main" id="{1F7E451F-871C-43D1-9E1F-7F27C592E496}"/>
              </a:ext>
            </a:extLst>
          </p:cNvPr>
          <p:cNvSpPr>
            <a:spLocks xmlns:a="http://schemas.openxmlformats.org/drawingml/2006/main" noGrp="1"/>
          </p:cNvSpPr>
          <p:nvPr/>
        </p:nvSpPr>
        <p:spPr>
          <a:xfrm xmlns:a="http://schemas.openxmlformats.org/drawingml/2006/main" rot="0" flipH="0" flipV="0">
            <a:off x="10698480" y="2187417"/>
            <a:ext cx="1280160" cy="12873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759"/>
              </a:lnSpc>
              <a:buNone/>
            </a:pPr>
            <a:r>
              <a:rPr sz="4800" b="1">
                <a:solidFill>
                  <a:srgbClr val="FFFFFF"/>
                </a:solidFill>
                <a:latin typeface="Cambria Bold"/>
                <a:ea typeface="Cambria Bold"/>
                <a:cs typeface="Cambria Bold"/>
              </a:rPr>
              <a:t>2</a:t>
            </a:r>
          </a:p>
        </p:txBody>
      </p:sp>
      <p:sp>
        <p:nvSpPr>
          <p:cNvPr id="37" name="Freeform 37">
            <a:extLst xmlns:a="http://schemas.openxmlformats.org/drawingml/2006/main">
              <a:ext uri="{FF2B5EF4-FFF2-40B4-BE49-F238E27FC236}">
                <a16:creationId xmlns:a16="http://schemas.microsoft.com/office/drawing/2014/main" id="{09A5CD3A-4B64-41C4-9654-2ED2E8C857C7}"/>
              </a:ext>
            </a:extLst>
          </p:cNvPr>
          <p:cNvSpPr>
            <a:spLocks xmlns:a="http://schemas.openxmlformats.org/drawingml/2006/main" noGrp="1"/>
          </p:cNvSpPr>
          <p:nvPr/>
        </p:nvSpPr>
        <p:spPr>
          <a:xfrm xmlns:a="http://schemas.openxmlformats.org/drawingml/2006/main" rot="0" flipH="0" flipV="0">
            <a:off x="9326880" y="3657600"/>
            <a:ext cx="4023360" cy="548640"/>
          </a:xfrm>
          <a:custGeom xmlns:a="http://schemas.openxmlformats.org/drawingml/2006/main">
            <a:rect l="l" t="t" r="r" b="b"/>
            <a:pathLst>
              <a:path w="5364480" h="731520">
                <a:moveTo>
                  <a:pt x="0" y="0"/>
                </a:moveTo>
                <a:lnTo>
                  <a:pt x="5364480" y="0"/>
                </a:lnTo>
                <a:lnTo>
                  <a:pt x="5364480" y="731520"/>
                </a:lnTo>
                <a:lnTo>
                  <a:pt x="0" y="731520"/>
                </a:lnTo>
                <a:close/>
              </a:path>
            </a:pathLst>
          </a:custGeom>
          <a:blipFill xmlns:a="http://schemas.openxmlformats.org/drawingml/2006/main">
            <a:blip xmlns:r="http://schemas.openxmlformats.org/officeDocument/2006/relationships" r:embed="Ra3bb62a16c2e410b">
              <a:alphaModFix amt="0"/>
            </a:blip>
            <a:stretch>
              <a:fillRect l="0" t="-92890" r="0" b="-92890"/>
            </a:stretch>
          </a:blipFill>
        </p:spPr>
        <p:txBody>
          <a:bodyPr xmlns:a="http://schemas.openxmlformats.org/drawingml/2006/main"/>
          <a:lstStyle xmlns:a="http://schemas.openxmlformats.org/drawingml/2006/main"/>
          <a:p xmlns:a="http://schemas.openxmlformats.org/drawingml/2006/main">
            <a:endParaRPr/>
          </a:p>
        </p:txBody>
      </p:sp>
      <p:sp>
        <p:nvSpPr>
          <p:cNvPr id="38" name="TextBox 38">
            <a:extLst xmlns:a="http://schemas.openxmlformats.org/drawingml/2006/main">
              <a:ext uri="{FF2B5EF4-FFF2-40B4-BE49-F238E27FC236}">
                <a16:creationId xmlns:a16="http://schemas.microsoft.com/office/drawing/2014/main" id="{2D0D2A7D-91D8-4905-9749-0C569E99A4E8}"/>
              </a:ext>
            </a:extLst>
          </p:cNvPr>
          <p:cNvSpPr>
            <a:spLocks xmlns:a="http://schemas.openxmlformats.org/drawingml/2006/main" noGrp="1"/>
          </p:cNvSpPr>
          <p:nvPr/>
        </p:nvSpPr>
        <p:spPr>
          <a:xfrm xmlns:a="http://schemas.openxmlformats.org/drawingml/2006/main" rot="0" flipH="0" flipV="0">
            <a:off x="9326880" y="3629025"/>
            <a:ext cx="40233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879"/>
              </a:lnSpc>
              <a:buNone/>
            </a:pPr>
            <a:r>
              <a:rPr sz="2400">
                <a:solidFill>
                  <a:srgbClr val="5B6B7A"/>
                </a:solidFill>
                <a:latin typeface="Calibri (MS)"/>
                <a:ea typeface="Calibri (MS)"/>
                <a:cs typeface="Calibri (MS)"/>
              </a:rPr>
              <a:t>Iteración 2</a:t>
            </a:r>
          </a:p>
        </p:txBody>
      </p:sp>
      <p:sp>
        <p:nvSpPr>
          <p:cNvPr id="40" name="Freeform 40">
            <a:extLst xmlns:a="http://schemas.openxmlformats.org/drawingml/2006/main">
              <a:ext uri="{FF2B5EF4-FFF2-40B4-BE49-F238E27FC236}">
                <a16:creationId xmlns:a16="http://schemas.microsoft.com/office/drawing/2014/main" id="{7B81434B-A716-4DBA-B94C-DD1F4FD890E4}"/>
              </a:ext>
            </a:extLst>
          </p:cNvPr>
          <p:cNvSpPr>
            <a:spLocks xmlns:a="http://schemas.openxmlformats.org/drawingml/2006/main" noGrp="1"/>
          </p:cNvSpPr>
          <p:nvPr/>
        </p:nvSpPr>
        <p:spPr>
          <a:xfrm xmlns:a="http://schemas.openxmlformats.org/drawingml/2006/main" rot="0" flipH="0" flipV="0">
            <a:off x="9326880" y="4206240"/>
            <a:ext cx="4023360" cy="731520"/>
          </a:xfrm>
          <a:custGeom xmlns:a="http://schemas.openxmlformats.org/drawingml/2006/main">
            <a:rect l="l" t="t" r="r" b="b"/>
            <a:pathLst>
              <a:path w="5364480" h="975360">
                <a:moveTo>
                  <a:pt x="0" y="0"/>
                </a:moveTo>
                <a:lnTo>
                  <a:pt x="5364480" y="0"/>
                </a:lnTo>
                <a:lnTo>
                  <a:pt x="5364480" y="975360"/>
                </a:lnTo>
                <a:lnTo>
                  <a:pt x="0" y="975360"/>
                </a:lnTo>
                <a:close/>
              </a:path>
            </a:pathLst>
          </a:custGeom>
          <a:blipFill xmlns:a="http://schemas.openxmlformats.org/drawingml/2006/main">
            <a:blip xmlns:r="http://schemas.openxmlformats.org/officeDocument/2006/relationships" r:embed="Ra3bb62a16c2e410b">
              <a:alphaModFix amt="0"/>
            </a:blip>
            <a:stretch>
              <a:fillRect l="0" t="-57167" r="0" b="-57167"/>
            </a:stretch>
          </a:blipFill>
        </p:spPr>
        <p:txBody>
          <a:bodyPr xmlns:a="http://schemas.openxmlformats.org/drawingml/2006/main"/>
          <a:lstStyle xmlns:a="http://schemas.openxmlformats.org/drawingml/2006/main"/>
          <a:p xmlns:a="http://schemas.openxmlformats.org/drawingml/2006/main">
            <a:endParaRPr/>
          </a:p>
        </p:txBody>
      </p:sp>
      <p:sp>
        <p:nvSpPr>
          <p:cNvPr id="41" name="TextBox 41">
            <a:extLst xmlns:a="http://schemas.openxmlformats.org/drawingml/2006/main">
              <a:ext uri="{FF2B5EF4-FFF2-40B4-BE49-F238E27FC236}">
                <a16:creationId xmlns:a16="http://schemas.microsoft.com/office/drawing/2014/main" id="{0A3D913C-1818-48D5-BE6E-AC01FFC00296}"/>
              </a:ext>
            </a:extLst>
          </p:cNvPr>
          <p:cNvSpPr>
            <a:spLocks xmlns:a="http://schemas.openxmlformats.org/drawingml/2006/main" noGrp="1"/>
          </p:cNvSpPr>
          <p:nvPr/>
        </p:nvSpPr>
        <p:spPr>
          <a:xfrm xmlns:a="http://schemas.openxmlformats.org/drawingml/2006/main" rot="0" flipH="0" flipV="0">
            <a:off x="9326880" y="4199097"/>
            <a:ext cx="402336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079"/>
              </a:lnSpc>
              <a:buNone/>
            </a:pPr>
            <a:r>
              <a:rPr sz="3399" b="1">
                <a:solidFill>
                  <a:srgbClr val="0B2A43"/>
                </a:solidFill>
                <a:latin typeface="Cambria Bold"/>
                <a:ea typeface="Cambria Bold"/>
                <a:cs typeface="Cambria Bold"/>
              </a:rPr>
              <a:t>Rendimiento</a:t>
            </a:r>
          </a:p>
        </p:txBody>
      </p:sp>
      <p:sp>
        <p:nvSpPr>
          <p:cNvPr id="42" name="TextBox 42">
            <a:extLst xmlns:a="http://schemas.openxmlformats.org/drawingml/2006/main">
              <a:ext uri="{FF2B5EF4-FFF2-40B4-BE49-F238E27FC236}">
                <a16:creationId xmlns:a16="http://schemas.microsoft.com/office/drawing/2014/main" id="{0E76117F-1F32-4F23-9374-1605678238A2}"/>
              </a:ext>
            </a:extLst>
          </p:cNvPr>
          <p:cNvSpPr>
            <a:spLocks xmlns:a="http://schemas.openxmlformats.org/drawingml/2006/main" noGrp="1"/>
          </p:cNvSpPr>
          <p:nvPr/>
        </p:nvSpPr>
        <p:spPr>
          <a:xfrm xmlns:a="http://schemas.openxmlformats.org/drawingml/2006/main">
            <a:off x="9418320" y="4972050"/>
            <a:ext cx="3840480" cy="18859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120"/>
              </a:lnSpc>
              <a:buNone/>
            </a:pPr>
            <a:r>
              <a:rPr sz="2600">
                <a:solidFill>
                  <a:srgbClr val="1F2D3A"/>
                </a:solidFill>
                <a:latin typeface="Calibri (MS)"/>
                <a:ea typeface="Calibri (MS)"/>
                <a:cs typeface="Calibri (MS)"/>
              </a:rPr>
              <a:t>Que la alerta llegue en segundos aun en picos</a:t>
            </a:r>
          </a:p>
        </p:txBody>
      </p:sp>
      <p:sp>
        <p:nvSpPr>
          <p:cNvPr id="43" name="TextBox 43">
            <a:extLst xmlns:a="http://schemas.openxmlformats.org/drawingml/2006/main">
              <a:ext uri="{FF2B5EF4-FFF2-40B4-BE49-F238E27FC236}">
                <a16:creationId xmlns:a16="http://schemas.microsoft.com/office/drawing/2014/main" id="{82425192-88FF-47B4-9ADB-529098213B36}"/>
              </a:ext>
            </a:extLst>
          </p:cNvPr>
          <p:cNvSpPr>
            <a:spLocks xmlns:a="http://schemas.openxmlformats.org/drawingml/2006/main" noGrp="1"/>
          </p:cNvSpPr>
          <p:nvPr/>
        </p:nvSpPr>
        <p:spPr>
          <a:xfrm xmlns:a="http://schemas.openxmlformats.org/drawingml/2006/main">
            <a:off x="9418320" y="6911340"/>
            <a:ext cx="3840480" cy="13182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879"/>
              </a:lnSpc>
              <a:buNone/>
            </a:pPr>
            <a:r>
              <a:rPr sz="2400" b="1">
                <a:solidFill>
                  <a:srgbClr val="1B7F8C"/>
                </a:solidFill>
                <a:latin typeface="Calibri (MS) Bold"/>
                <a:ea typeface="Calibri (MS) Bold"/>
                <a:cs typeface="Calibri (MS) Bold"/>
              </a:rPr>
              <a:t>Drivers: QA-02 · US04, US06, US14, US16</a:t>
            </a:r>
          </a:p>
        </p:txBody>
      </p:sp>
      <p:sp>
        <p:nvSpPr>
          <p:cNvPr id="45" name="Freeform 45">
            <a:extLst xmlns:a="http://schemas.openxmlformats.org/drawingml/2006/main">
              <a:ext uri="{FF2B5EF4-FFF2-40B4-BE49-F238E27FC236}">
                <a16:creationId xmlns:a16="http://schemas.microsoft.com/office/drawing/2014/main" id="{34B7B059-05BC-46BD-8C4F-F4656F0043AF}"/>
              </a:ext>
            </a:extLst>
          </p:cNvPr>
          <p:cNvSpPr>
            <a:spLocks xmlns:a="http://schemas.openxmlformats.org/drawingml/2006/main" noGrp="1"/>
          </p:cNvSpPr>
          <p:nvPr/>
        </p:nvSpPr>
        <p:spPr>
          <a:xfrm xmlns:a="http://schemas.openxmlformats.org/drawingml/2006/main" rot="0" flipH="0" flipV="0">
            <a:off x="14892023" y="2181863"/>
            <a:ext cx="1305496" cy="1305496"/>
          </a:xfrm>
          <a:custGeom xmlns:a="http://schemas.openxmlformats.org/drawingml/2006/main">
            <a:rect l="l" t="t" r="r" b="b"/>
            <a:pathLst>
              <a:path w="1740662" h="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xmlns:a="http://schemas.openxmlformats.org/drawingml/2006/main">
            <a:srgbClr val="1B7F8C"/>
          </a:solidFill>
          <a:ln xmlns:a="http://schemas.openxmlformats.org/drawingml/2006/main" w="25400" cap="sq">
            <a:solidFill>
              <a:srgbClr val="FFFFFF"/>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47" name="Freeform 47">
            <a:extLst xmlns:a="http://schemas.openxmlformats.org/drawingml/2006/main">
              <a:ext uri="{FF2B5EF4-FFF2-40B4-BE49-F238E27FC236}">
                <a16:creationId xmlns:a16="http://schemas.microsoft.com/office/drawing/2014/main" id="{FA9801F4-B8C7-4CCA-8EAB-5ECDFBE84A4B}"/>
              </a:ext>
            </a:extLst>
          </p:cNvPr>
          <p:cNvSpPr>
            <a:spLocks xmlns:a="http://schemas.openxmlformats.org/drawingml/2006/main" noGrp="1"/>
          </p:cNvSpPr>
          <p:nvPr/>
        </p:nvSpPr>
        <p:spPr>
          <a:xfrm xmlns:a="http://schemas.openxmlformats.org/drawingml/2006/main" rot="0" flipH="0" flipV="0">
            <a:off x="14904720" y="2194560"/>
            <a:ext cx="1280160" cy="1280160"/>
          </a:xfrm>
          <a:custGeom xmlns:a="http://schemas.openxmlformats.org/drawingml/2006/main">
            <a:rect l="l" t="t" r="r" b="b"/>
            <a:pathLst>
              <a:path w="1706880" h="1706880">
                <a:moveTo>
                  <a:pt x="0" y="0"/>
                </a:moveTo>
                <a:lnTo>
                  <a:pt x="1706880" y="0"/>
                </a:lnTo>
                <a:lnTo>
                  <a:pt x="1706880" y="1706880"/>
                </a:lnTo>
                <a:lnTo>
                  <a:pt x="0" y="1706880"/>
                </a:lnTo>
                <a:close/>
              </a:path>
            </a:pathLst>
          </a:custGeom>
          <a:blipFill xmlns:a="http://schemas.openxmlformats.org/drawingml/2006/main">
            <a:blip xmlns:r="http://schemas.openxmlformats.org/officeDocument/2006/relationships" r:embed="Ra3bb62a16c2e410b">
              <a:alphaModFix amt="0"/>
            </a:blip>
            <a:stretch>
              <a:fillRect l="-78303" t="0" r="-78303" b="0"/>
            </a:stretch>
          </a:blipFill>
        </p:spPr>
        <p:txBody>
          <a:bodyPr xmlns:a="http://schemas.openxmlformats.org/drawingml/2006/main"/>
          <a:lstStyle xmlns:a="http://schemas.openxmlformats.org/drawingml/2006/main"/>
          <a:p xmlns:a="http://schemas.openxmlformats.org/drawingml/2006/main">
            <a:endParaRPr/>
          </a:p>
        </p:txBody>
      </p:sp>
      <p:sp>
        <p:nvSpPr>
          <p:cNvPr id="48" name="TextBox 48">
            <a:extLst xmlns:a="http://schemas.openxmlformats.org/drawingml/2006/main">
              <a:ext uri="{FF2B5EF4-FFF2-40B4-BE49-F238E27FC236}">
                <a16:creationId xmlns:a16="http://schemas.microsoft.com/office/drawing/2014/main" id="{39B1C4E7-4057-4F05-9E94-53DB2502236D}"/>
              </a:ext>
            </a:extLst>
          </p:cNvPr>
          <p:cNvSpPr>
            <a:spLocks xmlns:a="http://schemas.openxmlformats.org/drawingml/2006/main" noGrp="1"/>
          </p:cNvSpPr>
          <p:nvPr/>
        </p:nvSpPr>
        <p:spPr>
          <a:xfrm xmlns:a="http://schemas.openxmlformats.org/drawingml/2006/main" rot="0" flipH="0" flipV="0">
            <a:off x="14904720" y="2187417"/>
            <a:ext cx="1280160" cy="128730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759"/>
              </a:lnSpc>
              <a:buNone/>
            </a:pPr>
            <a:r>
              <a:rPr sz="4800" b="1">
                <a:solidFill>
                  <a:srgbClr val="FFFFFF"/>
                </a:solidFill>
                <a:latin typeface="Cambria Bold"/>
                <a:ea typeface="Cambria Bold"/>
                <a:cs typeface="Cambria Bold"/>
              </a:rPr>
              <a:t>3</a:t>
            </a:r>
          </a:p>
        </p:txBody>
      </p:sp>
      <p:sp>
        <p:nvSpPr>
          <p:cNvPr id="50" name="Freeform 50">
            <a:extLst xmlns:a="http://schemas.openxmlformats.org/drawingml/2006/main">
              <a:ext uri="{FF2B5EF4-FFF2-40B4-BE49-F238E27FC236}">
                <a16:creationId xmlns:a16="http://schemas.microsoft.com/office/drawing/2014/main" id="{8EF47811-9A08-4381-8F42-6535C7BF1E5B}"/>
              </a:ext>
            </a:extLst>
          </p:cNvPr>
          <p:cNvSpPr>
            <a:spLocks xmlns:a="http://schemas.openxmlformats.org/drawingml/2006/main" noGrp="1"/>
          </p:cNvSpPr>
          <p:nvPr/>
        </p:nvSpPr>
        <p:spPr>
          <a:xfrm xmlns:a="http://schemas.openxmlformats.org/drawingml/2006/main" rot="0" flipH="0" flipV="0">
            <a:off x="13533120" y="3657600"/>
            <a:ext cx="4023360" cy="548640"/>
          </a:xfrm>
          <a:custGeom xmlns:a="http://schemas.openxmlformats.org/drawingml/2006/main">
            <a:rect l="l" t="t" r="r" b="b"/>
            <a:pathLst>
              <a:path w="5364480" h="731520">
                <a:moveTo>
                  <a:pt x="0" y="0"/>
                </a:moveTo>
                <a:lnTo>
                  <a:pt x="5364480" y="0"/>
                </a:lnTo>
                <a:lnTo>
                  <a:pt x="5364480" y="731520"/>
                </a:lnTo>
                <a:lnTo>
                  <a:pt x="0" y="731520"/>
                </a:lnTo>
                <a:close/>
              </a:path>
            </a:pathLst>
          </a:custGeom>
          <a:blipFill xmlns:a="http://schemas.openxmlformats.org/drawingml/2006/main">
            <a:blip xmlns:r="http://schemas.openxmlformats.org/officeDocument/2006/relationships" r:embed="Ra3bb62a16c2e410b">
              <a:alphaModFix amt="0"/>
            </a:blip>
            <a:stretch>
              <a:fillRect l="0" t="-92890" r="0" b="-92890"/>
            </a:stretch>
          </a:blipFill>
        </p:spPr>
        <p:txBody>
          <a:bodyPr xmlns:a="http://schemas.openxmlformats.org/drawingml/2006/main"/>
          <a:lstStyle xmlns:a="http://schemas.openxmlformats.org/drawingml/2006/main"/>
          <a:p xmlns:a="http://schemas.openxmlformats.org/drawingml/2006/main">
            <a:endParaRPr/>
          </a:p>
        </p:txBody>
      </p:sp>
      <p:sp>
        <p:nvSpPr>
          <p:cNvPr id="51" name="TextBox 51">
            <a:extLst xmlns:a="http://schemas.openxmlformats.org/drawingml/2006/main">
              <a:ext uri="{FF2B5EF4-FFF2-40B4-BE49-F238E27FC236}">
                <a16:creationId xmlns:a16="http://schemas.microsoft.com/office/drawing/2014/main" id="{7CC3FF05-37B3-4104-BDCF-2D1A2CF1993B}"/>
              </a:ext>
            </a:extLst>
          </p:cNvPr>
          <p:cNvSpPr>
            <a:spLocks xmlns:a="http://schemas.openxmlformats.org/drawingml/2006/main" noGrp="1"/>
          </p:cNvSpPr>
          <p:nvPr/>
        </p:nvSpPr>
        <p:spPr>
          <a:xfrm xmlns:a="http://schemas.openxmlformats.org/drawingml/2006/main" rot="0" flipH="0" flipV="0">
            <a:off x="13533120" y="3629025"/>
            <a:ext cx="4023360" cy="57721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879"/>
              </a:lnSpc>
              <a:buNone/>
            </a:pPr>
            <a:r>
              <a:rPr sz="2400">
                <a:solidFill>
                  <a:srgbClr val="5B6B7A"/>
                </a:solidFill>
                <a:latin typeface="Calibri (MS)"/>
                <a:ea typeface="Calibri (MS)"/>
                <a:cs typeface="Calibri (MS)"/>
              </a:rPr>
              <a:t>Iteración 3</a:t>
            </a:r>
          </a:p>
        </p:txBody>
      </p:sp>
      <p:sp>
        <p:nvSpPr>
          <p:cNvPr id="53" name="Freeform 53">
            <a:extLst xmlns:a="http://schemas.openxmlformats.org/drawingml/2006/main">
              <a:ext uri="{FF2B5EF4-FFF2-40B4-BE49-F238E27FC236}">
                <a16:creationId xmlns:a16="http://schemas.microsoft.com/office/drawing/2014/main" id="{0A45671A-3DED-41A6-B65D-ECB9E6D1DB43}"/>
              </a:ext>
            </a:extLst>
          </p:cNvPr>
          <p:cNvSpPr>
            <a:spLocks xmlns:a="http://schemas.openxmlformats.org/drawingml/2006/main" noGrp="1"/>
          </p:cNvSpPr>
          <p:nvPr/>
        </p:nvSpPr>
        <p:spPr>
          <a:xfrm xmlns:a="http://schemas.openxmlformats.org/drawingml/2006/main" rot="0" flipH="0" flipV="0">
            <a:off x="13533120" y="4206240"/>
            <a:ext cx="4023360" cy="731520"/>
          </a:xfrm>
          <a:custGeom xmlns:a="http://schemas.openxmlformats.org/drawingml/2006/main">
            <a:rect l="l" t="t" r="r" b="b"/>
            <a:pathLst>
              <a:path w="5364480" h="975360">
                <a:moveTo>
                  <a:pt x="0" y="0"/>
                </a:moveTo>
                <a:lnTo>
                  <a:pt x="5364480" y="0"/>
                </a:lnTo>
                <a:lnTo>
                  <a:pt x="5364480" y="975360"/>
                </a:lnTo>
                <a:lnTo>
                  <a:pt x="0" y="975360"/>
                </a:lnTo>
                <a:close/>
              </a:path>
            </a:pathLst>
          </a:custGeom>
          <a:blipFill xmlns:a="http://schemas.openxmlformats.org/drawingml/2006/main">
            <a:blip xmlns:r="http://schemas.openxmlformats.org/officeDocument/2006/relationships" r:embed="Ra3bb62a16c2e410b">
              <a:alphaModFix amt="0"/>
            </a:blip>
            <a:stretch>
              <a:fillRect l="0" t="-57167" r="0" b="-57167"/>
            </a:stretch>
          </a:blipFill>
        </p:spPr>
        <p:txBody>
          <a:bodyPr xmlns:a="http://schemas.openxmlformats.org/drawingml/2006/main"/>
          <a:lstStyle xmlns:a="http://schemas.openxmlformats.org/drawingml/2006/main"/>
          <a:p xmlns:a="http://schemas.openxmlformats.org/drawingml/2006/main">
            <a:endParaRPr/>
          </a:p>
        </p:txBody>
      </p:sp>
      <p:sp>
        <p:nvSpPr>
          <p:cNvPr id="54" name="TextBox 54">
            <a:extLst xmlns:a="http://schemas.openxmlformats.org/drawingml/2006/main">
              <a:ext uri="{FF2B5EF4-FFF2-40B4-BE49-F238E27FC236}">
                <a16:creationId xmlns:a16="http://schemas.microsoft.com/office/drawing/2014/main" id="{D74760A2-1836-4B06-937E-81BA2C6F0DEF}"/>
              </a:ext>
            </a:extLst>
          </p:cNvPr>
          <p:cNvSpPr>
            <a:spLocks xmlns:a="http://schemas.openxmlformats.org/drawingml/2006/main" noGrp="1"/>
          </p:cNvSpPr>
          <p:nvPr/>
        </p:nvSpPr>
        <p:spPr>
          <a:xfrm xmlns:a="http://schemas.openxmlformats.org/drawingml/2006/main" rot="0" flipH="0" flipV="0">
            <a:off x="13533120" y="4199097"/>
            <a:ext cx="4023360" cy="7386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079"/>
              </a:lnSpc>
              <a:buNone/>
            </a:pPr>
            <a:r>
              <a:rPr sz="3399" b="1">
                <a:solidFill>
                  <a:srgbClr val="0B2A43"/>
                </a:solidFill>
                <a:latin typeface="Cambria Bold"/>
                <a:ea typeface="Cambria Bold"/>
                <a:cs typeface="Cambria Bold"/>
              </a:rPr>
              <a:t>Usabilidad</a:t>
            </a:r>
          </a:p>
        </p:txBody>
      </p:sp>
      <p:sp>
        <p:nvSpPr>
          <p:cNvPr id="55" name="TextBox 55">
            <a:extLst xmlns:a="http://schemas.openxmlformats.org/drawingml/2006/main">
              <a:ext uri="{FF2B5EF4-FFF2-40B4-BE49-F238E27FC236}">
                <a16:creationId xmlns:a16="http://schemas.microsoft.com/office/drawing/2014/main" id="{096C2746-C640-4AA7-84CE-F14E0FA6F361}"/>
              </a:ext>
            </a:extLst>
          </p:cNvPr>
          <p:cNvSpPr>
            <a:spLocks xmlns:a="http://schemas.openxmlformats.org/drawingml/2006/main" noGrp="1"/>
          </p:cNvSpPr>
          <p:nvPr/>
        </p:nvSpPr>
        <p:spPr>
          <a:xfrm xmlns:a="http://schemas.openxmlformats.org/drawingml/2006/main">
            <a:off x="13624560" y="4972050"/>
            <a:ext cx="3840480" cy="18859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120"/>
              </a:lnSpc>
              <a:buNone/>
            </a:pPr>
            <a:r>
              <a:rPr sz="2600">
                <a:solidFill>
                  <a:srgbClr val="1F2D3A"/>
                </a:solidFill>
                <a:latin typeface="Calibri (MS)"/>
                <a:ea typeface="Calibri (MS)"/>
                <a:cs typeface="Calibri (MS)"/>
              </a:rPr>
              <a:t>De la notificación a la atención asignada en un flujo corto</a:t>
            </a:r>
          </a:p>
        </p:txBody>
      </p:sp>
      <p:sp>
        <p:nvSpPr>
          <p:cNvPr id="56" name="TextBox 56">
            <a:extLst xmlns:a="http://schemas.openxmlformats.org/drawingml/2006/main">
              <a:ext uri="{FF2B5EF4-FFF2-40B4-BE49-F238E27FC236}">
                <a16:creationId xmlns:a16="http://schemas.microsoft.com/office/drawing/2014/main" id="{CB04776D-26A7-45FE-B0CD-5A25C7AC5E41}"/>
              </a:ext>
            </a:extLst>
          </p:cNvPr>
          <p:cNvSpPr>
            <a:spLocks xmlns:a="http://schemas.openxmlformats.org/drawingml/2006/main" noGrp="1"/>
          </p:cNvSpPr>
          <p:nvPr/>
        </p:nvSpPr>
        <p:spPr>
          <a:xfrm xmlns:a="http://schemas.openxmlformats.org/drawingml/2006/main">
            <a:off x="13624560" y="6911340"/>
            <a:ext cx="3840480" cy="13182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879"/>
              </a:lnSpc>
              <a:buNone/>
            </a:pPr>
            <a:r>
              <a:rPr sz="2400" b="1">
                <a:solidFill>
                  <a:srgbClr val="1B7F8C"/>
                </a:solidFill>
                <a:latin typeface="Calibri (MS) Bold"/>
                <a:ea typeface="Calibri (MS) Bold"/>
                <a:cs typeface="Calibri (MS) Bold"/>
              </a:rPr>
              <a:t>Drivers: QA-03 · US08, US09, US33</a:t>
            </a:r>
          </a:p>
        </p:txBody>
      </p:sp>
      <p:sp>
        <p:nvSpPr>
          <p:cNvPr id="58" name="Freeform 58">
            <a:extLst xmlns:a="http://schemas.openxmlformats.org/drawingml/2006/main">
              <a:ext uri="{FF2B5EF4-FFF2-40B4-BE49-F238E27FC236}">
                <a16:creationId xmlns:a16="http://schemas.microsoft.com/office/drawing/2014/main" id="{630B2D3A-9A17-4BAE-8B96-C5504F8C812D}"/>
              </a:ext>
            </a:extLst>
          </p:cNvPr>
          <p:cNvSpPr>
            <a:spLocks xmlns:a="http://schemas.openxmlformats.org/drawingml/2006/main" noGrp="1"/>
          </p:cNvSpPr>
          <p:nvPr/>
        </p:nvSpPr>
        <p:spPr>
          <a:xfrm xmlns:a="http://schemas.openxmlformats.org/drawingml/2006/main" rot="0" flipH="0" flipV="0">
            <a:off x="914400" y="8595360"/>
            <a:ext cx="16459200" cy="914400"/>
          </a:xfrm>
          <a:custGeom xmlns:a="http://schemas.openxmlformats.org/drawingml/2006/main">
            <a:rect l="l" t="t" r="r" b="b"/>
            <a:pathLst>
              <a:path w="21945600" h="1219200">
                <a:moveTo>
                  <a:pt x="0" y="0"/>
                </a:moveTo>
                <a:lnTo>
                  <a:pt x="21945600" y="0"/>
                </a:lnTo>
                <a:lnTo>
                  <a:pt x="21945600" y="1219200"/>
                </a:lnTo>
                <a:lnTo>
                  <a:pt x="0" y="1219200"/>
                </a:lnTo>
                <a:close/>
              </a:path>
            </a:pathLst>
          </a:custGeom>
          <a:blipFill xmlns:a="http://schemas.openxmlformats.org/drawingml/2006/main">
            <a:blip xmlns:r="http://schemas.openxmlformats.org/officeDocument/2006/relationships" r:embed="Ra3bb62a16c2e410b">
              <a:alphaModFix amt="0"/>
            </a:blip>
            <a:stretch>
              <a:fillRect l="0" t="-300730" r="0" b="-300730"/>
            </a:stretch>
          </a:blipFill>
        </p:spPr>
        <p:txBody>
          <a:bodyPr xmlns:a="http://schemas.openxmlformats.org/drawingml/2006/main"/>
          <a:lstStyle xmlns:a="http://schemas.openxmlformats.org/drawingml/2006/main"/>
          <a:p xmlns:a="http://schemas.openxmlformats.org/drawingml/2006/main">
            <a:endParaRPr/>
          </a:p>
        </p:txBody>
      </p:sp>
      <p:sp>
        <p:nvSpPr>
          <p:cNvPr id="59" name="TextBox 59">
            <a:extLst xmlns:a="http://schemas.openxmlformats.org/drawingml/2006/main">
              <a:ext uri="{FF2B5EF4-FFF2-40B4-BE49-F238E27FC236}">
                <a16:creationId xmlns:a16="http://schemas.microsoft.com/office/drawing/2014/main" id="{1EC74300-72E8-4AB2-B503-C3A94A812D2A}"/>
              </a:ext>
            </a:extLst>
          </p:cNvPr>
          <p:cNvSpPr>
            <a:spLocks xmlns:a="http://schemas.openxmlformats.org/drawingml/2006/main" noGrp="1"/>
          </p:cNvSpPr>
          <p:nvPr/>
        </p:nvSpPr>
        <p:spPr>
          <a:xfrm xmlns:a="http://schemas.openxmlformats.org/drawingml/2006/main" rot="0" flipH="0" flipV="0">
            <a:off x="914400" y="8552498"/>
            <a:ext cx="16459200" cy="9572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20"/>
              </a:lnSpc>
              <a:buNone/>
            </a:pPr>
            <a:r>
              <a:rPr sz="2600" i="1">
                <a:solidFill>
                  <a:srgbClr val="5B6B7A"/>
                </a:solidFill>
                <a:latin typeface="Calibri (MS) Italics"/>
                <a:ea typeface="Calibri (MS) Italics"/>
                <a:cs typeface="Calibri (MS) Italics"/>
              </a:rPr>
              <a:t>Cada iteración sigue los pasos de ADD 3.0: objetivo, elementos a refinar, conceptos de diseño (DC), instanciación y decisiones (DD).</a:t>
            </a:r>
          </a:p>
        </p:txBody>
      </p:sp>
      <p:sp>
        <p:nvSpPr>
          <p:cNvPr id="60" name="TextBox 60">
            <a:extLst xmlns:a="http://schemas.openxmlformats.org/drawingml/2006/main">
              <a:ext uri="{FF2B5EF4-FFF2-40B4-BE49-F238E27FC236}">
                <a16:creationId xmlns:a16="http://schemas.microsoft.com/office/drawing/2014/main" id="{155652BF-F870-43A7-8309-42EF7898DEA9}"/>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20</a:t>
            </a:r>
          </a:p>
        </p:txBody>
      </p:sp>
      <p:sp>
        <p:nvSpPr>
          <p:cNvPr id="61" name="ADD: una iteración de estructura y una por dr">
            <a:extLst xmlns:a="http://schemas.openxmlformats.org/drawingml/2006/main">
              <a:ext uri="{FF2B5EF4-FFF2-40B4-BE49-F238E27FC236}">
                <a16:creationId xmlns:a16="http://schemas.microsoft.com/office/drawing/2014/main" id="{AF271DC6-BF1B-42EC-8FEC-0493DF82428A}"/>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ADD: una iteración de estructura y una por driver</a:t>
            </a:r>
          </a:p>
        </p:txBody>
      </p:sp>
    </p:spTree>
    <p:extLst>
      <p:ext uri="{BB962C8B-B14F-4D97-AF65-F5344CB8AC3E}">
        <p14:creationId xmlns:p14="http://schemas.microsoft.com/office/powerpoint/2010/main" val="143239855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E791561-A5E7-4E9A-B804-5011219A5CA6}"/>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63c30bbfec5b4fbc">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graphicFrame>
        <p:nvGraphicFramePr>
          <p:cNvPr id="5" name="Table 5">
            <a:extLst xmlns:a="http://schemas.openxmlformats.org/drawingml/2006/main">
              <a:ext uri="{FF2B5EF4-FFF2-40B4-BE49-F238E27FC236}">
                <a16:creationId xmlns:a16="http://schemas.microsoft.com/office/drawing/2014/main" id="{A30531B8-F892-4960-B25B-59DB0A11704E}"/>
              </a:ext>
            </a:extLst>
          </p:cNvPr>
          <p:cNvGraphicFramePr/>
          <p:nvPr/>
        </p:nvGraphicFramePr>
        <p:xfrm>
          <a:off xmlns:a="http://schemas.openxmlformats.org/drawingml/2006/main" x="914400" y="2011680"/>
          <a:ext xmlns:a="http://schemas.openxmlformats.org/drawingml/2006/main" cx="16433800" cy="6197602"/>
        </p:xfrm>
        <a:graphic xmlns:a="http://schemas.openxmlformats.org/drawingml/2006/main">
          <a:graphicData uri="http://schemas.openxmlformats.org/drawingml/2006/table">
            <a:tbl>
              <a:tblPr/>
              <a:tblGrid>
                <a:gridCol w="5477933"/>
                <a:gridCol w="8016672"/>
                <a:gridCol w="2939195"/>
              </a:tblGrid>
              <a:tr h="744302">
                <a:tc>
                  <a:txBody>
                    <a:bodyPr/>
                    <a:lstStyle/>
                    <a:p>
                      <a:pPr algn="l">
                        <a:lnSpc>
                          <a:spcPts val="3120"/>
                        </a:lnSpc>
                        <a:buNone/>
                      </a:pPr>
                      <a:r>
                        <a:rPr sz="2600" b="1">
                          <a:solidFill>
                            <a:srgbClr val="FFFFFF"/>
                          </a:solidFill>
                          <a:latin typeface="Calibri (MS) Bold"/>
                          <a:ea typeface="Calibri (MS) Bold"/>
                          <a:cs typeface="Calibri (MS) Bold"/>
                        </a:rPr>
                        <a:t>Decisión</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3120"/>
                        </a:lnSpc>
                        <a:buNone/>
                      </a:pPr>
                      <a:r>
                        <a:rPr sz="2600" b="1">
                          <a:solidFill>
                            <a:srgbClr val="FFFFFF"/>
                          </a:solidFill>
                          <a:latin typeface="Calibri (MS) Bold"/>
                          <a:ea typeface="Calibri (MS) Bold"/>
                          <a:cs typeface="Calibri (MS) Bold"/>
                        </a:rPr>
                        <a:t>Por qué (alternativa descartada)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3120"/>
                        </a:lnSpc>
                        <a:buNone/>
                      </a:pPr>
                      <a:r>
                        <a:rPr sz="2600" b="1">
                          <a:solidFill>
                            <a:srgbClr val="FFFFFF"/>
                          </a:solidFill>
                          <a:latin typeface="Calibri (MS) Bold"/>
                          <a:ea typeface="Calibri (MS) Bold"/>
                          <a:cs typeface="Calibri (MS) Bold"/>
                        </a:rPr>
                        <a:t>Drivers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1363325">
                <a:tc>
                  <a:txBody>
                    <a:bodyPr/>
                    <a:lstStyle/>
                    <a:p>
                      <a:pPr algn="l">
                        <a:lnSpc>
                          <a:spcPts val="3120"/>
                        </a:lnSpc>
                        <a:buNone/>
                      </a:pPr>
                      <a:r>
                        <a:rPr sz="2600" b="1">
                          <a:solidFill>
                            <a:srgbClr val="1F2D3A"/>
                          </a:solidFill>
                          <a:latin typeface="Calibri (MS) Bold"/>
                          <a:ea typeface="Calibri (MS) Bold"/>
                          <a:cs typeface="Calibri (MS) Bold"/>
                        </a:rPr>
                        <a:t>DD-01 Strangler Fig tras un API Gateway</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Entregas pequeñas y reversibles (descartada: reescritura completa)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AC-05, CON-01</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363325">
                <a:tc>
                  <a:txBody>
                    <a:bodyPr/>
                    <a:lstStyle/>
                    <a:p>
                      <a:pPr algn="l">
                        <a:lnSpc>
                          <a:spcPts val="3120"/>
                        </a:lnSpc>
                        <a:buNone/>
                      </a:pPr>
                      <a:r>
                        <a:rPr sz="2600" b="1">
                          <a:solidFill>
                            <a:srgbClr val="1F2D3A"/>
                          </a:solidFill>
                          <a:latin typeface="Calibri (MS) Bold"/>
                          <a:ea typeface="Calibri (MS) Bold"/>
                          <a:cs typeface="Calibri (MS) Bold"/>
                        </a:rPr>
                        <a:t>DD-02 Un microservicio por Bounded Context</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Reutiliza límites y código existentes (descartados: 3 servicios gruesos)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CON-02, CON-03</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363325">
                <a:tc>
                  <a:txBody>
                    <a:bodyPr/>
                    <a:lstStyle/>
                    <a:p>
                      <a:pPr algn="l">
                        <a:lnSpc>
                          <a:spcPts val="3120"/>
                        </a:lnSpc>
                        <a:buNone/>
                      </a:pPr>
                      <a:r>
                        <a:rPr sz="2600" b="1">
                          <a:solidFill>
                            <a:srgbClr val="1F2D3A"/>
                          </a:solidFill>
                          <a:latin typeface="Calibri (MS) Bold"/>
                          <a:ea typeface="Calibri (MS) Bold"/>
                          <a:cs typeface="Calibri (MS) Bold"/>
                        </a:rPr>
                        <a:t>DD-03 Un esquema por servicio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Propiedad clara de datos (descartada: base compartida)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AC-04, CON-04</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363325">
                <a:tc>
                  <a:txBody>
                    <a:bodyPr/>
                    <a:lstStyle/>
                    <a:p>
                      <a:pPr algn="l">
                        <a:lnSpc>
                          <a:spcPts val="3120"/>
                        </a:lnSpc>
                        <a:buNone/>
                      </a:pPr>
                      <a:r>
                        <a:rPr sz="2600" b="1">
                          <a:solidFill>
                            <a:srgbClr val="1F2D3A"/>
                          </a:solidFill>
                          <a:latin typeface="Calibri (MS) Bold"/>
                          <a:ea typeface="Calibri (MS) Bold"/>
                          <a:cs typeface="Calibri (MS) Bold"/>
                        </a:rPr>
                        <a:t>DD-04 Proveedores tras puertos y adaptadores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Stripe, OIDC, IA y notificaciones fuera del dominio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3120"/>
                        </a:lnSpc>
                        <a:buNone/>
                      </a:pPr>
                      <a:r>
                        <a:rPr sz="2600">
                          <a:solidFill>
                            <a:srgbClr val="1F2D3A"/>
                          </a:solidFill>
                          <a:latin typeface="Calibri (MS)"/>
                          <a:ea typeface="Calibri (MS)"/>
                          <a:cs typeface="Calibri (MS)"/>
                        </a:rPr>
                        <a:t>CON-05, CON-07</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bl>
          </a:graphicData>
        </a:graphic>
      </p:graphicFrame>
      <p:sp>
        <p:nvSpPr>
          <p:cNvPr id="7" name="Freeform 7">
            <a:extLst xmlns:a="http://schemas.openxmlformats.org/drawingml/2006/main">
              <a:ext uri="{FF2B5EF4-FFF2-40B4-BE49-F238E27FC236}">
                <a16:creationId xmlns:a16="http://schemas.microsoft.com/office/drawing/2014/main" id="{71D694CC-9592-4015-9C3A-C643542C78C9}"/>
              </a:ext>
            </a:extLst>
          </p:cNvPr>
          <p:cNvSpPr>
            <a:spLocks xmlns:a="http://schemas.openxmlformats.org/drawingml/2006/main" noGrp="1"/>
          </p:cNvSpPr>
          <p:nvPr/>
        </p:nvSpPr>
        <p:spPr>
          <a:xfrm xmlns:a="http://schemas.openxmlformats.org/drawingml/2006/main" rot="0" flipH="0" flipV="0">
            <a:off x="914400" y="8412480"/>
            <a:ext cx="16459200" cy="914400"/>
          </a:xfrm>
          <a:custGeom xmlns:a="http://schemas.openxmlformats.org/drawingml/2006/main">
            <a:rect l="l" t="t" r="r" b="b"/>
            <a:pathLst>
              <a:path w="21945600" h="1219200">
                <a:moveTo>
                  <a:pt x="0" y="0"/>
                </a:moveTo>
                <a:lnTo>
                  <a:pt x="21945600" y="0"/>
                </a:lnTo>
                <a:lnTo>
                  <a:pt x="21945600" y="1219200"/>
                </a:lnTo>
                <a:lnTo>
                  <a:pt x="0" y="1219200"/>
                </a:lnTo>
                <a:close/>
              </a:path>
            </a:pathLst>
          </a:custGeom>
          <a:blipFill xmlns:a="http://schemas.openxmlformats.org/drawingml/2006/main">
            <a:blip xmlns:r="http://schemas.openxmlformats.org/officeDocument/2006/relationships" r:embed="R63c30bbfec5b4fbc">
              <a:alphaModFix amt="0"/>
            </a:blip>
            <a:stretch>
              <a:fillRect l="0" t="-300730" r="0" b="-300730"/>
            </a:stretch>
          </a:blipFill>
        </p:spPr>
        <p:txBody>
          <a:bodyPr xmlns:a="http://schemas.openxmlformats.org/drawingml/2006/main"/>
          <a:lstStyle xmlns:a="http://schemas.openxmlformats.org/drawingml/2006/main"/>
          <a:p xmlns:a="http://schemas.openxmlformats.org/drawingml/2006/main">
            <a:endParaRPr/>
          </a:p>
        </p:txBody>
      </p:sp>
      <p:sp>
        <p:nvSpPr>
          <p:cNvPr id="8" name="TextBox 8">
            <a:extLst xmlns:a="http://schemas.openxmlformats.org/drawingml/2006/main">
              <a:ext uri="{FF2B5EF4-FFF2-40B4-BE49-F238E27FC236}">
                <a16:creationId xmlns:a16="http://schemas.microsoft.com/office/drawing/2014/main" id="{A8F3DB92-0D31-476A-BDA4-EBEDE8640606}"/>
              </a:ext>
            </a:extLst>
          </p:cNvPr>
          <p:cNvSpPr>
            <a:spLocks xmlns:a="http://schemas.openxmlformats.org/drawingml/2006/main" noGrp="1"/>
          </p:cNvSpPr>
          <p:nvPr/>
        </p:nvSpPr>
        <p:spPr>
          <a:xfrm xmlns:a="http://schemas.openxmlformats.org/drawingml/2006/main" rot="0" flipH="0" flipV="0">
            <a:off x="914400" y="8362474"/>
            <a:ext cx="16459200" cy="96440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359"/>
              </a:lnSpc>
              <a:buNone/>
            </a:pPr>
            <a:r>
              <a:rPr sz="2799" b="1">
                <a:solidFill>
                  <a:srgbClr val="1B7F8C"/>
                </a:solidFill>
                <a:latin typeface="Calibri (MS) Bold"/>
                <a:ea typeface="Calibri (MS) Bold"/>
                <a:cs typeface="Calibri (MS) Bold"/>
              </a:rPr>
              <a:t>Resultado: 8 microservicios detrás de un API Gateway, con migración incremental desde la línea base.</a:t>
            </a:r>
          </a:p>
        </p:txBody>
      </p:sp>
      <p:sp>
        <p:nvSpPr>
          <p:cNvPr id="9" name="TextBox 9">
            <a:extLst xmlns:a="http://schemas.openxmlformats.org/drawingml/2006/main">
              <a:ext uri="{FF2B5EF4-FFF2-40B4-BE49-F238E27FC236}">
                <a16:creationId xmlns:a16="http://schemas.microsoft.com/office/drawing/2014/main" id="{F216E1ED-0FE4-4434-922D-DA0B95C2EB93}"/>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21</a:t>
            </a:r>
          </a:p>
        </p:txBody>
      </p:sp>
      <p:sp>
        <p:nvSpPr>
          <p:cNvPr id="10" name="Iteración 0: base de microservicios">
            <a:extLst xmlns:a="http://schemas.openxmlformats.org/drawingml/2006/main">
              <a:ext uri="{FF2B5EF4-FFF2-40B4-BE49-F238E27FC236}">
                <a16:creationId xmlns:a16="http://schemas.microsoft.com/office/drawing/2014/main" id="{B00EA082-39F1-484C-BD5B-E15A5BA7E5E9}"/>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Iteración 0: base de microservicios</a:t>
            </a:r>
          </a:p>
        </p:txBody>
      </p:sp>
    </p:spTree>
    <p:extLst>
      <p:ext uri="{BB962C8B-B14F-4D97-AF65-F5344CB8AC3E}">
        <p14:creationId xmlns:p14="http://schemas.microsoft.com/office/powerpoint/2010/main" val="159773833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CB2D7D8-706D-4168-B34C-7442217DC595}"/>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103f57f8c6d6442d">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5" name="TextBox 5">
            <a:extLst xmlns:a="http://schemas.openxmlformats.org/drawingml/2006/main">
              <a:ext uri="{FF2B5EF4-FFF2-40B4-BE49-F238E27FC236}">
                <a16:creationId xmlns:a16="http://schemas.microsoft.com/office/drawing/2014/main" id="{1CBBAF24-D648-44CB-8824-1B978B9EE271}"/>
              </a:ext>
            </a:extLst>
          </p:cNvPr>
          <p:cNvSpPr>
            <a:spLocks xmlns:a="http://schemas.openxmlformats.org/drawingml/2006/main" noGrp="1"/>
          </p:cNvSpPr>
          <p:nvPr/>
        </p:nvSpPr>
        <p:spPr>
          <a:xfrm xmlns:a="http://schemas.openxmlformats.org/drawingml/2006/main">
            <a:off x="914400" y="1771650"/>
            <a:ext cx="16459200" cy="3962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i="1">
                <a:solidFill>
                  <a:srgbClr val="5B6B7A"/>
                </a:solidFill>
                <a:latin typeface="Calibri (MS) Italics"/>
                <a:ea typeface="Calibri (MS) Italics"/>
                <a:cs typeface="Calibri (MS) Italics"/>
              </a:rPr>
              <a:t>QA-01: brecha visible ≤ 30 s después del umbral; recuperación ≤ 5 min tras reconexión.</a:t>
            </a:r>
          </a:p>
        </p:txBody>
      </p:sp>
      <p:graphicFrame>
        <p:nvGraphicFramePr>
          <p:cNvPr id="6" name="Table 6">
            <a:extLst xmlns:a="http://schemas.openxmlformats.org/drawingml/2006/main">
              <a:ext uri="{FF2B5EF4-FFF2-40B4-BE49-F238E27FC236}">
                <a16:creationId xmlns:a16="http://schemas.microsoft.com/office/drawing/2014/main" id="{AA2A8692-46C9-45A3-B185-ED1B82DB15AC}"/>
              </a:ext>
            </a:extLst>
          </p:cNvPr>
          <p:cNvGraphicFramePr/>
          <p:nvPr/>
        </p:nvGraphicFramePr>
        <p:xfrm>
          <a:off xmlns:a="http://schemas.openxmlformats.org/drawingml/2006/main" x="914400" y="2926080"/>
          <a:ext xmlns:a="http://schemas.openxmlformats.org/drawingml/2006/main" cx="16433801" cy="5334001"/>
        </p:xfrm>
        <a:graphic xmlns:a="http://schemas.openxmlformats.org/drawingml/2006/main">
          <a:graphicData uri="http://schemas.openxmlformats.org/drawingml/2006/table">
            <a:tbl>
              <a:tblPr/>
              <a:tblGrid>
                <a:gridCol w="4571241"/>
                <a:gridCol w="8923365"/>
                <a:gridCol w="2939195"/>
              </a:tblGrid>
              <a:tr h="709528">
                <a:tc>
                  <a:txBody>
                    <a:bodyPr/>
                    <a:lstStyle/>
                    <a:p>
                      <a:pPr algn="l">
                        <a:lnSpc>
                          <a:spcPts val="2879"/>
                        </a:lnSpc>
                        <a:buNone/>
                      </a:pPr>
                      <a:r>
                        <a:rPr sz="2400" b="1">
                          <a:solidFill>
                            <a:srgbClr val="FFFFFF"/>
                          </a:solidFill>
                          <a:latin typeface="Calibri (MS) Bold"/>
                          <a:ea typeface="Calibri (MS) Bold"/>
                          <a:cs typeface="Calibri (MS) Bold"/>
                        </a:rPr>
                        <a:t>Táctica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2879"/>
                        </a:lnSpc>
                        <a:buNone/>
                      </a:pPr>
                      <a:r>
                        <a:rPr sz="2400" b="1">
                          <a:solidFill>
                            <a:srgbClr val="FFFFFF"/>
                          </a:solidFill>
                          <a:latin typeface="Calibri (MS) Bold"/>
                          <a:ea typeface="Calibri (MS) Bold"/>
                          <a:cs typeface="Calibri (MS) Bold"/>
                        </a:rPr>
                        <a:t>Cómo se aplica en ColdTrace</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2879"/>
                        </a:lnSpc>
                        <a:buNone/>
                      </a:pPr>
                      <a:r>
                        <a:rPr sz="2400" b="1">
                          <a:solidFill>
                            <a:srgbClr val="FFFFFF"/>
                          </a:solidFill>
                          <a:latin typeface="Calibri (MS) Bold"/>
                          <a:ea typeface="Calibri (MS) Bold"/>
                          <a:cs typeface="Calibri (MS) Bold"/>
                        </a:rPr>
                        <a:t>ADD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1541491">
                <a:tc>
                  <a:txBody>
                    <a:bodyPr/>
                    <a:lstStyle/>
                    <a:p>
                      <a:pPr algn="l">
                        <a:lnSpc>
                          <a:spcPts val="2879"/>
                        </a:lnSpc>
                        <a:buNone/>
                      </a:pPr>
                      <a:r>
                        <a:rPr sz="2325" b="1">
                          <a:solidFill>
                            <a:srgbClr val="1F2D3A"/>
                          </a:solidFill>
                          <a:latin typeface="Calibri (MS) Bold"/>
                          <a:ea typeface="Calibri (MS) Bold"/>
                          <a:cs typeface="Calibri (MS) Bold"/>
                        </a:rPr>
                        <a:t>Heartbeat y Timestamp</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Edge envía heartbeat cada 10 s; Source Gap Detector revisa la ausencia y marca NO_DATA.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DC-08, DD-07</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541491">
                <a:tc>
                  <a:txBody>
                    <a:bodyPr/>
                    <a:lstStyle/>
                    <a:p>
                      <a:pPr algn="l">
                        <a:lnSpc>
                          <a:spcPts val="2879"/>
                        </a:lnSpc>
                        <a:buNone/>
                      </a:pPr>
                      <a:r>
                        <a:rPr sz="2325" b="1">
                          <a:solidFill>
                            <a:srgbClr val="1F2D3A"/>
                          </a:solidFill>
                          <a:latin typeface="Calibri (MS) Bold"/>
                          <a:ea typeface="Calibri (MS) Bold"/>
                          <a:cs typeface="Calibri (MS) Bold"/>
                        </a:rPr>
                        <a:t>Retención y reintentos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SQLite conserva lecturas durante el corte. El agente reenvía y elimina solo las confirmadas.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DC-06, DD-05</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541491">
                <a:tc>
                  <a:txBody>
                    <a:bodyPr/>
                    <a:lstStyle/>
                    <a:p>
                      <a:pPr algn="l">
                        <a:lnSpc>
                          <a:spcPts val="2879"/>
                        </a:lnSpc>
                        <a:buNone/>
                      </a:pPr>
                      <a:r>
                        <a:rPr sz="2325" b="1">
                          <a:solidFill>
                            <a:srgbClr val="1F2D3A"/>
                          </a:solidFill>
                          <a:latin typeface="Calibri (MS) Bold"/>
                          <a:ea typeface="Calibri (MS) Bold"/>
                          <a:cs typeface="Calibri (MS) Bold"/>
                        </a:rPr>
                        <a:t>Transacción e idempotencia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Clave única y control del lote evitan duplicar lecturas. Una instancia mínima reduce arranques en frío; no prueba redundancia.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DC-07, DC-09, DD-06, DD-08</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bl>
          </a:graphicData>
        </a:graphic>
      </p:graphicFrame>
      <p:sp>
        <p:nvSpPr>
          <p:cNvPr id="7" name="TextBox 7">
            <a:extLst xmlns:a="http://schemas.openxmlformats.org/drawingml/2006/main">
              <a:ext uri="{FF2B5EF4-FFF2-40B4-BE49-F238E27FC236}">
                <a16:creationId xmlns:a16="http://schemas.microsoft.com/office/drawing/2014/main" id="{B178B141-5C22-4A2E-8622-0E650D67F246}"/>
              </a:ext>
            </a:extLst>
          </p:cNvPr>
          <p:cNvSpPr>
            <a:spLocks xmlns:a="http://schemas.openxmlformats.org/drawingml/2006/main" noGrp="1"/>
          </p:cNvSpPr>
          <p:nvPr/>
        </p:nvSpPr>
        <p:spPr>
          <a:xfrm xmlns:a="http://schemas.openxmlformats.org/drawingml/2006/main">
            <a:off x="914400" y="8538210"/>
            <a:ext cx="16459200" cy="3962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2325"/>
            </a:defPPr>
            <a:lvl1pPr>
              <a:defRPr sz="2325"/>
            </a:lvl1pPr>
            <a:lvl2pPr>
              <a:defRPr sz="2325"/>
            </a:lvl2pPr>
            <a:lvl3pPr>
              <a:defRPr sz="2325"/>
            </a:lvl3pPr>
            <a:lvl4pPr>
              <a:defRPr sz="2325"/>
            </a:lvl4pPr>
            <a:lvl5pPr>
              <a:defRPr sz="2325"/>
            </a:lvl5pPr>
            <a:lvl6pPr>
              <a:defRPr sz="2325"/>
            </a:lvl6pPr>
            <a:lvl7pPr>
              <a:defRPr sz="2325"/>
            </a:lvl7pPr>
            <a:lvl8pPr>
              <a:defRPr sz="2325"/>
            </a:lvl8pPr>
            <a:lvl9pPr>
              <a:defRPr sz="2325"/>
            </a:lvl9pPr>
          </a:lstStyle>
          <a:p xmlns:a="http://schemas.openxmlformats.org/drawingml/2006/main">
            <a:pPr algn="l">
              <a:lnSpc>
                <a:spcPts val="3120"/>
              </a:lnSpc>
              <a:buNone/>
              <a:defRPr sz="2325"/>
            </a:pPr>
            <a:r>
              <a:rPr sz="2325" b="1">
                <a:solidFill>
                  <a:srgbClr val="1B7F8C"/>
                </a:solidFill>
                <a:latin typeface="Calibri (MS) Bold"/>
                <a:ea typeface="Calibri (MS) Bold"/>
                <a:cs typeface="Calibri (MS) Bold"/>
              </a:rPr>
              <a:t>Diseño abordado en ADD; recuperación y duplicados probados localmente. Validación cloud pendiente.</a:t>
            </a:r>
          </a:p>
        </p:txBody>
      </p:sp>
      <p:sp>
        <p:nvSpPr>
          <p:cNvPr id="8" name="TextBox 8">
            <a:extLst xmlns:a="http://schemas.openxmlformats.org/drawingml/2006/main">
              <a:ext uri="{FF2B5EF4-FFF2-40B4-BE49-F238E27FC236}">
                <a16:creationId xmlns:a16="http://schemas.microsoft.com/office/drawing/2014/main" id="{07E63525-1977-4C94-B74C-85AC0C6DDCE4}"/>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22</a:t>
            </a:r>
          </a:p>
        </p:txBody>
      </p:sp>
      <p:sp>
        <p:nvSpPr>
          <p:cNvPr id="9" name="Disponibilidad: continuidad y recuperación">
            <a:extLst xmlns:a="http://schemas.openxmlformats.org/drawingml/2006/main">
              <a:ext uri="{FF2B5EF4-FFF2-40B4-BE49-F238E27FC236}">
                <a16:creationId xmlns:a16="http://schemas.microsoft.com/office/drawing/2014/main" id="{D7C25171-7E65-450E-BA41-BB4722ABDDC9}"/>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Disponibilidad: continuidad y recuperación</a:t>
            </a:r>
          </a:p>
        </p:txBody>
      </p:sp>
    </p:spTree>
    <p:extLst>
      <p:ext uri="{BB962C8B-B14F-4D97-AF65-F5344CB8AC3E}">
        <p14:creationId xmlns:p14="http://schemas.microsoft.com/office/powerpoint/2010/main" val="134282539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47AC242-BCC8-4279-BBDE-5303639E5517}"/>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39325f3f98b64d7d">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graphicFrame>
        <p:nvGraphicFramePr>
          <p:cNvPr id="6" name="Table 6">
            <a:extLst xmlns:a="http://schemas.openxmlformats.org/drawingml/2006/main">
              <a:ext uri="{FF2B5EF4-FFF2-40B4-BE49-F238E27FC236}">
                <a16:creationId xmlns:a16="http://schemas.microsoft.com/office/drawing/2014/main" id="{C9ED1F51-AA49-4C5C-B836-D11295D60FEE}"/>
              </a:ext>
            </a:extLst>
          </p:cNvPr>
          <p:cNvGraphicFramePr/>
          <p:nvPr/>
        </p:nvGraphicFramePr>
        <p:xfrm>
          <a:off xmlns:a="http://schemas.openxmlformats.org/drawingml/2006/main" x="914400" y="2926080"/>
          <a:ext xmlns:a="http://schemas.openxmlformats.org/drawingml/2006/main" cx="16433801" cy="5334001"/>
        </p:xfrm>
        <a:graphic xmlns:a="http://schemas.openxmlformats.org/drawingml/2006/main">
          <a:graphicData uri="http://schemas.openxmlformats.org/drawingml/2006/table">
            <a:tbl>
              <a:tblPr/>
              <a:tblGrid>
                <a:gridCol w="4571241"/>
                <a:gridCol w="8923365"/>
                <a:gridCol w="2939195"/>
              </a:tblGrid>
              <a:tr h="709528">
                <a:tc>
                  <a:txBody>
                    <a:bodyPr/>
                    <a:lstStyle/>
                    <a:p>
                      <a:pPr algn="l">
                        <a:lnSpc>
                          <a:spcPts val="2879"/>
                        </a:lnSpc>
                        <a:buNone/>
                      </a:pPr>
                      <a:r>
                        <a:rPr sz="2400" b="1">
                          <a:solidFill>
                            <a:srgbClr val="FFFFFF"/>
                          </a:solidFill>
                          <a:latin typeface="Calibri (MS) Bold"/>
                          <a:ea typeface="Calibri (MS) Bold"/>
                          <a:cs typeface="Calibri (MS) Bold"/>
                        </a:rPr>
                        <a:t>Táctica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2879"/>
                        </a:lnSpc>
                        <a:buNone/>
                      </a:pPr>
                      <a:r>
                        <a:rPr sz="2400" b="1">
                          <a:solidFill>
                            <a:srgbClr val="FFFFFF"/>
                          </a:solidFill>
                          <a:latin typeface="Calibri (MS) Bold"/>
                          <a:ea typeface="Calibri (MS) Bold"/>
                          <a:cs typeface="Calibri (MS) Bold"/>
                        </a:rPr>
                        <a:t>Cómo se aplica en ColdTrace</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2879"/>
                        </a:lnSpc>
                        <a:buNone/>
                      </a:pPr>
                      <a:r>
                        <a:rPr sz="2400" b="1">
                          <a:solidFill>
                            <a:srgbClr val="FFFFFF"/>
                          </a:solidFill>
                          <a:latin typeface="Calibri (MS) Bold"/>
                          <a:ea typeface="Calibri (MS) Bold"/>
                          <a:cs typeface="Calibri (MS) Bold"/>
                        </a:rPr>
                        <a:t>ADD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1541491">
                <a:tc>
                  <a:txBody>
                    <a:bodyPr/>
                    <a:lstStyle/>
                    <a:p>
                      <a:pPr algn="l">
                        <a:lnSpc>
                          <a:spcPts val="2879"/>
                        </a:lnSpc>
                        <a:buNone/>
                      </a:pPr>
                      <a:r>
                        <a:rPr sz="2325" b="1">
                          <a:solidFill>
                            <a:srgbClr val="1F2D3A"/>
                          </a:solidFill>
                          <a:latin typeface="Calibri (MS) Bold"/>
                          <a:ea typeface="Calibri (MS) Bold"/>
                          <a:cs typeface="Calibri (MS) Bold"/>
                        </a:rPr>
                        <a:t>Aislar flujos de eventos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threshold.breached separado de readings.ingested. La prioridad efectiva requiere capacidad y consumidores dimensionados.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DC-17, DD-10</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541491">
                <a:tc>
                  <a:txBody>
                    <a:bodyPr/>
                    <a:lstStyle/>
                    <a:p>
                      <a:pPr algn="l">
                        <a:lnSpc>
                          <a:spcPts val="2879"/>
                        </a:lnSpc>
                        <a:buNone/>
                      </a:pPr>
                      <a:r>
                        <a:rPr sz="2325" b="1">
                          <a:solidFill>
                            <a:srgbClr val="1F2D3A"/>
                          </a:solidFill>
                          <a:latin typeface="Calibri (MS) Bold"/>
                          <a:ea typeface="Calibri (MS) Bold"/>
                          <a:cs typeface="Calibri (MS) Bold"/>
                        </a:rPr>
                        <a:t>Concurrencia y control de carga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Pub/Sub desacopla consumidores; ingesta por lotes y límites de carga. Outbox conserva el evento junto con la lectura.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DC-12, DC-13, DC-17, DD-10, DD-11</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541491">
                <a:tc>
                  <a:txBody>
                    <a:bodyPr/>
                    <a:lstStyle/>
                    <a:p>
                      <a:pPr algn="l">
                        <a:lnSpc>
                          <a:spcPts val="2879"/>
                        </a:lnSpc>
                        <a:buNone/>
                      </a:pPr>
                      <a:r>
                        <a:rPr sz="2325" b="1">
                          <a:solidFill>
                            <a:srgbClr val="1F2D3A"/>
                          </a:solidFill>
                          <a:latin typeface="Calibri (MS) Bold"/>
                          <a:ea typeface="Calibri (MS) Bold"/>
                          <a:cs typeface="Calibri (MS) Bold"/>
                        </a:rPr>
                        <a:t>Copias para consulta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Rangos locales, estado actual proyectado y lectura histórica en Reports reducen el trabajo de cada consulta.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325">
                          <a:solidFill>
                            <a:srgbClr val="1F2D3A"/>
                          </a:solidFill>
                          <a:latin typeface="Calibri (MS)"/>
                          <a:ea typeface="Calibri (MS)"/>
                          <a:cs typeface="Calibri (MS)"/>
                        </a:rPr>
                        <a:t>DC-14 a DC-16, DD-12, DD-13</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bl>
          </a:graphicData>
        </a:graphic>
      </p:graphicFrame>
      <p:sp>
        <p:nvSpPr>
          <p:cNvPr id="7" name="TextBox 7">
            <a:extLst xmlns:a="http://schemas.openxmlformats.org/drawingml/2006/main">
              <a:ext uri="{FF2B5EF4-FFF2-40B4-BE49-F238E27FC236}">
                <a16:creationId xmlns:a16="http://schemas.microsoft.com/office/drawing/2014/main" id="{C17B1DB9-DC1B-45F6-AE96-08BF76A18E3C}"/>
              </a:ext>
            </a:extLst>
          </p:cNvPr>
          <p:cNvSpPr>
            <a:spLocks xmlns:a="http://schemas.openxmlformats.org/drawingml/2006/main" noGrp="1"/>
          </p:cNvSpPr>
          <p:nvPr/>
        </p:nvSpPr>
        <p:spPr>
          <a:xfrm xmlns:a="http://schemas.openxmlformats.org/drawingml/2006/main">
            <a:off x="914400" y="8538210"/>
            <a:ext cx="16459200" cy="3962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2325"/>
            </a:defPPr>
            <a:lvl1pPr>
              <a:defRPr sz="2325"/>
            </a:lvl1pPr>
            <a:lvl2pPr>
              <a:defRPr sz="2325"/>
            </a:lvl2pPr>
            <a:lvl3pPr>
              <a:defRPr sz="2325"/>
            </a:lvl3pPr>
            <a:lvl4pPr>
              <a:defRPr sz="2325"/>
            </a:lvl4pPr>
            <a:lvl5pPr>
              <a:defRPr sz="2325"/>
            </a:lvl5pPr>
            <a:lvl6pPr>
              <a:defRPr sz="2325"/>
            </a:lvl6pPr>
            <a:lvl7pPr>
              <a:defRPr sz="2325"/>
            </a:lvl7pPr>
            <a:lvl8pPr>
              <a:defRPr sz="2325"/>
            </a:lvl8pPr>
            <a:lvl9pPr>
              <a:defRPr sz="2325"/>
            </a:lvl9pPr>
          </a:lstStyle>
          <a:p xmlns:a="http://schemas.openxmlformats.org/drawingml/2006/main">
            <a:pPr algn="l">
              <a:lnSpc>
                <a:spcPts val="3120"/>
              </a:lnSpc>
              <a:buNone/>
              <a:defRPr sz="2325"/>
            </a:pPr>
            <a:r>
              <a:rPr sz="2325" b="1">
                <a:solidFill>
                  <a:srgbClr val="1B7F8C"/>
                </a:solidFill>
                <a:latin typeface="Calibri (MS) Bold"/>
                <a:ea typeface="Calibri (MS) Bold"/>
                <a:cs typeface="Calibri (MS) Bold"/>
              </a:rPr>
              <a:t>Decisiones implementadas parcialmente; QA-02 requiere aún el ensayo completo de 1 000 sensores.</a:t>
            </a:r>
          </a:p>
        </p:txBody>
      </p:sp>
      <p:sp>
        <p:nvSpPr>
          <p:cNvPr id="8" name="TextBox 8">
            <a:extLst xmlns:a="http://schemas.openxmlformats.org/drawingml/2006/main">
              <a:ext uri="{FF2B5EF4-FFF2-40B4-BE49-F238E27FC236}">
                <a16:creationId xmlns:a16="http://schemas.microsoft.com/office/drawing/2014/main" id="{E7894CD7-DD30-47E7-9FAC-52A4D42E9D89}"/>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23</a:t>
            </a:r>
          </a:p>
        </p:txBody>
      </p:sp>
      <p:sp>
        <p:nvSpPr>
          <p:cNvPr id="9" name="Rendimiento: aislamiento de la ruta crítica">
            <a:extLst xmlns:a="http://schemas.openxmlformats.org/drawingml/2006/main">
              <a:ext uri="{FF2B5EF4-FFF2-40B4-BE49-F238E27FC236}">
                <a16:creationId xmlns:a16="http://schemas.microsoft.com/office/drawing/2014/main" id="{6E1796BF-8589-460D-A544-9EE2E5CB60B4}"/>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Rendimiento: aislamiento de la ruta crítica</a:t>
            </a:r>
          </a:p>
        </p:txBody>
      </p:sp>
      <p:sp>
        <p:nvSpPr>
          <p:cNvPr id="10" name="QA-02: 95 % confirmado &lt; 2 s; 99 % evaluado y">
            <a:extLst xmlns:a="http://schemas.openxmlformats.org/drawingml/2006/main">
              <a:ext uri="{FF2B5EF4-FFF2-40B4-BE49-F238E27FC236}">
                <a16:creationId xmlns:a16="http://schemas.microsoft.com/office/drawing/2014/main" id="{CD60F423-A7A9-4071-82AE-A17A7345E472}"/>
              </a:ext>
            </a:extLst>
          </p:cNvPr>
          <p:cNvSpPr>
            <a:spLocks xmlns:a="http://schemas.openxmlformats.org/drawingml/2006/main" noGrp="1"/>
          </p:cNvSpPr>
          <p:nvPr/>
        </p:nvSpPr>
        <p:spPr>
          <a:xfrm xmlns:a="http://schemas.openxmlformats.org/drawingml/2006/main">
            <a:off x="914400" y="1828800"/>
            <a:ext cx="16459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5B6B7A"/>
                </a:solidFill>
              </a:defRPr>
            </a:defPPr>
            <a:lvl1pPr>
              <a:defRPr sz="2400" b="0">
                <a:solidFill>
                  <a:srgbClr val="5B6B7A"/>
                </a:solidFill>
              </a:defRPr>
            </a:lvl1pPr>
            <a:lvl2pPr>
              <a:defRPr sz="2400" b="0">
                <a:solidFill>
                  <a:srgbClr val="5B6B7A"/>
                </a:solidFill>
              </a:defRPr>
            </a:lvl2pPr>
            <a:lvl3pPr>
              <a:defRPr sz="2400" b="0">
                <a:solidFill>
                  <a:srgbClr val="5B6B7A"/>
                </a:solidFill>
              </a:defRPr>
            </a:lvl3pPr>
            <a:lvl4pPr>
              <a:defRPr sz="2400" b="0">
                <a:solidFill>
                  <a:srgbClr val="5B6B7A"/>
                </a:solidFill>
              </a:defRPr>
            </a:lvl4pPr>
            <a:lvl5pPr>
              <a:defRPr sz="2400" b="0">
                <a:solidFill>
                  <a:srgbClr val="5B6B7A"/>
                </a:solidFill>
              </a:defRPr>
            </a:lvl5pPr>
            <a:lvl6pPr>
              <a:defRPr sz="2400" b="0">
                <a:solidFill>
                  <a:srgbClr val="5B6B7A"/>
                </a:solidFill>
              </a:defRPr>
            </a:lvl6pPr>
            <a:lvl7pPr>
              <a:defRPr sz="2400" b="0">
                <a:solidFill>
                  <a:srgbClr val="5B6B7A"/>
                </a:solidFill>
              </a:defRPr>
            </a:lvl7pPr>
            <a:lvl8pPr>
              <a:defRPr sz="2400" b="0">
                <a:solidFill>
                  <a:srgbClr val="5B6B7A"/>
                </a:solidFill>
              </a:defRPr>
            </a:lvl8pPr>
            <a:lvl9pPr>
              <a:defRPr sz="2400" b="0">
                <a:solidFill>
                  <a:srgbClr val="5B6B7A"/>
                </a:solidFill>
              </a:defRPr>
            </a:lvl9pPr>
          </a:lstStyle>
          <a:p xmlns:a="http://schemas.openxmlformats.org/drawingml/2006/main">
            <a:pPr>
              <a:defRPr sz="2400" b="0">
                <a:solidFill>
                  <a:srgbClr val="5B6B7A"/>
                </a:solidFill>
              </a:defRPr>
            </a:pPr>
            <a:r>
              <a:rPr sz="2400" b="0">
                <a:solidFill>
                  <a:srgbClr val="5B6B7A"/>
                </a:solidFill>
              </a:rPr>
              <a:t>QA-02: 95 % confirmado &lt; 2 s; 99 % evaluado y persistido &lt; 5 s; notificación &lt; 10 s.</a:t>
            </a:r>
          </a:p>
        </p:txBody>
      </p:sp>
    </p:spTree>
    <p:extLst>
      <p:ext uri="{BB962C8B-B14F-4D97-AF65-F5344CB8AC3E}">
        <p14:creationId xmlns:p14="http://schemas.microsoft.com/office/powerpoint/2010/main" val="179789459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4AC9D56-273B-419D-8F46-C934B3A99FD3}"/>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51b4d92ab36b436e">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5" name="TextBox 5">
            <a:extLst xmlns:a="http://schemas.openxmlformats.org/drawingml/2006/main">
              <a:ext uri="{FF2B5EF4-FFF2-40B4-BE49-F238E27FC236}">
                <a16:creationId xmlns:a16="http://schemas.microsoft.com/office/drawing/2014/main" id="{9D83BFC8-F03D-4FA1-8138-4677FA54D849}"/>
              </a:ext>
            </a:extLst>
          </p:cNvPr>
          <p:cNvSpPr>
            <a:spLocks xmlns:a="http://schemas.openxmlformats.org/drawingml/2006/main" noGrp="1"/>
          </p:cNvSpPr>
          <p:nvPr/>
        </p:nvSpPr>
        <p:spPr>
          <a:xfrm xmlns:a="http://schemas.openxmlformats.org/drawingml/2006/main">
            <a:off x="914400" y="1771650"/>
            <a:ext cx="16459200" cy="10629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20"/>
              </a:lnSpc>
              <a:buNone/>
            </a:pPr>
            <a:r>
              <a:rPr sz="2600" i="1">
                <a:solidFill>
                  <a:srgbClr val="5B6B7A"/>
                </a:solidFill>
                <a:latin typeface="Calibri (MS) Italics"/>
                <a:ea typeface="Calibri (MS) Italics"/>
                <a:cs typeface="Calibri (MS) Italics"/>
              </a:rPr>
              <a:t>QA-03: el 90 % reconoce y asigna una alerta en &lt; 1 min sin ayuda, con confirmación en &lt; 2 s.</a:t>
            </a:r>
          </a:p>
        </p:txBody>
      </p:sp>
      <p:graphicFrame>
        <p:nvGraphicFramePr>
          <p:cNvPr id="6" name="Table 6">
            <a:extLst xmlns:a="http://schemas.openxmlformats.org/drawingml/2006/main">
              <a:ext uri="{FF2B5EF4-FFF2-40B4-BE49-F238E27FC236}">
                <a16:creationId xmlns:a16="http://schemas.microsoft.com/office/drawing/2014/main" id="{8C4F59AD-54E6-47FC-9068-A02D4284E866}"/>
              </a:ext>
            </a:extLst>
          </p:cNvPr>
          <p:cNvGraphicFramePr/>
          <p:nvPr/>
        </p:nvGraphicFramePr>
        <p:xfrm>
          <a:off xmlns:a="http://schemas.openxmlformats.org/drawingml/2006/main" x="914400" y="2926080"/>
          <a:ext xmlns:a="http://schemas.openxmlformats.org/drawingml/2006/main" cx="16433801" cy="5334001"/>
        </p:xfrm>
        <a:graphic xmlns:a="http://schemas.openxmlformats.org/drawingml/2006/main">
          <a:graphicData uri="http://schemas.openxmlformats.org/drawingml/2006/table">
            <a:tbl>
              <a:tblPr/>
              <a:tblGrid>
                <a:gridCol w="4571241"/>
                <a:gridCol w="8923365"/>
                <a:gridCol w="2939195"/>
              </a:tblGrid>
              <a:tr h="709528">
                <a:tc>
                  <a:txBody>
                    <a:bodyPr/>
                    <a:lstStyle/>
                    <a:p>
                      <a:pPr algn="l">
                        <a:lnSpc>
                          <a:spcPts val="2879"/>
                        </a:lnSpc>
                        <a:buNone/>
                      </a:pPr>
                      <a:r>
                        <a:rPr sz="2400" b="1">
                          <a:solidFill>
                            <a:srgbClr val="FFFFFF"/>
                          </a:solidFill>
                          <a:latin typeface="Calibri (MS) Bold"/>
                          <a:ea typeface="Calibri (MS) Bold"/>
                          <a:cs typeface="Calibri (MS) Bold"/>
                        </a:rPr>
                        <a:t>Táctica</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2879"/>
                        </a:lnSpc>
                        <a:buNone/>
                      </a:pPr>
                      <a:r>
                        <a:rPr sz="2400" b="1">
                          <a:solidFill>
                            <a:srgbClr val="FFFFFF"/>
                          </a:solidFill>
                          <a:latin typeface="Calibri (MS) Bold"/>
                          <a:ea typeface="Calibri (MS) Bold"/>
                          <a:cs typeface="Calibri (MS) Bold"/>
                        </a:rPr>
                        <a:t>Cómo se aplica en ColdTrace</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c>
                  <a:txBody>
                    <a:bodyPr/>
                    <a:lstStyle/>
                    <a:p>
                      <a:pPr algn="l">
                        <a:lnSpc>
                          <a:spcPts val="2879"/>
                        </a:lnSpc>
                        <a:buNone/>
                      </a:pPr>
                      <a:r>
                        <a:rPr sz="2400" b="1">
                          <a:solidFill>
                            <a:srgbClr val="FFFFFF"/>
                          </a:solidFill>
                          <a:latin typeface="Calibri (MS) Bold"/>
                          <a:ea typeface="Calibri (MS) Bold"/>
                          <a:cs typeface="Calibri (MS) Bold"/>
                        </a:rPr>
                        <a:t>ADD</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solidFill>
                      <a:srgbClr val="0B2A43"/>
                    </a:solidFill>
                  </a:tcPr>
                </a:tc>
              </a:tr>
              <a:tr h="1541491">
                <a:tc>
                  <a:txBody>
                    <a:bodyPr/>
                    <a:lstStyle/>
                    <a:p>
                      <a:pPr algn="l">
                        <a:lnSpc>
                          <a:spcPts val="2879"/>
                        </a:lnSpc>
                        <a:buNone/>
                      </a:pPr>
                      <a:r>
                        <a:rPr sz="2400" b="1">
                          <a:solidFill>
                            <a:srgbClr val="1F2D3A"/>
                          </a:solidFill>
                          <a:latin typeface="Calibri (MS) Bold"/>
                          <a:ea typeface="Calibri (MS) Bold"/>
                          <a:cs typeface="Calibri (MS) Bold"/>
                        </a:rPr>
                        <a:t>Agregar (aggregate)</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400">
                          <a:solidFill>
                            <a:srgbClr val="1F2D3A"/>
                          </a:solidFill>
                          <a:latin typeface="Calibri (MS)"/>
                          <a:ea typeface="Calibri (MS)"/>
                          <a:cs typeface="Calibri (MS)"/>
                        </a:rPr>
                        <a:t>Acción única «Reconocer y asignar» con el responsable preseleccionado.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400">
                          <a:solidFill>
                            <a:srgbClr val="1F2D3A"/>
                          </a:solidFill>
                          <a:latin typeface="Calibri (MS)"/>
                          <a:ea typeface="Calibri (MS)"/>
                          <a:cs typeface="Calibri (MS)"/>
                        </a:rPr>
                        <a:t>DC-20, DD-16</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541491">
                <a:tc>
                  <a:txBody>
                    <a:bodyPr/>
                    <a:lstStyle/>
                    <a:p>
                      <a:pPr algn="l">
                        <a:lnSpc>
                          <a:spcPts val="2879"/>
                        </a:lnSpc>
                        <a:buNone/>
                      </a:pPr>
                      <a:r>
                        <a:rPr sz="2400" b="1">
                          <a:solidFill>
                            <a:srgbClr val="1F2D3A"/>
                          </a:solidFill>
                          <a:latin typeface="Calibri (MS) Bold"/>
                          <a:ea typeface="Calibri (MS) Bold"/>
                          <a:cs typeface="Calibri (MS) Bold"/>
                        </a:rPr>
                        <a:t>Deshacer (undo)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400">
                          <a:solidFill>
                            <a:srgbClr val="1F2D3A"/>
                          </a:solidFill>
                          <a:latin typeface="Calibri (MS)"/>
                          <a:ea typeface="Calibri (MS)"/>
                          <a:cs typeface="Calibri (MS)"/>
                        </a:rPr>
                        <a:t>El usuario revierte el reconocimiento durante 10 s sin consecuencias.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400">
                          <a:solidFill>
                            <a:srgbClr val="1F2D3A"/>
                          </a:solidFill>
                          <a:latin typeface="Calibri (MS)"/>
                          <a:ea typeface="Calibri (MS)"/>
                          <a:cs typeface="Calibri (MS)"/>
                        </a:rPr>
                        <a:t>DC-20, DD-16</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r h="1541491">
                <a:tc>
                  <a:txBody>
                    <a:bodyPr/>
                    <a:lstStyle/>
                    <a:p>
                      <a:pPr algn="l">
                        <a:lnSpc>
                          <a:spcPts val="2879"/>
                        </a:lnSpc>
                        <a:buNone/>
                      </a:pPr>
                      <a:r>
                        <a:rPr sz="2400" b="1">
                          <a:solidFill>
                            <a:srgbClr val="1F2D3A"/>
                          </a:solidFill>
                          <a:latin typeface="Calibri (MS) Bold"/>
                          <a:ea typeface="Calibri (MS) Bold"/>
                          <a:cs typeface="Calibri (MS) Bold"/>
                        </a:rPr>
                        <a:t>Mantener el modelo de tarea y de usuario</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400">
                          <a:solidFill>
                            <a:srgbClr val="1F2D3A"/>
                          </a:solidFill>
                          <a:latin typeface="Calibri (MS)"/>
                          <a:ea typeface="Calibri (MS)"/>
                          <a:cs typeface="Calibri (MS)"/>
                        </a:rPr>
                        <a:t>Enlace directo desde la notificación, detalle con todo el contexto, acciones según el rol y confirmación por Server-Sent Events.</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c>
                  <a:txBody>
                    <a:bodyPr/>
                    <a:lstStyle/>
                    <a:p>
                      <a:pPr algn="l">
                        <a:lnSpc>
                          <a:spcPts val="2879"/>
                        </a:lnSpc>
                        <a:buNone/>
                      </a:pPr>
                      <a:r>
                        <a:rPr sz="2400">
                          <a:solidFill>
                            <a:srgbClr val="1F2D3A"/>
                          </a:solidFill>
                          <a:latin typeface="Calibri (MS)"/>
                          <a:ea typeface="Calibri (MS)"/>
                          <a:cs typeface="Calibri (MS)"/>
                        </a:rPr>
                        <a:t>DC-18, DC-19, DC-21, DD-14, DD-15, DD-17</a:t>
                      </a:r>
                      <a:endParaRPr sz="1100"/>
                    </a:p>
                  </a:txBody>
                  <a:tcPr marL="91440" marR="91440" marT="91440" marB="91440" anchor="ctr">
                    <a:lnL w="9525" cmpd="sng">
                      <a:solidFill>
                        <a:srgbClr val="D5E2E8"/>
                      </a:solidFill>
                      <a:prstDash val="solid"/>
                    </a:lnL>
                    <a:lnR w="9525" cmpd="sng">
                      <a:solidFill>
                        <a:srgbClr val="D5E2E8"/>
                      </a:solidFill>
                      <a:prstDash val="solid"/>
                    </a:lnR>
                    <a:lnT w="9525" cmpd="sng">
                      <a:solidFill>
                        <a:srgbClr val="D5E2E8"/>
                      </a:solidFill>
                      <a:prstDash val="solid"/>
                    </a:lnT>
                    <a:lnB w="9525" cmpd="sng">
                      <a:solidFill>
                        <a:srgbClr val="D5E2E8"/>
                      </a:solidFill>
                      <a:prstDash val="solid"/>
                    </a:lnB>
                  </a:tcPr>
                </a:tc>
              </a:tr>
            </a:tbl>
          </a:graphicData>
        </a:graphic>
      </p:graphicFrame>
      <p:sp>
        <p:nvSpPr>
          <p:cNvPr id="7" name="TextBox 7">
            <a:extLst xmlns:a="http://schemas.openxmlformats.org/drawingml/2006/main">
              <a:ext uri="{FF2B5EF4-FFF2-40B4-BE49-F238E27FC236}">
                <a16:creationId xmlns:a16="http://schemas.microsoft.com/office/drawing/2014/main" id="{2003C1C7-11B2-46B4-BDEF-D0220DB45A61}"/>
              </a:ext>
            </a:extLst>
          </p:cNvPr>
          <p:cNvSpPr>
            <a:spLocks xmlns:a="http://schemas.openxmlformats.org/drawingml/2006/main" noGrp="1"/>
          </p:cNvSpPr>
          <p:nvPr/>
        </p:nvSpPr>
        <p:spPr>
          <a:xfrm xmlns:a="http://schemas.openxmlformats.org/drawingml/2006/main">
            <a:off x="914400" y="8538210"/>
            <a:ext cx="16459200" cy="3962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2325"/>
            </a:defPPr>
            <a:lvl1pPr>
              <a:defRPr sz="2325"/>
            </a:lvl1pPr>
            <a:lvl2pPr>
              <a:defRPr sz="2325"/>
            </a:lvl2pPr>
            <a:lvl3pPr>
              <a:defRPr sz="2325"/>
            </a:lvl3pPr>
            <a:lvl4pPr>
              <a:defRPr sz="2325"/>
            </a:lvl4pPr>
            <a:lvl5pPr>
              <a:defRPr sz="2325"/>
            </a:lvl5pPr>
            <a:lvl6pPr>
              <a:defRPr sz="2325"/>
            </a:lvl6pPr>
            <a:lvl7pPr>
              <a:defRPr sz="2325"/>
            </a:lvl7pPr>
            <a:lvl8pPr>
              <a:defRPr sz="2325"/>
            </a:lvl8pPr>
            <a:lvl9pPr>
              <a:defRPr sz="2325"/>
            </a:lvl9pPr>
          </a:lstStyle>
          <a:p xmlns:a="http://schemas.openxmlformats.org/drawingml/2006/main">
            <a:pPr algn="l">
              <a:lnSpc>
                <a:spcPts val="3120"/>
              </a:lnSpc>
              <a:buNone/>
              <a:defRPr sz="2325"/>
            </a:pPr>
            <a:r>
              <a:rPr sz="2325" b="1">
                <a:solidFill>
                  <a:srgbClr val="1B7F8C"/>
                </a:solidFill>
                <a:latin typeface="Calibri (MS) Bold"/>
                <a:ea typeface="Calibri (MS) Bold"/>
                <a:cs typeface="Calibri (MS) Bold"/>
              </a:rPr>
              <a:t>Flujo y política de deshacer implementados. QA-03 requiere validación con participantes.</a:t>
            </a:r>
          </a:p>
        </p:txBody>
      </p:sp>
      <p:sp>
        <p:nvSpPr>
          <p:cNvPr id="8" name="TextBox 8">
            <a:extLst xmlns:a="http://schemas.openxmlformats.org/drawingml/2006/main">
              <a:ext uri="{FF2B5EF4-FFF2-40B4-BE49-F238E27FC236}">
                <a16:creationId xmlns:a16="http://schemas.microsoft.com/office/drawing/2014/main" id="{B2E13F7E-6A8A-4268-8039-28932DAB445A}"/>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24</a:t>
            </a:r>
          </a:p>
        </p:txBody>
      </p:sp>
      <p:sp>
        <p:nvSpPr>
          <p:cNvPr id="9" name="Usabilidad: contexto, acción y recuperación">
            <a:extLst xmlns:a="http://schemas.openxmlformats.org/drawingml/2006/main">
              <a:ext uri="{FF2B5EF4-FFF2-40B4-BE49-F238E27FC236}">
                <a16:creationId xmlns:a16="http://schemas.microsoft.com/office/drawing/2014/main" id="{8DB4F66A-B8E0-44D7-9EF7-10BE5E8B2C5F}"/>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Usabilidad: contexto, acción y recuperación</a:t>
            </a:r>
          </a:p>
        </p:txBody>
      </p:sp>
    </p:spTree>
    <p:extLst>
      <p:ext uri="{BB962C8B-B14F-4D97-AF65-F5344CB8AC3E}">
        <p14:creationId xmlns:p14="http://schemas.microsoft.com/office/powerpoint/2010/main" val="1203502584"/>
      </p:ext>
    </p:extLst>
  </p:cSld>
</p:sld>
</file>

<file path=ppt/slides/slide25.xml><?xml version="1.0" encoding="utf-8"?>
<p:sld xmlns:p="http://schemas.openxmlformats.org/presentationml/2006/main">
  <p:cSld>
    <p:bg>
      <p:bgPr>
        <a:solidFill xmlns:a="http://schemas.openxmlformats.org/drawingml/2006/main">
          <a:srgbClr val="1B7F8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31DFFC1-34BB-461A-8F87-61A6FE0FA302}"/>
              </a:ext>
            </a:extLst>
          </p:cNvPr>
          <p:cNvSpPr>
            <a:spLocks xmlns:a="http://schemas.openxmlformats.org/drawingml/2006/main" noGrp="1"/>
          </p:cNvSpPr>
          <p:nvPr/>
        </p:nvSpPr>
        <p:spPr>
          <a:xfrm xmlns:a="http://schemas.openxmlformats.org/drawingml/2006/main" rot="0" flipH="0" flipV="0">
            <a:off x="1280160" y="2194560"/>
            <a:ext cx="5486400" cy="2194560"/>
          </a:xfrm>
          <a:custGeom xmlns:a="http://schemas.openxmlformats.org/drawingml/2006/main">
            <a:rect l="l" t="t" r="r" b="b"/>
            <a:pathLst>
              <a:path w="7315200" h="2926080">
                <a:moveTo>
                  <a:pt x="0" y="0"/>
                </a:moveTo>
                <a:lnTo>
                  <a:pt x="7315200" y="0"/>
                </a:lnTo>
                <a:lnTo>
                  <a:pt x="7315200" y="2926080"/>
                </a:lnTo>
                <a:lnTo>
                  <a:pt x="0" y="2926080"/>
                </a:lnTo>
                <a:close/>
              </a:path>
            </a:pathLst>
          </a:custGeom>
          <a:blipFill xmlns:a="http://schemas.openxmlformats.org/drawingml/2006/main">
            <a:blip xmlns:r="http://schemas.openxmlformats.org/officeDocument/2006/relationships" r:embed="Ra216b01f83b94a5a">
              <a:alphaModFix amt="0"/>
            </a:blip>
            <a:stretch>
              <a:fillRect l="-1321" t="0" r="-1321" b="0"/>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B7FE7518-C939-45FF-8F13-2CA1FBA036A4}"/>
              </a:ext>
            </a:extLst>
          </p:cNvPr>
          <p:cNvSpPr>
            <a:spLocks xmlns:a="http://schemas.openxmlformats.org/drawingml/2006/main" noGrp="1"/>
          </p:cNvSpPr>
          <p:nvPr/>
        </p:nvSpPr>
        <p:spPr>
          <a:xfrm xmlns:a="http://schemas.openxmlformats.org/drawingml/2006/main" rot="0" flipH="0" flipV="0">
            <a:off x="1280160" y="2180273"/>
            <a:ext cx="5486400" cy="220884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7280"/>
              </a:lnSpc>
              <a:buNone/>
            </a:pPr>
            <a:r>
              <a:rPr sz="14400" b="1">
                <a:solidFill>
                  <a:srgbClr val="F2A33A"/>
                </a:solidFill>
                <a:latin typeface="Cambria Bold"/>
                <a:ea typeface="Cambria Bold"/>
                <a:cs typeface="Cambria Bold"/>
              </a:rPr>
              <a:t>05</a:t>
            </a:r>
          </a:p>
        </p:txBody>
      </p:sp>
      <p:sp>
        <p:nvSpPr>
          <p:cNvPr id="6" name="Freeform 6">
            <a:extLst xmlns:a="http://schemas.openxmlformats.org/drawingml/2006/main">
              <a:ext uri="{FF2B5EF4-FFF2-40B4-BE49-F238E27FC236}">
                <a16:creationId xmlns:a16="http://schemas.microsoft.com/office/drawing/2014/main" id="{EA3EA5DB-B049-49A1-BC4C-5AF3D41058D8}"/>
              </a:ext>
            </a:extLst>
          </p:cNvPr>
          <p:cNvSpPr>
            <a:spLocks xmlns:a="http://schemas.openxmlformats.org/drawingml/2006/main" noGrp="1"/>
          </p:cNvSpPr>
          <p:nvPr/>
        </p:nvSpPr>
        <p:spPr>
          <a:xfrm xmlns:a="http://schemas.openxmlformats.org/drawingml/2006/main" rot="0" flipH="0" flipV="0">
            <a:off x="1280160" y="4572000"/>
            <a:ext cx="15727679" cy="1645920"/>
          </a:xfrm>
          <a:custGeom xmlns:a="http://schemas.openxmlformats.org/drawingml/2006/main">
            <a:rect l="l" t="t" r="r" b="b"/>
            <a:pathLst>
              <a:path w="20970239" h="2194560">
                <a:moveTo>
                  <a:pt x="0" y="0"/>
                </a:moveTo>
                <a:lnTo>
                  <a:pt x="20970239" y="0"/>
                </a:lnTo>
                <a:lnTo>
                  <a:pt x="20970239" y="2194560"/>
                </a:lnTo>
                <a:lnTo>
                  <a:pt x="0" y="2194560"/>
                </a:lnTo>
                <a:close/>
              </a:path>
            </a:pathLst>
          </a:custGeom>
          <a:blipFill xmlns:a="http://schemas.openxmlformats.org/drawingml/2006/main">
            <a:blip xmlns:r="http://schemas.openxmlformats.org/officeDocument/2006/relationships" r:embed="Ra216b01f83b94a5a">
              <a:alphaModFix amt="0"/>
            </a:blip>
            <a:stretch>
              <a:fillRect l="0" t="-136190" r="0" b="-136190"/>
            </a:stretch>
          </a:blip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18D03176-C2B1-4BFC-9FA3-DFA6AC4FC7E4}"/>
              </a:ext>
            </a:extLst>
          </p:cNvPr>
          <p:cNvSpPr>
            <a:spLocks xmlns:a="http://schemas.openxmlformats.org/drawingml/2006/main" noGrp="1"/>
          </p:cNvSpPr>
          <p:nvPr/>
        </p:nvSpPr>
        <p:spPr>
          <a:xfrm xmlns:a="http://schemas.openxmlformats.org/drawingml/2006/main" rot="0" flipH="0" flipV="0">
            <a:off x="1280160" y="4557713"/>
            <a:ext cx="15727680" cy="166020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8640"/>
              </a:lnSpc>
              <a:buNone/>
            </a:pPr>
            <a:r>
              <a:rPr sz="7200" b="1">
                <a:solidFill>
                  <a:srgbClr val="FFFFFF"/>
                </a:solidFill>
                <a:latin typeface="Cambria Bold"/>
                <a:ea typeface="Cambria Bold"/>
                <a:cs typeface="Cambria Bold"/>
              </a:rPr>
              <a:t>Arquitectura C4</a:t>
            </a:r>
          </a:p>
        </p:txBody>
      </p:sp>
      <p:sp>
        <p:nvSpPr>
          <p:cNvPr id="8" name="25">
            <a:extLst xmlns:a="http://schemas.openxmlformats.org/drawingml/2006/main">
              <a:ext uri="{FF2B5EF4-FFF2-40B4-BE49-F238E27FC236}">
                <a16:creationId xmlns:a16="http://schemas.microsoft.com/office/drawing/2014/main" id="{7C6B0454-57A8-49DF-B927-39AA1EE7AF5D}"/>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25</a:t>
            </a:r>
          </a:p>
        </p:txBody>
      </p:sp>
    </p:spTree>
    <p:extLst>
      <p:ext uri="{BB962C8B-B14F-4D97-AF65-F5344CB8AC3E}">
        <p14:creationId xmlns:p14="http://schemas.microsoft.com/office/powerpoint/2010/main" val="77836006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16AC52F-64FE-465D-8DF1-20A373D02280}"/>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a486f3847c8443b4">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5AECB16C-B95A-4C7C-9A44-EDDBBD66E7E8}"/>
              </a:ext>
            </a:extLst>
          </p:cNvPr>
          <p:cNvSpPr>
            <a:spLocks xmlns:a="http://schemas.openxmlformats.org/drawingml/2006/main" noGrp="1"/>
          </p:cNvSpPr>
          <p:nvPr/>
        </p:nvSpPr>
        <p:spPr>
          <a:xfrm xmlns:a="http://schemas.openxmlformats.org/drawingml/2006/main" rot="0" flipH="0" flipV="0">
            <a:off x="901703" y="1998983"/>
            <a:ext cx="16374028" cy="7523511"/>
          </a:xfrm>
          <a:custGeom xmlns:a="http://schemas.openxmlformats.org/drawingml/2006/main">
            <a:rect l="l" t="t" r="r" b="b"/>
            <a:pathLst>
              <a:path w="21832038" h="10031349">
                <a:moveTo>
                  <a:pt x="0" y="0"/>
                </a:moveTo>
                <a:lnTo>
                  <a:pt x="21832038" y="0"/>
                </a:lnTo>
                <a:lnTo>
                  <a:pt x="21832038"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6B64F56E-3D38-4D5F-AC56-D6EA67CABD9F}"/>
              </a:ext>
            </a:extLst>
          </p:cNvPr>
          <p:cNvSpPr>
            <a:spLocks xmlns:a="http://schemas.openxmlformats.org/drawingml/2006/main" noGrp="1"/>
          </p:cNvSpPr>
          <p:nvPr/>
        </p:nvSpPr>
        <p:spPr>
          <a:xfrm xmlns:a="http://schemas.openxmlformats.org/drawingml/2006/main" rot="0" flipH="0" flipV="0">
            <a:off x="4625378" y="2157984"/>
            <a:ext cx="8926690" cy="7364482"/>
          </a:xfrm>
          <a:custGeom xmlns:a="http://schemas.openxmlformats.org/drawingml/2006/main">
            <a:rect l="l" t="t" r="r" b="b"/>
            <a:pathLst>
              <a:path w="11645265" h="9607296">
                <a:moveTo>
                  <a:pt x="0" y="0"/>
                </a:moveTo>
                <a:lnTo>
                  <a:pt x="11645265" y="0"/>
                </a:lnTo>
                <a:lnTo>
                  <a:pt x="11645265" y="9607296"/>
                </a:lnTo>
                <a:lnTo>
                  <a:pt x="0" y="9607296"/>
                </a:lnTo>
                <a:lnTo>
                  <a:pt x="0" y="0"/>
                </a:lnTo>
                <a:close/>
              </a:path>
            </a:pathLst>
          </a:custGeom>
          <a:blipFill xmlns:a="http://schemas.openxmlformats.org/drawingml/2006/main">
            <a:blip xmlns:r="http://schemas.openxmlformats.org/officeDocument/2006/relationships" r:embed="R0105e0ae565a464a"/>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6A9DD46E-4125-421A-89D4-E839F418786C}"/>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26</a:t>
            </a:r>
          </a:p>
        </p:txBody>
      </p:sp>
      <p:sp>
        <p:nvSpPr>
          <p:cNvPr id="10" name="C4 · Nivel 1: Contexto">
            <a:extLst xmlns:a="http://schemas.openxmlformats.org/drawingml/2006/main">
              <a:ext uri="{FF2B5EF4-FFF2-40B4-BE49-F238E27FC236}">
                <a16:creationId xmlns:a16="http://schemas.microsoft.com/office/drawing/2014/main" id="{A764A97A-AAEC-497D-88C4-7AA3724665ED}"/>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Nivel 1: Contexto</a:t>
            </a:r>
          </a:p>
        </p:txBody>
      </p:sp>
    </p:spTree>
    <p:extLst>
      <p:ext uri="{BB962C8B-B14F-4D97-AF65-F5344CB8AC3E}">
        <p14:creationId xmlns:p14="http://schemas.microsoft.com/office/powerpoint/2010/main" val="50308656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C235377-C8EE-4E91-9EE4-7410E99FB577}"/>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c5d9ba26ab794d05">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E972DF1E-5BA5-4811-AFD2-7E3886AE2CD3}"/>
              </a:ext>
            </a:extLst>
          </p:cNvPr>
          <p:cNvSpPr>
            <a:spLocks xmlns:a="http://schemas.openxmlformats.org/drawingml/2006/main" noGrp="1"/>
          </p:cNvSpPr>
          <p:nvPr/>
        </p:nvSpPr>
        <p:spPr>
          <a:xfrm xmlns:a="http://schemas.openxmlformats.org/drawingml/2006/main" rot="0" flipH="0" flipV="0">
            <a:off x="901703" y="1998983"/>
            <a:ext cx="16768926" cy="7523511"/>
          </a:xfrm>
          <a:custGeom xmlns:a="http://schemas.openxmlformats.org/drawingml/2006/main">
            <a:rect l="l" t="t" r="r" b="b"/>
            <a:pathLst>
              <a:path w="22358569" h="10031349">
                <a:moveTo>
                  <a:pt x="0" y="0"/>
                </a:moveTo>
                <a:lnTo>
                  <a:pt x="22358569" y="0"/>
                </a:lnTo>
                <a:lnTo>
                  <a:pt x="22358569"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2AF66B13-E1A2-4217-9ACF-6E5091BEAF19}"/>
              </a:ext>
            </a:extLst>
          </p:cNvPr>
          <p:cNvSpPr>
            <a:spLocks xmlns:a="http://schemas.openxmlformats.org/drawingml/2006/main" noGrp="1"/>
          </p:cNvSpPr>
          <p:nvPr/>
        </p:nvSpPr>
        <p:spPr>
          <a:xfrm xmlns:a="http://schemas.openxmlformats.org/drawingml/2006/main" rot="0" flipH="0" flipV="0">
            <a:off x="4316860" y="2157989"/>
            <a:ext cx="9938576" cy="7205472"/>
          </a:xfrm>
          <a:custGeom xmlns:a="http://schemas.openxmlformats.org/drawingml/2006/main">
            <a:rect l="l" t="t" r="r" b="b"/>
            <a:pathLst>
              <a:path w="13251435" h="9607296">
                <a:moveTo>
                  <a:pt x="0" y="0"/>
                </a:moveTo>
                <a:lnTo>
                  <a:pt x="13251435" y="0"/>
                </a:lnTo>
                <a:lnTo>
                  <a:pt x="13251435" y="9607296"/>
                </a:lnTo>
                <a:lnTo>
                  <a:pt x="0" y="9607296"/>
                </a:lnTo>
                <a:lnTo>
                  <a:pt x="0" y="0"/>
                </a:lnTo>
                <a:close/>
              </a:path>
            </a:pathLst>
          </a:custGeom>
          <a:blipFill xmlns:a="http://schemas.openxmlformats.org/drawingml/2006/main">
            <a:blip xmlns:r="http://schemas.openxmlformats.org/officeDocument/2006/relationships" r:embed="R7e9afeb544654ed5"/>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59D734A4-D990-4D9C-8375-A14E1B6FE59E}"/>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27</a:t>
            </a:r>
          </a:p>
        </p:txBody>
      </p:sp>
      <p:sp>
        <p:nvSpPr>
          <p:cNvPr id="10" name="C4 · Nivel 2: Contenedores (Iteración 0)">
            <a:extLst xmlns:a="http://schemas.openxmlformats.org/drawingml/2006/main">
              <a:ext uri="{FF2B5EF4-FFF2-40B4-BE49-F238E27FC236}">
                <a16:creationId xmlns:a16="http://schemas.microsoft.com/office/drawing/2014/main" id="{59AFE97D-10E8-425C-8222-227B5C79C4CE}"/>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Nivel 2: Contenedores (Iteración 0)</a:t>
            </a:r>
          </a:p>
        </p:txBody>
      </p:sp>
    </p:spTree>
    <p:extLst>
      <p:ext uri="{BB962C8B-B14F-4D97-AF65-F5344CB8AC3E}">
        <p14:creationId xmlns:p14="http://schemas.microsoft.com/office/powerpoint/2010/main" val="163591619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D0A1C7-207C-48B8-863D-D04C73AD368D}"/>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959733e4fe7842b1">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E1DF99FE-71A2-4040-9CC1-902CEA0DAD36}"/>
              </a:ext>
            </a:extLst>
          </p:cNvPr>
          <p:cNvSpPr>
            <a:spLocks xmlns:a="http://schemas.openxmlformats.org/drawingml/2006/main" noGrp="1"/>
          </p:cNvSpPr>
          <p:nvPr/>
        </p:nvSpPr>
        <p:spPr>
          <a:xfrm xmlns:a="http://schemas.openxmlformats.org/drawingml/2006/main" rot="0" flipH="0" flipV="0">
            <a:off x="901703" y="1998983"/>
            <a:ext cx="16746245" cy="7523511"/>
          </a:xfrm>
          <a:custGeom xmlns:a="http://schemas.openxmlformats.org/drawingml/2006/main">
            <a:rect l="l" t="t" r="r" b="b"/>
            <a:pathLst>
              <a:path w="22328327" h="10031349">
                <a:moveTo>
                  <a:pt x="0" y="0"/>
                </a:moveTo>
                <a:lnTo>
                  <a:pt x="22328327" y="0"/>
                </a:lnTo>
                <a:lnTo>
                  <a:pt x="22328327"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D4C09C44-6B82-4565-80F2-59111EC8DBD4}"/>
              </a:ext>
            </a:extLst>
          </p:cNvPr>
          <p:cNvSpPr>
            <a:spLocks xmlns:a="http://schemas.openxmlformats.org/drawingml/2006/main" noGrp="1"/>
          </p:cNvSpPr>
          <p:nvPr/>
        </p:nvSpPr>
        <p:spPr>
          <a:xfrm xmlns:a="http://schemas.openxmlformats.org/drawingml/2006/main" rot="0" flipH="0" flipV="0">
            <a:off x="7071283" y="2138239"/>
            <a:ext cx="5594699" cy="7205472"/>
          </a:xfrm>
          <a:custGeom xmlns:a="http://schemas.openxmlformats.org/drawingml/2006/main">
            <a:rect l="l" t="t" r="r" b="b"/>
            <a:pathLst>
              <a:path w="7459599" h="9607296">
                <a:moveTo>
                  <a:pt x="0" y="0"/>
                </a:moveTo>
                <a:lnTo>
                  <a:pt x="7459599" y="0"/>
                </a:lnTo>
                <a:lnTo>
                  <a:pt x="7459599" y="9607296"/>
                </a:lnTo>
                <a:lnTo>
                  <a:pt x="0" y="9607296"/>
                </a:lnTo>
                <a:lnTo>
                  <a:pt x="0" y="0"/>
                </a:lnTo>
                <a:close/>
              </a:path>
            </a:pathLst>
          </a:custGeom>
          <a:blipFill xmlns:a="http://schemas.openxmlformats.org/drawingml/2006/main">
            <a:blip xmlns:r="http://schemas.openxmlformats.org/officeDocument/2006/relationships" r:embed="R19f2ee7739e9404e"/>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C1A9ACDC-1A33-4E0F-9417-683BB9082E5B}"/>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28</a:t>
            </a:r>
          </a:p>
        </p:txBody>
      </p:sp>
      <p:sp>
        <p:nvSpPr>
          <p:cNvPr id="10" name="C4 · Contenedores: Edge Gateway (Iteración 1)">
            <a:extLst xmlns:a="http://schemas.openxmlformats.org/drawingml/2006/main">
              <a:ext uri="{FF2B5EF4-FFF2-40B4-BE49-F238E27FC236}">
                <a16:creationId xmlns:a16="http://schemas.microsoft.com/office/drawing/2014/main" id="{390DAA0C-BB7E-4767-AE83-B0932473747D}"/>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Contenedores: Edge Gateway (Iteración 1)</a:t>
            </a:r>
          </a:p>
        </p:txBody>
      </p:sp>
    </p:spTree>
    <p:extLst>
      <p:ext uri="{BB962C8B-B14F-4D97-AF65-F5344CB8AC3E}">
        <p14:creationId xmlns:p14="http://schemas.microsoft.com/office/powerpoint/2010/main" val="22645424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16E7647-FC9F-45F9-B34F-81BDE6AB9FA1}"/>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8242b7600c3b4e82">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760441E1-1850-4527-B56E-C31D11192199}"/>
              </a:ext>
            </a:extLst>
          </p:cNvPr>
          <p:cNvSpPr>
            <a:spLocks xmlns:a="http://schemas.openxmlformats.org/drawingml/2006/main" noGrp="1"/>
          </p:cNvSpPr>
          <p:nvPr/>
        </p:nvSpPr>
        <p:spPr>
          <a:xfrm xmlns:a="http://schemas.openxmlformats.org/drawingml/2006/main" rot="0" flipH="0" flipV="0">
            <a:off x="901703" y="1998983"/>
            <a:ext cx="16014726" cy="7523511"/>
          </a:xfrm>
          <a:custGeom xmlns:a="http://schemas.openxmlformats.org/drawingml/2006/main">
            <a:rect l="l" t="t" r="r" b="b"/>
            <a:pathLst>
              <a:path w="21352968" h="10031349">
                <a:moveTo>
                  <a:pt x="0" y="0"/>
                </a:moveTo>
                <a:lnTo>
                  <a:pt x="21352968" y="0"/>
                </a:lnTo>
                <a:lnTo>
                  <a:pt x="21352968"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5A774E2D-0520-44BD-9ADA-9B81A5943426}"/>
              </a:ext>
            </a:extLst>
          </p:cNvPr>
          <p:cNvSpPr>
            <a:spLocks xmlns:a="http://schemas.openxmlformats.org/drawingml/2006/main" noGrp="1"/>
          </p:cNvSpPr>
          <p:nvPr/>
        </p:nvSpPr>
        <p:spPr>
          <a:xfrm xmlns:a="http://schemas.openxmlformats.org/drawingml/2006/main" rot="0" flipH="0" flipV="0">
            <a:off x="6178435" y="2157984"/>
            <a:ext cx="5931169" cy="7364482"/>
          </a:xfrm>
          <a:custGeom xmlns:a="http://schemas.openxmlformats.org/drawingml/2006/main">
            <a:rect l="l" t="t" r="r" b="b"/>
            <a:pathLst>
              <a:path w="7737475" h="9607296">
                <a:moveTo>
                  <a:pt x="0" y="0"/>
                </a:moveTo>
                <a:lnTo>
                  <a:pt x="7737475" y="0"/>
                </a:lnTo>
                <a:lnTo>
                  <a:pt x="7737475" y="9607296"/>
                </a:lnTo>
                <a:lnTo>
                  <a:pt x="0" y="9607296"/>
                </a:lnTo>
                <a:lnTo>
                  <a:pt x="0" y="0"/>
                </a:lnTo>
                <a:close/>
              </a:path>
            </a:pathLst>
          </a:custGeom>
          <a:blipFill xmlns:a="http://schemas.openxmlformats.org/drawingml/2006/main">
            <a:blip xmlns:r="http://schemas.openxmlformats.org/officeDocument/2006/relationships" r:embed="Rb5c4086c2dad40a5"/>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89E0CC97-982E-4AD9-96CD-F458346C7764}"/>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29</a:t>
            </a:r>
          </a:p>
        </p:txBody>
      </p:sp>
      <p:sp>
        <p:nvSpPr>
          <p:cNvPr id="10" name="C4 · Contenedores: Pub/Sub (Iteración 2)">
            <a:extLst xmlns:a="http://schemas.openxmlformats.org/drawingml/2006/main">
              <a:ext uri="{FF2B5EF4-FFF2-40B4-BE49-F238E27FC236}">
                <a16:creationId xmlns:a16="http://schemas.microsoft.com/office/drawing/2014/main" id="{9535EAA6-B2D1-4DCB-82BA-659FB0F123FC}"/>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Contenedores: Pub/Sub (Iteración 2)</a:t>
            </a:r>
          </a:p>
        </p:txBody>
      </p:sp>
    </p:spTree>
    <p:extLst>
      <p:ext uri="{BB962C8B-B14F-4D97-AF65-F5344CB8AC3E}">
        <p14:creationId xmlns:p14="http://schemas.microsoft.com/office/powerpoint/2010/main" val="59900687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EA0EEB3-5365-4352-84A6-BA0229FB997F}"/>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d0e34ee98f2143ac">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E18EC1ED-9B63-4A5A-BE56-4B58B25B8616}"/>
              </a:ext>
            </a:extLst>
          </p:cNvPr>
          <p:cNvSpPr>
            <a:spLocks xmlns:a="http://schemas.openxmlformats.org/drawingml/2006/main" noGrp="1"/>
          </p:cNvSpPr>
          <p:nvPr/>
        </p:nvSpPr>
        <p:spPr>
          <a:xfrm xmlns:a="http://schemas.openxmlformats.org/drawingml/2006/main" rot="0" flipH="0" flipV="0">
            <a:off x="901703" y="1998983"/>
            <a:ext cx="16512242" cy="7523511"/>
          </a:xfrm>
          <a:custGeom xmlns:a="http://schemas.openxmlformats.org/drawingml/2006/main">
            <a:rect l="l" t="t" r="r" b="b"/>
            <a:pathLst>
              <a:path w="22016323" h="10031349">
                <a:moveTo>
                  <a:pt x="0" y="0"/>
                </a:moveTo>
                <a:lnTo>
                  <a:pt x="22016323" y="0"/>
                </a:lnTo>
                <a:lnTo>
                  <a:pt x="22016323"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48E68458-29D8-4742-9F51-690DB0A2E2DE}"/>
              </a:ext>
            </a:extLst>
          </p:cNvPr>
          <p:cNvSpPr>
            <a:spLocks xmlns:a="http://schemas.openxmlformats.org/drawingml/2006/main" noGrp="1"/>
          </p:cNvSpPr>
          <p:nvPr/>
        </p:nvSpPr>
        <p:spPr>
          <a:xfrm xmlns:a="http://schemas.openxmlformats.org/drawingml/2006/main" rot="0" flipH="0" flipV="0">
            <a:off x="8265738" y="2157989"/>
            <a:ext cx="4035075" cy="7205472"/>
          </a:xfrm>
          <a:custGeom xmlns:a="http://schemas.openxmlformats.org/drawingml/2006/main">
            <a:rect l="l" t="t" r="r" b="b"/>
            <a:pathLst>
              <a:path w="5380101" h="9607296">
                <a:moveTo>
                  <a:pt x="0" y="0"/>
                </a:moveTo>
                <a:lnTo>
                  <a:pt x="5380101" y="0"/>
                </a:lnTo>
                <a:lnTo>
                  <a:pt x="5380101" y="9607296"/>
                </a:lnTo>
                <a:lnTo>
                  <a:pt x="0" y="9607296"/>
                </a:lnTo>
                <a:lnTo>
                  <a:pt x="0" y="0"/>
                </a:lnTo>
                <a:close/>
              </a:path>
            </a:pathLst>
          </a:custGeom>
          <a:blipFill xmlns:a="http://schemas.openxmlformats.org/drawingml/2006/main">
            <a:blip xmlns:r="http://schemas.openxmlformats.org/officeDocument/2006/relationships" r:embed="R42789f3aeea54d84"/>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0E86ADB4-DFBE-4807-8227-C868B8BE8E2D}"/>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30</a:t>
            </a:r>
          </a:p>
        </p:txBody>
      </p:sp>
      <p:sp>
        <p:nvSpPr>
          <p:cNvPr id="10" name="C4 · Nivel 3: Componentes de monitoring-servi">
            <a:extLst xmlns:a="http://schemas.openxmlformats.org/drawingml/2006/main">
              <a:ext uri="{FF2B5EF4-FFF2-40B4-BE49-F238E27FC236}">
                <a16:creationId xmlns:a16="http://schemas.microsoft.com/office/drawing/2014/main" id="{152F3F9B-0EF1-43A1-B069-4B76E70FD2AE}"/>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Nivel 3: Componentes de monitoring-service</a:t>
            </a:r>
          </a:p>
        </p:txBody>
      </p:sp>
    </p:spTree>
    <p:extLst>
      <p:ext uri="{BB962C8B-B14F-4D97-AF65-F5344CB8AC3E}">
        <p14:creationId xmlns:p14="http://schemas.microsoft.com/office/powerpoint/2010/main" val="161880873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C78F1C2-AFAA-4CCE-A27E-4D542EFE8D8E}"/>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8e74ec349e174f5a">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49386D2D-F6E6-471C-97D9-45F79649382E}"/>
              </a:ext>
            </a:extLst>
          </p:cNvPr>
          <p:cNvSpPr>
            <a:spLocks xmlns:a="http://schemas.openxmlformats.org/drawingml/2006/main" noGrp="1"/>
          </p:cNvSpPr>
          <p:nvPr/>
        </p:nvSpPr>
        <p:spPr>
          <a:xfrm xmlns:a="http://schemas.openxmlformats.org/drawingml/2006/main" rot="0" flipH="0" flipV="0">
            <a:off x="901703" y="1998983"/>
            <a:ext cx="16380485" cy="7523511"/>
          </a:xfrm>
          <a:custGeom xmlns:a="http://schemas.openxmlformats.org/drawingml/2006/main">
            <a:rect l="l" t="t" r="r" b="b"/>
            <a:pathLst>
              <a:path w="21840647" h="10031349">
                <a:moveTo>
                  <a:pt x="0" y="0"/>
                </a:moveTo>
                <a:lnTo>
                  <a:pt x="21840647" y="0"/>
                </a:lnTo>
                <a:lnTo>
                  <a:pt x="21840647"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79713E49-62E3-44BF-B463-14DCBECB7952}"/>
              </a:ext>
            </a:extLst>
          </p:cNvPr>
          <p:cNvSpPr>
            <a:spLocks xmlns:a="http://schemas.openxmlformats.org/drawingml/2006/main" noGrp="1"/>
          </p:cNvSpPr>
          <p:nvPr/>
        </p:nvSpPr>
        <p:spPr>
          <a:xfrm xmlns:a="http://schemas.openxmlformats.org/drawingml/2006/main" rot="0" flipH="0" flipV="0">
            <a:off x="4395809" y="2121593"/>
            <a:ext cx="8742614" cy="7278263"/>
          </a:xfrm>
          <a:custGeom xmlns:a="http://schemas.openxmlformats.org/drawingml/2006/main">
            <a:rect l="l" t="t" r="r" b="b"/>
            <a:pathLst>
              <a:path w="11540236" h="9607296">
                <a:moveTo>
                  <a:pt x="0" y="0"/>
                </a:moveTo>
                <a:lnTo>
                  <a:pt x="11540236" y="0"/>
                </a:lnTo>
                <a:lnTo>
                  <a:pt x="11540236" y="9607296"/>
                </a:lnTo>
                <a:lnTo>
                  <a:pt x="0" y="9607296"/>
                </a:lnTo>
                <a:lnTo>
                  <a:pt x="0" y="0"/>
                </a:lnTo>
                <a:close/>
              </a:path>
            </a:pathLst>
          </a:custGeom>
          <a:blipFill xmlns:a="http://schemas.openxmlformats.org/drawingml/2006/main">
            <a:blip xmlns:r="http://schemas.openxmlformats.org/officeDocument/2006/relationships" r:embed="R176ee2e730ef41e0"/>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B3D3044A-EF3D-464E-AE5E-EC2A88FC7A1E}"/>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31</a:t>
            </a:r>
          </a:p>
        </p:txBody>
      </p:sp>
      <p:sp>
        <p:nvSpPr>
          <p:cNvPr id="10" name="C4 · Componentes: ruta crítica de una lectura">
            <a:extLst xmlns:a="http://schemas.openxmlformats.org/drawingml/2006/main">
              <a:ext uri="{FF2B5EF4-FFF2-40B4-BE49-F238E27FC236}">
                <a16:creationId xmlns:a16="http://schemas.microsoft.com/office/drawing/2014/main" id="{D09510A6-612A-4687-9D5B-A2AF551128B7}"/>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Componentes: ruta crítica de una lectura</a:t>
            </a:r>
          </a:p>
        </p:txBody>
      </p:sp>
    </p:spTree>
    <p:extLst>
      <p:ext uri="{BB962C8B-B14F-4D97-AF65-F5344CB8AC3E}">
        <p14:creationId xmlns:p14="http://schemas.microsoft.com/office/powerpoint/2010/main" val="1047869946"/>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0D8591F-4F19-4F08-866D-67266BFF6263}"/>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3997b004b3054826">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8643D242-00A3-46A8-B32E-850B8B4C3205}"/>
              </a:ext>
            </a:extLst>
          </p:cNvPr>
          <p:cNvSpPr>
            <a:spLocks xmlns:a="http://schemas.openxmlformats.org/drawingml/2006/main" noGrp="1"/>
          </p:cNvSpPr>
          <p:nvPr/>
        </p:nvSpPr>
        <p:spPr>
          <a:xfrm xmlns:a="http://schemas.openxmlformats.org/drawingml/2006/main" rot="0" flipH="0" flipV="0">
            <a:off x="901703" y="1998983"/>
            <a:ext cx="16014726" cy="7523511"/>
          </a:xfrm>
          <a:custGeom xmlns:a="http://schemas.openxmlformats.org/drawingml/2006/main">
            <a:rect l="l" t="t" r="r" b="b"/>
            <a:pathLst>
              <a:path w="21352968" h="10031349">
                <a:moveTo>
                  <a:pt x="0" y="0"/>
                </a:moveTo>
                <a:lnTo>
                  <a:pt x="21352968" y="0"/>
                </a:lnTo>
                <a:lnTo>
                  <a:pt x="21352968" y="10031349"/>
                </a:lnTo>
                <a:lnTo>
                  <a:pt x="0" y="10031349"/>
                </a:lnTo>
                <a:close/>
              </a:path>
            </a:pathLst>
          </a:custGeom>
          <a:solidFill xmlns:a="http://schemas.openxmlformats.org/drawingml/2006/main">
            <a:srgbClr val="FFFFFF"/>
          </a:solidFill>
          <a:ln xmlns:a="http://schemas.openxmlformats.org/drawingml/2006/main" w="25400" cap="sq">
            <a:solidFill>
              <a:srgbClr val="D5E2E8"/>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A33DDC02-41E9-46BD-877B-F0F29C3781F0}"/>
              </a:ext>
            </a:extLst>
          </p:cNvPr>
          <p:cNvSpPr>
            <a:spLocks xmlns:a="http://schemas.openxmlformats.org/drawingml/2006/main" noGrp="1"/>
          </p:cNvSpPr>
          <p:nvPr/>
        </p:nvSpPr>
        <p:spPr>
          <a:xfrm xmlns:a="http://schemas.openxmlformats.org/drawingml/2006/main" rot="0" flipH="0" flipV="0">
            <a:off x="5908659" y="2118494"/>
            <a:ext cx="7277959" cy="7314315"/>
          </a:xfrm>
          <a:custGeom xmlns:a="http://schemas.openxmlformats.org/drawingml/2006/main">
            <a:rect l="l" t="t" r="r" b="b"/>
            <a:pathLst>
              <a:path w="9559544" h="9607296">
                <a:moveTo>
                  <a:pt x="0" y="0"/>
                </a:moveTo>
                <a:lnTo>
                  <a:pt x="9559544" y="0"/>
                </a:lnTo>
                <a:lnTo>
                  <a:pt x="9559544" y="9607296"/>
                </a:lnTo>
                <a:lnTo>
                  <a:pt x="0" y="9607296"/>
                </a:lnTo>
                <a:lnTo>
                  <a:pt x="0" y="0"/>
                </a:lnTo>
                <a:close/>
              </a:path>
            </a:pathLst>
          </a:custGeom>
          <a:blipFill xmlns:a="http://schemas.openxmlformats.org/drawingml/2006/main">
            <a:blip xmlns:r="http://schemas.openxmlformats.org/officeDocument/2006/relationships" r:embed="R7aaec3b06daa4cfc"/>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3C02C472-78EC-4B23-9E14-3D2DA89CF242}"/>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32</a:t>
            </a:r>
          </a:p>
        </p:txBody>
      </p:sp>
      <p:sp>
        <p:nvSpPr>
          <p:cNvPr id="10" name="C4 · Componentes de alert-service">
            <a:extLst xmlns:a="http://schemas.openxmlformats.org/drawingml/2006/main">
              <a:ext uri="{FF2B5EF4-FFF2-40B4-BE49-F238E27FC236}">
                <a16:creationId xmlns:a16="http://schemas.microsoft.com/office/drawing/2014/main" id="{2B87869B-61A2-49A3-B254-DE425E742F04}"/>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C4 · Componentes de alert-service</a:t>
            </a:r>
          </a:p>
        </p:txBody>
      </p:sp>
    </p:spTree>
    <p:extLst>
      <p:ext uri="{BB962C8B-B14F-4D97-AF65-F5344CB8AC3E}">
        <p14:creationId xmlns:p14="http://schemas.microsoft.com/office/powerpoint/2010/main" val="5947410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644FA950-0568-4E48-B6BD-B146C8A03A94}"/>
              </a:ext>
            </a:extLst>
          </p:cNvPr>
          <p:cNvCxnSpPr>
            <a:stCxn xmlns:a="http://schemas.openxmlformats.org/drawingml/2006/main" id="6" idx="3"/>
            <a:endCxn xmlns:a="http://schemas.openxmlformats.org/drawingml/2006/main" id="12" idx="1"/>
          </p:cNvCxnSpPr>
          <p:nvPr/>
        </p:nvCxnSpPr>
        <p:spPr>
          <a:xfrm xmlns:a="http://schemas.openxmlformats.org/drawingml/2006/main">
            <a:off x="12573000" y="4095750"/>
            <a:ext cx="1238250" cy="142875"/>
          </a:xfrm>
          <a:prstGeom xmlns:a="http://schemas.openxmlformats.org/drawingml/2006/main" prst="straightConnector1">
            <a:avLst/>
          </a:prstGeom>
          <a:ln xmlns:a="http://schemas.openxmlformats.org/drawingml/2006/main" w="19050">
            <a:solidFill>
              <a:srgbClr val="5B6B7A"/>
            </a:solidFill>
            <a:tailEnd type="arrow" w="med" len="med"/>
          </a:ln>
        </p:spPr>
      </p:cxnSp>
      <p:cxnSp>
        <p:nvCxnSpPr>
          <p:cNvPr id="20" name="">
            <a:extLst xmlns:a="http://schemas.openxmlformats.org/drawingml/2006/main">
              <a:ext uri="{FF2B5EF4-FFF2-40B4-BE49-F238E27FC236}">
                <a16:creationId xmlns:a16="http://schemas.microsoft.com/office/drawing/2014/main" id="{12B9BA2B-F6AD-41EF-8F2A-979C4CBCDA8F}"/>
              </a:ext>
            </a:extLst>
          </p:cNvPr>
          <p:cNvCxnSpPr>
            <a:stCxn xmlns:a="http://schemas.openxmlformats.org/drawingml/2006/main" id="3" idx="2"/>
            <a:endCxn xmlns:a="http://schemas.openxmlformats.org/drawingml/2006/main" id="15" idx="0"/>
          </p:cNvCxnSpPr>
          <p:nvPr/>
        </p:nvCxnSpPr>
        <p:spPr>
          <a:xfrm xmlns:a="http://schemas.openxmlformats.org/drawingml/2006/main">
            <a:off x="3581400" y="5334000"/>
            <a:ext cx="0" cy="1333500"/>
          </a:xfrm>
          <a:prstGeom xmlns:a="http://schemas.openxmlformats.org/drawingml/2006/main" prst="straightConnector1">
            <a:avLst/>
          </a:prstGeom>
          <a:ln xmlns:a="http://schemas.openxmlformats.org/drawingml/2006/main" w="19050">
            <a:solidFill>
              <a:srgbClr val="5B6B7A"/>
            </a:solidFill>
            <a:tailEnd type="arrow" w="med" len="med"/>
          </a:ln>
        </p:spPr>
      </p:cxnSp>
      <p:cxnSp>
        <p:nvCxnSpPr>
          <p:cNvPr id="19" name="">
            <a:extLst xmlns:a="http://schemas.openxmlformats.org/drawingml/2006/main">
              <a:ext uri="{FF2B5EF4-FFF2-40B4-BE49-F238E27FC236}">
                <a16:creationId xmlns:a16="http://schemas.microsoft.com/office/drawing/2014/main" id="{6FA1592D-8362-4648-B71B-0B0060E5259F}"/>
              </a:ext>
            </a:extLst>
          </p:cNvPr>
          <p:cNvCxnSpPr>
            <a:stCxn xmlns:a="http://schemas.openxmlformats.org/drawingml/2006/main" id="9" idx="0"/>
            <a:endCxn xmlns:a="http://schemas.openxmlformats.org/drawingml/2006/main" id="6" idx="2"/>
          </p:cNvCxnSpPr>
          <p:nvPr/>
        </p:nvCxnSpPr>
        <p:spPr>
          <a:xfrm xmlns:a="http://schemas.openxmlformats.org/drawingml/2006/main" flipV="1">
            <a:off x="10096500" y="5334000"/>
            <a:ext cx="0" cy="1333500"/>
          </a:xfrm>
          <a:prstGeom xmlns:a="http://schemas.openxmlformats.org/drawingml/2006/main" prst="straightConnector1">
            <a:avLst/>
          </a:prstGeom>
          <a:ln xmlns:a="http://schemas.openxmlformats.org/drawingml/2006/main" w="19050">
            <a:solidFill>
              <a:srgbClr val="5B6B7A"/>
            </a:solidFill>
            <a:prstDash val="dash"/>
            <a:tailEnd type="triangle" w="med" len="med"/>
          </a:ln>
        </p:spPr>
      </p:cxnSp>
      <p:cxnSp>
        <p:nvCxnSpPr>
          <p:cNvPr id="18" name="">
            <a:extLst xmlns:a="http://schemas.openxmlformats.org/drawingml/2006/main">
              <a:ext uri="{FF2B5EF4-FFF2-40B4-BE49-F238E27FC236}">
                <a16:creationId xmlns:a16="http://schemas.microsoft.com/office/drawing/2014/main" id="{55E13E3A-E4C6-49F8-BEE0-EFC3D5B66C77}"/>
              </a:ext>
            </a:extLst>
          </p:cNvPr>
          <p:cNvCxnSpPr>
            <a:stCxn xmlns:a="http://schemas.openxmlformats.org/drawingml/2006/main" id="3" idx="3"/>
            <a:endCxn xmlns:a="http://schemas.openxmlformats.org/drawingml/2006/main" id="6" idx="1"/>
          </p:cNvCxnSpPr>
          <p:nvPr/>
        </p:nvCxnSpPr>
        <p:spPr>
          <a:xfrm xmlns:a="http://schemas.openxmlformats.org/drawingml/2006/main">
            <a:off x="6248400" y="4095750"/>
            <a:ext cx="1371600" cy="0"/>
          </a:xfrm>
          <a:prstGeom xmlns:a="http://schemas.openxmlformats.org/drawingml/2006/main" prst="straightConnector1">
            <a:avLst/>
          </a:prstGeom>
          <a:ln xmlns:a="http://schemas.openxmlformats.org/drawingml/2006/main" w="19050">
            <a:solidFill>
              <a:srgbClr val="5B6B7A"/>
            </a:solidFill>
            <a:tailEnd type="arrow" w="med" len="med"/>
          </a:ln>
        </p:spPr>
      </p:cxnSp>
      <p:sp>
        <p:nvSpPr>
          <p:cNvPr id="24" name="C4 código: ingesta de Monitoring">
            <a:extLst xmlns:a="http://schemas.openxmlformats.org/drawingml/2006/main">
              <a:ext uri="{FF2B5EF4-FFF2-40B4-BE49-F238E27FC236}">
                <a16:creationId xmlns:a16="http://schemas.microsoft.com/office/drawing/2014/main" id="{07501711-87D5-40C3-81B4-E5B0D67C6AA4}"/>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C4 código: ingesta de Monitoring</a:t>
            </a:r>
          </a:p>
        </p:txBody>
      </p:sp>
      <p:sp>
        <p:nvSpPr>
          <p:cNvPr id="2" name="US04 · US06 · US47   |   Clases e interfaces ">
            <a:extLst xmlns:a="http://schemas.openxmlformats.org/drawingml/2006/main">
              <a:ext uri="{FF2B5EF4-FFF2-40B4-BE49-F238E27FC236}">
                <a16:creationId xmlns:a16="http://schemas.microsoft.com/office/drawing/2014/main" id="{D8D9CB7D-3EFF-47DC-859B-B5904EF65EDB}"/>
              </a:ext>
            </a:extLst>
          </p:cNvPr>
          <p:cNvSpPr>
            <a:spLocks xmlns:a="http://schemas.openxmlformats.org/drawingml/2006/main" noGrp="1"/>
          </p:cNvSpPr>
          <p:nvPr/>
        </p:nvSpPr>
        <p:spPr>
          <a:xfrm xmlns:a="http://schemas.openxmlformats.org/drawingml/2006/main">
            <a:off x="914400" y="1828800"/>
            <a:ext cx="1645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0">
                <a:solidFill>
                  <a:srgbClr val="5B6B7A"/>
                </a:solidFill>
              </a:defRPr>
            </a:defPPr>
            <a:lvl1pPr>
              <a:defRPr sz="2475" b="0">
                <a:solidFill>
                  <a:srgbClr val="5B6B7A"/>
                </a:solidFill>
              </a:defRPr>
            </a:lvl1pPr>
            <a:lvl2pPr>
              <a:defRPr sz="2475" b="0">
                <a:solidFill>
                  <a:srgbClr val="5B6B7A"/>
                </a:solidFill>
              </a:defRPr>
            </a:lvl2pPr>
            <a:lvl3pPr>
              <a:defRPr sz="2475" b="0">
                <a:solidFill>
                  <a:srgbClr val="5B6B7A"/>
                </a:solidFill>
              </a:defRPr>
            </a:lvl3pPr>
            <a:lvl4pPr>
              <a:defRPr sz="2475" b="0">
                <a:solidFill>
                  <a:srgbClr val="5B6B7A"/>
                </a:solidFill>
              </a:defRPr>
            </a:lvl4pPr>
            <a:lvl5pPr>
              <a:defRPr sz="2475" b="0">
                <a:solidFill>
                  <a:srgbClr val="5B6B7A"/>
                </a:solidFill>
              </a:defRPr>
            </a:lvl5pPr>
            <a:lvl6pPr>
              <a:defRPr sz="2475" b="0">
                <a:solidFill>
                  <a:srgbClr val="5B6B7A"/>
                </a:solidFill>
              </a:defRPr>
            </a:lvl6pPr>
            <a:lvl7pPr>
              <a:defRPr sz="2475" b="0">
                <a:solidFill>
                  <a:srgbClr val="5B6B7A"/>
                </a:solidFill>
              </a:defRPr>
            </a:lvl7pPr>
            <a:lvl8pPr>
              <a:defRPr sz="2475" b="0">
                <a:solidFill>
                  <a:srgbClr val="5B6B7A"/>
                </a:solidFill>
              </a:defRPr>
            </a:lvl8pPr>
            <a:lvl9pPr>
              <a:defRPr sz="2475" b="0">
                <a:solidFill>
                  <a:srgbClr val="5B6B7A"/>
                </a:solidFill>
              </a:defRPr>
            </a:lvl9pPr>
          </a:lstStyle>
          <a:p xmlns:a="http://schemas.openxmlformats.org/drawingml/2006/main">
            <a:pPr>
              <a:defRPr sz="2475" b="0">
                <a:solidFill>
                  <a:srgbClr val="5B6B7A"/>
                </a:solidFill>
              </a:defRPr>
            </a:pPr>
            <a:r>
              <a:rPr sz="2475" b="0">
                <a:solidFill>
                  <a:srgbClr val="5B6B7A"/>
                </a:solidFill>
              </a:rPr>
              <a:t>US04 · US06 · US47   |   Clases e interfaces presentes en el incremento</a:t>
            </a:r>
          </a:p>
        </p:txBody>
      </p:sp>
      <p:sp>
        <p:nvSpPr>
          <p:cNvPr id="3" name="TelemetryService">
            <a:extLst xmlns:a="http://schemas.openxmlformats.org/drawingml/2006/main">
              <a:ext uri="{FF2B5EF4-FFF2-40B4-BE49-F238E27FC236}">
                <a16:creationId xmlns:a16="http://schemas.microsoft.com/office/drawing/2014/main" id="{4FCBEA9B-8737-4ED8-B027-718A355DF34A}"/>
              </a:ext>
            </a:extLst>
          </p:cNvPr>
          <p:cNvSpPr>
            <a:spLocks xmlns:a="http://schemas.openxmlformats.org/drawingml/2006/main" noGrp="1"/>
          </p:cNvSpPr>
          <p:nvPr/>
        </p:nvSpPr>
        <p:spPr>
          <a:xfrm xmlns:a="http://schemas.openxmlformats.org/drawingml/2006/main">
            <a:off x="914400" y="2857500"/>
            <a:ext cx="5334000" cy="2476500"/>
          </a:xfrm>
          <a:prstGeom xmlns:a="http://schemas.openxmlformats.org/drawingml/2006/main" prst="rect">
            <a:avLst/>
          </a:prstGeom>
          <a:solidFill xmlns:a="http://schemas.openxmlformats.org/drawingml/2006/main">
            <a:srgbClr val="FFFFFF"/>
          </a:solidFill>
          <a:ln xmlns:a="http://schemas.openxmlformats.org/drawingml/2006/main" w="19050">
            <a:solidFill>
              <a:srgbClr val="1B7F8C"/>
            </a:solidFill>
          </a:ln>
        </p:spPr>
      </p:sp>
      <p:sp>
        <p:nvSpPr>
          <p:cNvPr id="4" name="TelemetryService">
            <a:extLst xmlns:a="http://schemas.openxmlformats.org/drawingml/2006/main">
              <a:ext uri="{FF2B5EF4-FFF2-40B4-BE49-F238E27FC236}">
                <a16:creationId xmlns:a16="http://schemas.microsoft.com/office/drawing/2014/main" id="{C44D8069-3F23-4674-B8E7-78FE36A1E45D}"/>
              </a:ext>
            </a:extLst>
          </p:cNvPr>
          <p:cNvSpPr>
            <a:spLocks xmlns:a="http://schemas.openxmlformats.org/drawingml/2006/main" noGrp="1"/>
          </p:cNvSpPr>
          <p:nvPr/>
        </p:nvSpPr>
        <p:spPr>
          <a:xfrm xmlns:a="http://schemas.openxmlformats.org/drawingml/2006/main">
            <a:off x="1104900" y="30099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B2A43"/>
                </a:solidFill>
              </a:defRPr>
            </a:defPPr>
            <a:lvl1pPr>
              <a:defRPr sz="2625" b="1">
                <a:solidFill>
                  <a:srgbClr val="0B2A43"/>
                </a:solidFill>
              </a:defRPr>
            </a:lvl1pPr>
            <a:lvl2pPr>
              <a:defRPr sz="2625" b="1">
                <a:solidFill>
                  <a:srgbClr val="0B2A43"/>
                </a:solidFill>
              </a:defRPr>
            </a:lvl2pPr>
            <a:lvl3pPr>
              <a:defRPr sz="2625" b="1">
                <a:solidFill>
                  <a:srgbClr val="0B2A43"/>
                </a:solidFill>
              </a:defRPr>
            </a:lvl3pPr>
            <a:lvl4pPr>
              <a:defRPr sz="2625" b="1">
                <a:solidFill>
                  <a:srgbClr val="0B2A43"/>
                </a:solidFill>
              </a:defRPr>
            </a:lvl4pPr>
            <a:lvl5pPr>
              <a:defRPr sz="2625" b="1">
                <a:solidFill>
                  <a:srgbClr val="0B2A43"/>
                </a:solidFill>
              </a:defRPr>
            </a:lvl5pPr>
            <a:lvl6pPr>
              <a:defRPr sz="2625" b="1">
                <a:solidFill>
                  <a:srgbClr val="0B2A43"/>
                </a:solidFill>
              </a:defRPr>
            </a:lvl6pPr>
            <a:lvl7pPr>
              <a:defRPr sz="2625" b="1">
                <a:solidFill>
                  <a:srgbClr val="0B2A43"/>
                </a:solidFill>
              </a:defRPr>
            </a:lvl7pPr>
            <a:lvl8pPr>
              <a:defRPr sz="2625" b="1">
                <a:solidFill>
                  <a:srgbClr val="0B2A43"/>
                </a:solidFill>
              </a:defRPr>
            </a:lvl8pPr>
            <a:lvl9pPr>
              <a:defRPr sz="2625" b="1">
                <a:solidFill>
                  <a:srgbClr val="0B2A43"/>
                </a:solidFill>
              </a:defRPr>
            </a:lvl9pPr>
          </a:lstStyle>
          <a:p xmlns:a="http://schemas.openxmlformats.org/drawingml/2006/main">
            <a:pPr>
              <a:defRPr sz="2625" b="1">
                <a:solidFill>
                  <a:srgbClr val="0B2A43"/>
                </a:solidFill>
              </a:defRPr>
            </a:pPr>
            <a:r>
              <a:rPr sz="2625" b="1">
                <a:solidFill>
                  <a:srgbClr val="0B2A43"/>
                </a:solidFill>
              </a:rPr>
              <a:t>TelemetryService</a:t>
            </a:r>
          </a:p>
        </p:txBody>
      </p:sp>
      <p:sp>
        <p:nvSpPr>
          <p:cNvPr id="5" name="ingest(...) : BatchResult&#10;heartbeat(...) : vo">
            <a:extLst xmlns:a="http://schemas.openxmlformats.org/drawingml/2006/main">
              <a:ext uri="{FF2B5EF4-FFF2-40B4-BE49-F238E27FC236}">
                <a16:creationId xmlns:a16="http://schemas.microsoft.com/office/drawing/2014/main" id="{083A4DF5-B09F-4C67-B4C0-51341DAFA46A}"/>
              </a:ext>
            </a:extLst>
          </p:cNvPr>
          <p:cNvSpPr>
            <a:spLocks xmlns:a="http://schemas.openxmlformats.org/drawingml/2006/main" noGrp="1"/>
          </p:cNvSpPr>
          <p:nvPr/>
        </p:nvSpPr>
        <p:spPr>
          <a:xfrm xmlns:a="http://schemas.openxmlformats.org/drawingml/2006/main">
            <a:off x="1104900" y="39052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2D3A"/>
                </a:solidFill>
              </a:defRPr>
            </a:defPPr>
            <a:lvl1pPr>
              <a:defRPr sz="2250" b="0">
                <a:solidFill>
                  <a:srgbClr val="1F2D3A"/>
                </a:solidFill>
              </a:defRPr>
            </a:lvl1pPr>
            <a:lvl2pPr>
              <a:defRPr sz="2250" b="0">
                <a:solidFill>
                  <a:srgbClr val="1F2D3A"/>
                </a:solidFill>
              </a:defRPr>
            </a:lvl2pPr>
            <a:lvl3pPr>
              <a:defRPr sz="2250" b="0">
                <a:solidFill>
                  <a:srgbClr val="1F2D3A"/>
                </a:solidFill>
              </a:defRPr>
            </a:lvl3pPr>
            <a:lvl4pPr>
              <a:defRPr sz="2250" b="0">
                <a:solidFill>
                  <a:srgbClr val="1F2D3A"/>
                </a:solidFill>
              </a:defRPr>
            </a:lvl4pPr>
            <a:lvl5pPr>
              <a:defRPr sz="2250" b="0">
                <a:solidFill>
                  <a:srgbClr val="1F2D3A"/>
                </a:solidFill>
              </a:defRPr>
            </a:lvl5pPr>
            <a:lvl6pPr>
              <a:defRPr sz="2250" b="0">
                <a:solidFill>
                  <a:srgbClr val="1F2D3A"/>
                </a:solidFill>
              </a:defRPr>
            </a:lvl6pPr>
            <a:lvl7pPr>
              <a:defRPr sz="2250" b="0">
                <a:solidFill>
                  <a:srgbClr val="1F2D3A"/>
                </a:solidFill>
              </a:defRPr>
            </a:lvl7pPr>
            <a:lvl8pPr>
              <a:defRPr sz="2250" b="0">
                <a:solidFill>
                  <a:srgbClr val="1F2D3A"/>
                </a:solidFill>
              </a:defRPr>
            </a:lvl8pPr>
            <a:lvl9pPr>
              <a:defRPr sz="2250" b="0">
                <a:solidFill>
                  <a:srgbClr val="1F2D3A"/>
                </a:solidFill>
              </a:defRPr>
            </a:lvl9pPr>
          </a:lstStyle>
          <a:p xmlns:a="http://schemas.openxmlformats.org/drawingml/2006/main">
            <a:pPr>
              <a:defRPr sz="2250" b="0">
                <a:solidFill>
                  <a:srgbClr val="1F2D3A"/>
                </a:solidFill>
              </a:defRPr>
            </a:pPr>
            <a:r>
              <a:rPr sz="2250" b="0">
                <a:solidFill>
                  <a:srgbClr val="1F2D3A"/>
                </a:solidFill>
              </a:rPr>
              <a:t>ingest(...) : BatchResult</a:t>
            </a:r>
          </a:p>
          <a:p xmlns:a="http://schemas.openxmlformats.org/drawingml/2006/main">
            <a:pPr>
              <a:defRPr sz="2250" b="0">
                <a:solidFill>
                  <a:srgbClr val="1F2D3A"/>
                </a:solidFill>
              </a:defRPr>
            </a:pPr>
            <a:r>
              <a:rPr sz="2250" b="0">
                <a:solidFill>
                  <a:srgbClr val="1F2D3A"/>
                </a:solidFill>
              </a:rPr>
              <a:t>heartbeat(...) : void</a:t>
            </a:r>
          </a:p>
          <a:p xmlns:a="http://schemas.openxmlformats.org/drawingml/2006/main">
            <a:pPr>
              <a:defRPr sz="2250" b="0">
                <a:solidFill>
                  <a:srgbClr val="1F2D3A"/>
                </a:solidFill>
              </a:defRPr>
            </a:pPr>
            <a:r>
              <a:rPr sz="2250" b="0">
                <a:solidFill>
                  <a:srgbClr val="1F2D3A"/>
                </a:solidFill>
              </a:rPr>
              <a:t>Orquesta la transacción de ingesta</a:t>
            </a:r>
          </a:p>
        </p:txBody>
      </p:sp>
      <p:sp>
        <p:nvSpPr>
          <p:cNvPr id="6" name="«interface» TelemetryStore">
            <a:extLst xmlns:a="http://schemas.openxmlformats.org/drawingml/2006/main">
              <a:ext uri="{FF2B5EF4-FFF2-40B4-BE49-F238E27FC236}">
                <a16:creationId xmlns:a16="http://schemas.microsoft.com/office/drawing/2014/main" id="{F7B59574-6C1A-442E-B85D-1ACA6ED9C204}"/>
              </a:ext>
            </a:extLst>
          </p:cNvPr>
          <p:cNvSpPr>
            <a:spLocks xmlns:a="http://schemas.openxmlformats.org/drawingml/2006/main" noGrp="1"/>
          </p:cNvSpPr>
          <p:nvPr/>
        </p:nvSpPr>
        <p:spPr>
          <a:xfrm xmlns:a="http://schemas.openxmlformats.org/drawingml/2006/main">
            <a:off x="7620000" y="2857500"/>
            <a:ext cx="4953000" cy="2476500"/>
          </a:xfrm>
          <a:prstGeom xmlns:a="http://schemas.openxmlformats.org/drawingml/2006/main" prst="rect">
            <a:avLst/>
          </a:prstGeom>
          <a:solidFill xmlns:a="http://schemas.openxmlformats.org/drawingml/2006/main">
            <a:srgbClr val="FFFFFF"/>
          </a:solidFill>
          <a:ln xmlns:a="http://schemas.openxmlformats.org/drawingml/2006/main" w="19050">
            <a:solidFill>
              <a:srgbClr val="1B7F8C"/>
            </a:solidFill>
          </a:ln>
        </p:spPr>
      </p:sp>
      <p:sp>
        <p:nvSpPr>
          <p:cNvPr id="7" name="«interface» TelemetryStore">
            <a:extLst xmlns:a="http://schemas.openxmlformats.org/drawingml/2006/main">
              <a:ext uri="{FF2B5EF4-FFF2-40B4-BE49-F238E27FC236}">
                <a16:creationId xmlns:a16="http://schemas.microsoft.com/office/drawing/2014/main" id="{04CD55B2-1FEB-44C9-8BC8-B75405CE3392}"/>
              </a:ext>
            </a:extLst>
          </p:cNvPr>
          <p:cNvSpPr>
            <a:spLocks xmlns:a="http://schemas.openxmlformats.org/drawingml/2006/main" noGrp="1"/>
          </p:cNvSpPr>
          <p:nvPr/>
        </p:nvSpPr>
        <p:spPr>
          <a:xfrm xmlns:a="http://schemas.openxmlformats.org/drawingml/2006/main">
            <a:off x="7810500" y="300990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B2A43"/>
                </a:solidFill>
              </a:defRPr>
            </a:defPPr>
            <a:lvl1pPr>
              <a:defRPr sz="2625" b="1">
                <a:solidFill>
                  <a:srgbClr val="0B2A43"/>
                </a:solidFill>
              </a:defRPr>
            </a:lvl1pPr>
            <a:lvl2pPr>
              <a:defRPr sz="2625" b="1">
                <a:solidFill>
                  <a:srgbClr val="0B2A43"/>
                </a:solidFill>
              </a:defRPr>
            </a:lvl2pPr>
            <a:lvl3pPr>
              <a:defRPr sz="2625" b="1">
                <a:solidFill>
                  <a:srgbClr val="0B2A43"/>
                </a:solidFill>
              </a:defRPr>
            </a:lvl3pPr>
            <a:lvl4pPr>
              <a:defRPr sz="2625" b="1">
                <a:solidFill>
                  <a:srgbClr val="0B2A43"/>
                </a:solidFill>
              </a:defRPr>
            </a:lvl4pPr>
            <a:lvl5pPr>
              <a:defRPr sz="2625" b="1">
                <a:solidFill>
                  <a:srgbClr val="0B2A43"/>
                </a:solidFill>
              </a:defRPr>
            </a:lvl5pPr>
            <a:lvl6pPr>
              <a:defRPr sz="2625" b="1">
                <a:solidFill>
                  <a:srgbClr val="0B2A43"/>
                </a:solidFill>
              </a:defRPr>
            </a:lvl6pPr>
            <a:lvl7pPr>
              <a:defRPr sz="2625" b="1">
                <a:solidFill>
                  <a:srgbClr val="0B2A43"/>
                </a:solidFill>
              </a:defRPr>
            </a:lvl7pPr>
            <a:lvl8pPr>
              <a:defRPr sz="2625" b="1">
                <a:solidFill>
                  <a:srgbClr val="0B2A43"/>
                </a:solidFill>
              </a:defRPr>
            </a:lvl8pPr>
            <a:lvl9pPr>
              <a:defRPr sz="2625" b="1">
                <a:solidFill>
                  <a:srgbClr val="0B2A43"/>
                </a:solidFill>
              </a:defRPr>
            </a:lvl9pPr>
          </a:lstStyle>
          <a:p xmlns:a="http://schemas.openxmlformats.org/drawingml/2006/main">
            <a:pPr>
              <a:defRPr sz="2625" b="1">
                <a:solidFill>
                  <a:srgbClr val="0B2A43"/>
                </a:solidFill>
              </a:defRPr>
            </a:pPr>
            <a:r>
              <a:rPr sz="2625" b="1">
                <a:solidFill>
                  <a:srgbClr val="0B2A43"/>
                </a:solidFill>
              </a:rPr>
              <a:t>«interface» TelemetryStore</a:t>
            </a:r>
          </a:p>
        </p:txBody>
      </p:sp>
      <p:sp>
        <p:nvSpPr>
          <p:cNvPr id="8" name="exists(...) · insert(...)&#10;range(...) · projec">
            <a:extLst xmlns:a="http://schemas.openxmlformats.org/drawingml/2006/main">
              <a:ext uri="{FF2B5EF4-FFF2-40B4-BE49-F238E27FC236}">
                <a16:creationId xmlns:a16="http://schemas.microsoft.com/office/drawing/2014/main" id="{078FF6A2-183C-45D1-B3E8-4AB1AC124362}"/>
              </a:ext>
            </a:extLst>
          </p:cNvPr>
          <p:cNvSpPr>
            <a:spLocks xmlns:a="http://schemas.openxmlformats.org/drawingml/2006/main" noGrp="1"/>
          </p:cNvSpPr>
          <p:nvPr/>
        </p:nvSpPr>
        <p:spPr>
          <a:xfrm xmlns:a="http://schemas.openxmlformats.org/drawingml/2006/main">
            <a:off x="7810500" y="3905250"/>
            <a:ext cx="457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2D3A"/>
                </a:solidFill>
              </a:defRPr>
            </a:defPPr>
            <a:lvl1pPr>
              <a:defRPr sz="2250" b="0">
                <a:solidFill>
                  <a:srgbClr val="1F2D3A"/>
                </a:solidFill>
              </a:defRPr>
            </a:lvl1pPr>
            <a:lvl2pPr>
              <a:defRPr sz="2250" b="0">
                <a:solidFill>
                  <a:srgbClr val="1F2D3A"/>
                </a:solidFill>
              </a:defRPr>
            </a:lvl2pPr>
            <a:lvl3pPr>
              <a:defRPr sz="2250" b="0">
                <a:solidFill>
                  <a:srgbClr val="1F2D3A"/>
                </a:solidFill>
              </a:defRPr>
            </a:lvl3pPr>
            <a:lvl4pPr>
              <a:defRPr sz="2250" b="0">
                <a:solidFill>
                  <a:srgbClr val="1F2D3A"/>
                </a:solidFill>
              </a:defRPr>
            </a:lvl4pPr>
            <a:lvl5pPr>
              <a:defRPr sz="2250" b="0">
                <a:solidFill>
                  <a:srgbClr val="1F2D3A"/>
                </a:solidFill>
              </a:defRPr>
            </a:lvl5pPr>
            <a:lvl6pPr>
              <a:defRPr sz="2250" b="0">
                <a:solidFill>
                  <a:srgbClr val="1F2D3A"/>
                </a:solidFill>
              </a:defRPr>
            </a:lvl6pPr>
            <a:lvl7pPr>
              <a:defRPr sz="2250" b="0">
                <a:solidFill>
                  <a:srgbClr val="1F2D3A"/>
                </a:solidFill>
              </a:defRPr>
            </a:lvl7pPr>
            <a:lvl8pPr>
              <a:defRPr sz="2250" b="0">
                <a:solidFill>
                  <a:srgbClr val="1F2D3A"/>
                </a:solidFill>
              </a:defRPr>
            </a:lvl8pPr>
            <a:lvl9pPr>
              <a:defRPr sz="2250" b="0">
                <a:solidFill>
                  <a:srgbClr val="1F2D3A"/>
                </a:solidFill>
              </a:defRPr>
            </a:lvl9pPr>
          </a:lstStyle>
          <a:p xmlns:a="http://schemas.openxmlformats.org/drawingml/2006/main">
            <a:pPr>
              <a:defRPr sz="2250" b="0">
                <a:solidFill>
                  <a:srgbClr val="1F2D3A"/>
                </a:solidFill>
              </a:defRPr>
            </a:pPr>
            <a:r>
              <a:rPr sz="2250" b="0">
                <a:solidFill>
                  <a:srgbClr val="1F2D3A"/>
                </a:solidFill>
              </a:rPr>
              <a:t>exists(...) · insert(...)</a:t>
            </a:r>
          </a:p>
          <a:p xmlns:a="http://schemas.openxmlformats.org/drawingml/2006/main">
            <a:pPr>
              <a:defRPr sz="2250" b="0">
                <a:solidFill>
                  <a:srgbClr val="1F2D3A"/>
                </a:solidFill>
              </a:defRPr>
            </a:pPr>
            <a:r>
              <a:rPr sz="2250" b="0">
                <a:solidFill>
                  <a:srgbClr val="1F2D3A"/>
                </a:solidFill>
              </a:rPr>
              <a:t>range(...) · project(...)</a:t>
            </a:r>
          </a:p>
          <a:p xmlns:a="http://schemas.openxmlformats.org/drawingml/2006/main">
            <a:pPr>
              <a:defRPr sz="2250" b="0">
                <a:solidFill>
                  <a:srgbClr val="1F2D3A"/>
                </a:solidFill>
              </a:defRPr>
            </a:pPr>
            <a:r>
              <a:rPr sz="2250" b="0">
                <a:solidFill>
                  <a:srgbClr val="1F2D3A"/>
                </a:solidFill>
              </a:rPr>
              <a:t>event(...) · claimBatch(...)</a:t>
            </a:r>
          </a:p>
        </p:txBody>
      </p:sp>
      <p:sp>
        <p:nvSpPr>
          <p:cNvPr id="9" name="JdbcTelemetryStore">
            <a:extLst xmlns:a="http://schemas.openxmlformats.org/drawingml/2006/main">
              <a:ext uri="{FF2B5EF4-FFF2-40B4-BE49-F238E27FC236}">
                <a16:creationId xmlns:a16="http://schemas.microsoft.com/office/drawing/2014/main" id="{E78FDE59-29EC-4ECE-8A3E-2257B78464CF}"/>
              </a:ext>
            </a:extLst>
          </p:cNvPr>
          <p:cNvSpPr>
            <a:spLocks xmlns:a="http://schemas.openxmlformats.org/drawingml/2006/main" noGrp="1"/>
          </p:cNvSpPr>
          <p:nvPr/>
        </p:nvSpPr>
        <p:spPr>
          <a:xfrm xmlns:a="http://schemas.openxmlformats.org/drawingml/2006/main">
            <a:off x="7620000" y="6667500"/>
            <a:ext cx="4953000" cy="2190750"/>
          </a:xfrm>
          <a:prstGeom xmlns:a="http://schemas.openxmlformats.org/drawingml/2006/main" prst="rect">
            <a:avLst/>
          </a:prstGeom>
          <a:solidFill xmlns:a="http://schemas.openxmlformats.org/drawingml/2006/main">
            <a:srgbClr val="FFFFFF"/>
          </a:solidFill>
          <a:ln xmlns:a="http://schemas.openxmlformats.org/drawingml/2006/main" w="19050">
            <a:solidFill>
              <a:srgbClr val="1B7F8C"/>
            </a:solidFill>
          </a:ln>
        </p:spPr>
      </p:sp>
      <p:sp>
        <p:nvSpPr>
          <p:cNvPr id="10" name="JdbcTelemetryStore">
            <a:extLst xmlns:a="http://schemas.openxmlformats.org/drawingml/2006/main">
              <a:ext uri="{FF2B5EF4-FFF2-40B4-BE49-F238E27FC236}">
                <a16:creationId xmlns:a16="http://schemas.microsoft.com/office/drawing/2014/main" id="{9991D11C-CBD1-40A6-8FDF-70B9457BFF80}"/>
              </a:ext>
            </a:extLst>
          </p:cNvPr>
          <p:cNvSpPr>
            <a:spLocks xmlns:a="http://schemas.openxmlformats.org/drawingml/2006/main" noGrp="1"/>
          </p:cNvSpPr>
          <p:nvPr/>
        </p:nvSpPr>
        <p:spPr>
          <a:xfrm xmlns:a="http://schemas.openxmlformats.org/drawingml/2006/main">
            <a:off x="7810500" y="681990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B2A43"/>
                </a:solidFill>
              </a:defRPr>
            </a:defPPr>
            <a:lvl1pPr>
              <a:defRPr sz="2625" b="1">
                <a:solidFill>
                  <a:srgbClr val="0B2A43"/>
                </a:solidFill>
              </a:defRPr>
            </a:lvl1pPr>
            <a:lvl2pPr>
              <a:defRPr sz="2625" b="1">
                <a:solidFill>
                  <a:srgbClr val="0B2A43"/>
                </a:solidFill>
              </a:defRPr>
            </a:lvl2pPr>
            <a:lvl3pPr>
              <a:defRPr sz="2625" b="1">
                <a:solidFill>
                  <a:srgbClr val="0B2A43"/>
                </a:solidFill>
              </a:defRPr>
            </a:lvl3pPr>
            <a:lvl4pPr>
              <a:defRPr sz="2625" b="1">
                <a:solidFill>
                  <a:srgbClr val="0B2A43"/>
                </a:solidFill>
              </a:defRPr>
            </a:lvl4pPr>
            <a:lvl5pPr>
              <a:defRPr sz="2625" b="1">
                <a:solidFill>
                  <a:srgbClr val="0B2A43"/>
                </a:solidFill>
              </a:defRPr>
            </a:lvl5pPr>
            <a:lvl6pPr>
              <a:defRPr sz="2625" b="1">
                <a:solidFill>
                  <a:srgbClr val="0B2A43"/>
                </a:solidFill>
              </a:defRPr>
            </a:lvl6pPr>
            <a:lvl7pPr>
              <a:defRPr sz="2625" b="1">
                <a:solidFill>
                  <a:srgbClr val="0B2A43"/>
                </a:solidFill>
              </a:defRPr>
            </a:lvl7pPr>
            <a:lvl8pPr>
              <a:defRPr sz="2625" b="1">
                <a:solidFill>
                  <a:srgbClr val="0B2A43"/>
                </a:solidFill>
              </a:defRPr>
            </a:lvl8pPr>
            <a:lvl9pPr>
              <a:defRPr sz="2625" b="1">
                <a:solidFill>
                  <a:srgbClr val="0B2A43"/>
                </a:solidFill>
              </a:defRPr>
            </a:lvl9pPr>
          </a:lstStyle>
          <a:p xmlns:a="http://schemas.openxmlformats.org/drawingml/2006/main">
            <a:pPr>
              <a:defRPr sz="2625" b="1">
                <a:solidFill>
                  <a:srgbClr val="0B2A43"/>
                </a:solidFill>
              </a:defRPr>
            </a:pPr>
            <a:r>
              <a:rPr sz="2625" b="1">
                <a:solidFill>
                  <a:srgbClr val="0B2A43"/>
                </a:solidFill>
              </a:rPr>
              <a:t>JdbcTelemetryStore</a:t>
            </a:r>
          </a:p>
        </p:txBody>
      </p:sp>
      <p:sp>
        <p:nvSpPr>
          <p:cNvPr id="11" name="Implementa TelemetryStore&#10;Persiste lectura, p">
            <a:extLst xmlns:a="http://schemas.openxmlformats.org/drawingml/2006/main">
              <a:ext uri="{FF2B5EF4-FFF2-40B4-BE49-F238E27FC236}">
                <a16:creationId xmlns:a16="http://schemas.microsoft.com/office/drawing/2014/main" id="{8C6223D5-E8C7-43B3-A01E-09EC2ED44B5E}"/>
              </a:ext>
            </a:extLst>
          </p:cNvPr>
          <p:cNvSpPr>
            <a:spLocks xmlns:a="http://schemas.openxmlformats.org/drawingml/2006/main" noGrp="1"/>
          </p:cNvSpPr>
          <p:nvPr/>
        </p:nvSpPr>
        <p:spPr>
          <a:xfrm xmlns:a="http://schemas.openxmlformats.org/drawingml/2006/main">
            <a:off x="7810500" y="77152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2D3A"/>
                </a:solidFill>
              </a:defRPr>
            </a:defPPr>
            <a:lvl1pPr>
              <a:defRPr sz="2250" b="0">
                <a:solidFill>
                  <a:srgbClr val="1F2D3A"/>
                </a:solidFill>
              </a:defRPr>
            </a:lvl1pPr>
            <a:lvl2pPr>
              <a:defRPr sz="2250" b="0">
                <a:solidFill>
                  <a:srgbClr val="1F2D3A"/>
                </a:solidFill>
              </a:defRPr>
            </a:lvl2pPr>
            <a:lvl3pPr>
              <a:defRPr sz="2250" b="0">
                <a:solidFill>
                  <a:srgbClr val="1F2D3A"/>
                </a:solidFill>
              </a:defRPr>
            </a:lvl3pPr>
            <a:lvl4pPr>
              <a:defRPr sz="2250" b="0">
                <a:solidFill>
                  <a:srgbClr val="1F2D3A"/>
                </a:solidFill>
              </a:defRPr>
            </a:lvl4pPr>
            <a:lvl5pPr>
              <a:defRPr sz="2250" b="0">
                <a:solidFill>
                  <a:srgbClr val="1F2D3A"/>
                </a:solidFill>
              </a:defRPr>
            </a:lvl5pPr>
            <a:lvl6pPr>
              <a:defRPr sz="2250" b="0">
                <a:solidFill>
                  <a:srgbClr val="1F2D3A"/>
                </a:solidFill>
              </a:defRPr>
            </a:lvl6pPr>
            <a:lvl7pPr>
              <a:defRPr sz="2250" b="0">
                <a:solidFill>
                  <a:srgbClr val="1F2D3A"/>
                </a:solidFill>
              </a:defRPr>
            </a:lvl7pPr>
            <a:lvl8pPr>
              <a:defRPr sz="2250" b="0">
                <a:solidFill>
                  <a:srgbClr val="1F2D3A"/>
                </a:solidFill>
              </a:defRPr>
            </a:lvl8pPr>
            <a:lvl9pPr>
              <a:defRPr sz="2250" b="0">
                <a:solidFill>
                  <a:srgbClr val="1F2D3A"/>
                </a:solidFill>
              </a:defRPr>
            </a:lvl9pPr>
          </a:lstStyle>
          <a:p xmlns:a="http://schemas.openxmlformats.org/drawingml/2006/main">
            <a:pPr>
              <a:defRPr sz="2250" b="0">
                <a:solidFill>
                  <a:srgbClr val="1F2D3A"/>
                </a:solidFill>
              </a:defRPr>
            </a:pPr>
            <a:r>
              <a:rPr sz="2250" b="0">
                <a:solidFill>
                  <a:srgbClr val="1F2D3A"/>
                </a:solidFill>
              </a:rPr>
              <a:t>Implementa TelemetryStore</a:t>
            </a:r>
          </a:p>
          <a:p xmlns:a="http://schemas.openxmlformats.org/drawingml/2006/main">
            <a:pPr>
              <a:defRPr sz="2250" b="0">
                <a:solidFill>
                  <a:srgbClr val="1F2D3A"/>
                </a:solidFill>
              </a:defRPr>
            </a:pPr>
            <a:r>
              <a:rPr sz="2250" b="0">
                <a:solidFill>
                  <a:srgbClr val="1F2D3A"/>
                </a:solidFill>
              </a:rPr>
              <a:t>Persiste lectura, proyección y outbox</a:t>
            </a:r>
          </a:p>
        </p:txBody>
      </p:sp>
      <p:sp>
        <p:nvSpPr>
          <p:cNvPr id="12" name="«record» Telemetry.Reading">
            <a:extLst xmlns:a="http://schemas.openxmlformats.org/drawingml/2006/main">
              <a:ext uri="{FF2B5EF4-FFF2-40B4-BE49-F238E27FC236}">
                <a16:creationId xmlns:a16="http://schemas.microsoft.com/office/drawing/2014/main" id="{16BB4387-2E0F-4C27-8D33-AD52B07B4890}"/>
              </a:ext>
            </a:extLst>
          </p:cNvPr>
          <p:cNvSpPr>
            <a:spLocks xmlns:a="http://schemas.openxmlformats.org/drawingml/2006/main" noGrp="1"/>
          </p:cNvSpPr>
          <p:nvPr/>
        </p:nvSpPr>
        <p:spPr>
          <a:xfrm xmlns:a="http://schemas.openxmlformats.org/drawingml/2006/main">
            <a:off x="13811250" y="2857500"/>
            <a:ext cx="3619500" cy="2762250"/>
          </a:xfrm>
          <a:prstGeom xmlns:a="http://schemas.openxmlformats.org/drawingml/2006/main" prst="rect">
            <a:avLst/>
          </a:prstGeom>
          <a:solidFill xmlns:a="http://schemas.openxmlformats.org/drawingml/2006/main">
            <a:srgbClr val="FFFFFF"/>
          </a:solidFill>
          <a:ln xmlns:a="http://schemas.openxmlformats.org/drawingml/2006/main" w="19050">
            <a:solidFill>
              <a:srgbClr val="1B7F8C"/>
            </a:solidFill>
          </a:ln>
        </p:spPr>
      </p:sp>
      <p:sp>
        <p:nvSpPr>
          <p:cNvPr id="13" name="«record» Telemetry.Reading">
            <a:extLst xmlns:a="http://schemas.openxmlformats.org/drawingml/2006/main">
              <a:ext uri="{FF2B5EF4-FFF2-40B4-BE49-F238E27FC236}">
                <a16:creationId xmlns:a16="http://schemas.microsoft.com/office/drawing/2014/main" id="{5852BEF5-E767-43F2-8EC7-300095E4DC24}"/>
              </a:ext>
            </a:extLst>
          </p:cNvPr>
          <p:cNvSpPr>
            <a:spLocks xmlns:a="http://schemas.openxmlformats.org/drawingml/2006/main" noGrp="1"/>
          </p:cNvSpPr>
          <p:nvPr/>
        </p:nvSpPr>
        <p:spPr>
          <a:xfrm xmlns:a="http://schemas.openxmlformats.org/drawingml/2006/main">
            <a:off x="14001750" y="30099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B2A43"/>
                </a:solidFill>
              </a:defRPr>
            </a:defPPr>
            <a:lvl1pPr>
              <a:defRPr sz="2175" b="1">
                <a:solidFill>
                  <a:srgbClr val="0B2A43"/>
                </a:solidFill>
              </a:defRPr>
            </a:lvl1pPr>
            <a:lvl2pPr>
              <a:defRPr sz="2175" b="1">
                <a:solidFill>
                  <a:srgbClr val="0B2A43"/>
                </a:solidFill>
              </a:defRPr>
            </a:lvl2pPr>
            <a:lvl3pPr>
              <a:defRPr sz="2175" b="1">
                <a:solidFill>
                  <a:srgbClr val="0B2A43"/>
                </a:solidFill>
              </a:defRPr>
            </a:lvl3pPr>
            <a:lvl4pPr>
              <a:defRPr sz="2175" b="1">
                <a:solidFill>
                  <a:srgbClr val="0B2A43"/>
                </a:solidFill>
              </a:defRPr>
            </a:lvl4pPr>
            <a:lvl5pPr>
              <a:defRPr sz="2175" b="1">
                <a:solidFill>
                  <a:srgbClr val="0B2A43"/>
                </a:solidFill>
              </a:defRPr>
            </a:lvl5pPr>
            <a:lvl6pPr>
              <a:defRPr sz="2175" b="1">
                <a:solidFill>
                  <a:srgbClr val="0B2A43"/>
                </a:solidFill>
              </a:defRPr>
            </a:lvl6pPr>
            <a:lvl7pPr>
              <a:defRPr sz="2175" b="1">
                <a:solidFill>
                  <a:srgbClr val="0B2A43"/>
                </a:solidFill>
              </a:defRPr>
            </a:lvl7pPr>
            <a:lvl8pPr>
              <a:defRPr sz="2175" b="1">
                <a:solidFill>
                  <a:srgbClr val="0B2A43"/>
                </a:solidFill>
              </a:defRPr>
            </a:lvl8pPr>
            <a:lvl9pPr>
              <a:defRPr sz="2175" b="1">
                <a:solidFill>
                  <a:srgbClr val="0B2A43"/>
                </a:solidFill>
              </a:defRPr>
            </a:lvl9pPr>
          </a:lstStyle>
          <a:p xmlns:a="http://schemas.openxmlformats.org/drawingml/2006/main">
            <a:pPr>
              <a:defRPr sz="2175" b="1">
                <a:solidFill>
                  <a:srgbClr val="0B2A43"/>
                </a:solidFill>
              </a:defRPr>
            </a:pPr>
            <a:r>
              <a:rPr sz="2175" b="1">
                <a:solidFill>
                  <a:srgbClr val="0B2A43"/>
                </a:solidFill>
              </a:rPr>
              <a:t>«record» Telemetry.Reading</a:t>
            </a:r>
          </a:p>
        </p:txBody>
      </p:sp>
      <p:sp>
        <p:nvSpPr>
          <p:cNvPr id="14" name="deviceUuid · recordedAt&#10;sequenceNumber&#10;temper">
            <a:extLst xmlns:a="http://schemas.openxmlformats.org/drawingml/2006/main">
              <a:ext uri="{FF2B5EF4-FFF2-40B4-BE49-F238E27FC236}">
                <a16:creationId xmlns:a16="http://schemas.microsoft.com/office/drawing/2014/main" id="{4E0A12EA-BCCD-4DF7-BDAA-2125D2B35068}"/>
              </a:ext>
            </a:extLst>
          </p:cNvPr>
          <p:cNvSpPr>
            <a:spLocks xmlns:a="http://schemas.openxmlformats.org/drawingml/2006/main" noGrp="1"/>
          </p:cNvSpPr>
          <p:nvPr/>
        </p:nvSpPr>
        <p:spPr>
          <a:xfrm xmlns:a="http://schemas.openxmlformats.org/drawingml/2006/main">
            <a:off x="14001750" y="3905250"/>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2D3A"/>
                </a:solidFill>
              </a:defRPr>
            </a:defPPr>
            <a:lvl1pPr>
              <a:defRPr sz="2250" b="0">
                <a:solidFill>
                  <a:srgbClr val="1F2D3A"/>
                </a:solidFill>
              </a:defRPr>
            </a:lvl1pPr>
            <a:lvl2pPr>
              <a:defRPr sz="2250" b="0">
                <a:solidFill>
                  <a:srgbClr val="1F2D3A"/>
                </a:solidFill>
              </a:defRPr>
            </a:lvl2pPr>
            <a:lvl3pPr>
              <a:defRPr sz="2250" b="0">
                <a:solidFill>
                  <a:srgbClr val="1F2D3A"/>
                </a:solidFill>
              </a:defRPr>
            </a:lvl3pPr>
            <a:lvl4pPr>
              <a:defRPr sz="2250" b="0">
                <a:solidFill>
                  <a:srgbClr val="1F2D3A"/>
                </a:solidFill>
              </a:defRPr>
            </a:lvl4pPr>
            <a:lvl5pPr>
              <a:defRPr sz="2250" b="0">
                <a:solidFill>
                  <a:srgbClr val="1F2D3A"/>
                </a:solidFill>
              </a:defRPr>
            </a:lvl5pPr>
            <a:lvl6pPr>
              <a:defRPr sz="2250" b="0">
                <a:solidFill>
                  <a:srgbClr val="1F2D3A"/>
                </a:solidFill>
              </a:defRPr>
            </a:lvl6pPr>
            <a:lvl7pPr>
              <a:defRPr sz="2250" b="0">
                <a:solidFill>
                  <a:srgbClr val="1F2D3A"/>
                </a:solidFill>
              </a:defRPr>
            </a:lvl7pPr>
            <a:lvl8pPr>
              <a:defRPr sz="2250" b="0">
                <a:solidFill>
                  <a:srgbClr val="1F2D3A"/>
                </a:solidFill>
              </a:defRPr>
            </a:lvl8pPr>
            <a:lvl9pPr>
              <a:defRPr sz="2250" b="0">
                <a:solidFill>
                  <a:srgbClr val="1F2D3A"/>
                </a:solidFill>
              </a:defRPr>
            </a:lvl9pPr>
          </a:lstStyle>
          <a:p xmlns:a="http://schemas.openxmlformats.org/drawingml/2006/main">
            <a:pPr>
              <a:defRPr sz="2250" b="0">
                <a:solidFill>
                  <a:srgbClr val="1F2D3A"/>
                </a:solidFill>
              </a:defRPr>
            </a:pPr>
            <a:r>
              <a:rPr sz="2250" b="0">
                <a:solidFill>
                  <a:srgbClr val="1F2D3A"/>
                </a:solidFill>
              </a:rPr>
              <a:t>deviceUuid · recordedAt</a:t>
            </a:r>
          </a:p>
          <a:p xmlns:a="http://schemas.openxmlformats.org/drawingml/2006/main">
            <a:pPr>
              <a:defRPr sz="2250" b="0">
                <a:solidFill>
                  <a:srgbClr val="1F2D3A"/>
                </a:solidFill>
              </a:defRPr>
            </a:pPr>
            <a:r>
              <a:rPr sz="2250" b="0">
                <a:solidFill>
                  <a:srgbClr val="1F2D3A"/>
                </a:solidFill>
              </a:rPr>
              <a:t>sequenceNumber</a:t>
            </a:r>
          </a:p>
          <a:p xmlns:a="http://schemas.openxmlformats.org/drawingml/2006/main">
            <a:pPr>
              <a:defRPr sz="2250" b="0">
                <a:solidFill>
                  <a:srgbClr val="1F2D3A"/>
                </a:solidFill>
              </a:defRPr>
            </a:pPr>
            <a:r>
              <a:rPr sz="2250" b="0">
                <a:solidFill>
                  <a:srgbClr val="1F2D3A"/>
                </a:solidFill>
              </a:rPr>
              <a:t>temperature · humidity</a:t>
            </a:r>
          </a:p>
        </p:txBody>
      </p:sp>
      <p:sp>
        <p:nvSpPr>
          <p:cNvPr id="15" name="«record» Telemetry.SafeRange">
            <a:extLst xmlns:a="http://schemas.openxmlformats.org/drawingml/2006/main">
              <a:ext uri="{FF2B5EF4-FFF2-40B4-BE49-F238E27FC236}">
                <a16:creationId xmlns:a16="http://schemas.microsoft.com/office/drawing/2014/main" id="{ACFDCCFB-841A-4F2F-ADDB-CBDAF23714A6}"/>
              </a:ext>
            </a:extLst>
          </p:cNvPr>
          <p:cNvSpPr>
            <a:spLocks xmlns:a="http://schemas.openxmlformats.org/drawingml/2006/main" noGrp="1"/>
          </p:cNvSpPr>
          <p:nvPr/>
        </p:nvSpPr>
        <p:spPr>
          <a:xfrm xmlns:a="http://schemas.openxmlformats.org/drawingml/2006/main">
            <a:off x="914400" y="6667500"/>
            <a:ext cx="5334000" cy="2190750"/>
          </a:xfrm>
          <a:prstGeom xmlns:a="http://schemas.openxmlformats.org/drawingml/2006/main" prst="rect">
            <a:avLst/>
          </a:prstGeom>
          <a:solidFill xmlns:a="http://schemas.openxmlformats.org/drawingml/2006/main">
            <a:srgbClr val="FFFFFF"/>
          </a:solidFill>
          <a:ln xmlns:a="http://schemas.openxmlformats.org/drawingml/2006/main" w="19050">
            <a:solidFill>
              <a:srgbClr val="1B7F8C"/>
            </a:solidFill>
          </a:ln>
        </p:spPr>
      </p:sp>
      <p:sp>
        <p:nvSpPr>
          <p:cNvPr id="16" name="«record» Telemetry.SafeRange">
            <a:extLst xmlns:a="http://schemas.openxmlformats.org/drawingml/2006/main">
              <a:ext uri="{FF2B5EF4-FFF2-40B4-BE49-F238E27FC236}">
                <a16:creationId xmlns:a16="http://schemas.microsoft.com/office/drawing/2014/main" id="{D08844BD-3A98-48A1-B891-BC0BA53A7C2F}"/>
              </a:ext>
            </a:extLst>
          </p:cNvPr>
          <p:cNvSpPr>
            <a:spLocks xmlns:a="http://schemas.openxmlformats.org/drawingml/2006/main" noGrp="1"/>
          </p:cNvSpPr>
          <p:nvPr/>
        </p:nvSpPr>
        <p:spPr>
          <a:xfrm xmlns:a="http://schemas.openxmlformats.org/drawingml/2006/main">
            <a:off x="1104900" y="68199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B2A43"/>
                </a:solidFill>
              </a:defRPr>
            </a:defPPr>
            <a:lvl1pPr>
              <a:defRPr sz="2625" b="1">
                <a:solidFill>
                  <a:srgbClr val="0B2A43"/>
                </a:solidFill>
              </a:defRPr>
            </a:lvl1pPr>
            <a:lvl2pPr>
              <a:defRPr sz="2625" b="1">
                <a:solidFill>
                  <a:srgbClr val="0B2A43"/>
                </a:solidFill>
              </a:defRPr>
            </a:lvl2pPr>
            <a:lvl3pPr>
              <a:defRPr sz="2625" b="1">
                <a:solidFill>
                  <a:srgbClr val="0B2A43"/>
                </a:solidFill>
              </a:defRPr>
            </a:lvl3pPr>
            <a:lvl4pPr>
              <a:defRPr sz="2625" b="1">
                <a:solidFill>
                  <a:srgbClr val="0B2A43"/>
                </a:solidFill>
              </a:defRPr>
            </a:lvl4pPr>
            <a:lvl5pPr>
              <a:defRPr sz="2625" b="1">
                <a:solidFill>
                  <a:srgbClr val="0B2A43"/>
                </a:solidFill>
              </a:defRPr>
            </a:lvl5pPr>
            <a:lvl6pPr>
              <a:defRPr sz="2625" b="1">
                <a:solidFill>
                  <a:srgbClr val="0B2A43"/>
                </a:solidFill>
              </a:defRPr>
            </a:lvl6pPr>
            <a:lvl7pPr>
              <a:defRPr sz="2625" b="1">
                <a:solidFill>
                  <a:srgbClr val="0B2A43"/>
                </a:solidFill>
              </a:defRPr>
            </a:lvl7pPr>
            <a:lvl8pPr>
              <a:defRPr sz="2625" b="1">
                <a:solidFill>
                  <a:srgbClr val="0B2A43"/>
                </a:solidFill>
              </a:defRPr>
            </a:lvl8pPr>
            <a:lvl9pPr>
              <a:defRPr sz="2625" b="1">
                <a:solidFill>
                  <a:srgbClr val="0B2A43"/>
                </a:solidFill>
              </a:defRPr>
            </a:lvl9pPr>
          </a:lstStyle>
          <a:p xmlns:a="http://schemas.openxmlformats.org/drawingml/2006/main">
            <a:pPr>
              <a:defRPr sz="2625" b="1">
                <a:solidFill>
                  <a:srgbClr val="0B2A43"/>
                </a:solidFill>
              </a:defRPr>
            </a:pPr>
            <a:r>
              <a:rPr sz="2625" b="1">
                <a:solidFill>
                  <a:srgbClr val="0B2A43"/>
                </a:solidFill>
              </a:rPr>
              <a:t>«record» Telemetry.SafeRange</a:t>
            </a:r>
          </a:p>
        </p:txBody>
      </p:sp>
      <p:sp>
        <p:nvSpPr>
          <p:cNvPr id="17" name="Límites y tolerancia&#10;breached(Reading) : bool">
            <a:extLst xmlns:a="http://schemas.openxmlformats.org/drawingml/2006/main">
              <a:ext uri="{FF2B5EF4-FFF2-40B4-BE49-F238E27FC236}">
                <a16:creationId xmlns:a16="http://schemas.microsoft.com/office/drawing/2014/main" id="{7EFC7BB4-76E0-4EBB-881E-AE39B8F20DBD}"/>
              </a:ext>
            </a:extLst>
          </p:cNvPr>
          <p:cNvSpPr>
            <a:spLocks xmlns:a="http://schemas.openxmlformats.org/drawingml/2006/main" noGrp="1"/>
          </p:cNvSpPr>
          <p:nvPr/>
        </p:nvSpPr>
        <p:spPr>
          <a:xfrm xmlns:a="http://schemas.openxmlformats.org/drawingml/2006/main">
            <a:off x="1104900" y="77152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F2D3A"/>
                </a:solidFill>
              </a:defRPr>
            </a:defPPr>
            <a:lvl1pPr>
              <a:defRPr sz="2250" b="0">
                <a:solidFill>
                  <a:srgbClr val="1F2D3A"/>
                </a:solidFill>
              </a:defRPr>
            </a:lvl1pPr>
            <a:lvl2pPr>
              <a:defRPr sz="2250" b="0">
                <a:solidFill>
                  <a:srgbClr val="1F2D3A"/>
                </a:solidFill>
              </a:defRPr>
            </a:lvl2pPr>
            <a:lvl3pPr>
              <a:defRPr sz="2250" b="0">
                <a:solidFill>
                  <a:srgbClr val="1F2D3A"/>
                </a:solidFill>
              </a:defRPr>
            </a:lvl3pPr>
            <a:lvl4pPr>
              <a:defRPr sz="2250" b="0">
                <a:solidFill>
                  <a:srgbClr val="1F2D3A"/>
                </a:solidFill>
              </a:defRPr>
            </a:lvl4pPr>
            <a:lvl5pPr>
              <a:defRPr sz="2250" b="0">
                <a:solidFill>
                  <a:srgbClr val="1F2D3A"/>
                </a:solidFill>
              </a:defRPr>
            </a:lvl5pPr>
            <a:lvl6pPr>
              <a:defRPr sz="2250" b="0">
                <a:solidFill>
                  <a:srgbClr val="1F2D3A"/>
                </a:solidFill>
              </a:defRPr>
            </a:lvl6pPr>
            <a:lvl7pPr>
              <a:defRPr sz="2250" b="0">
                <a:solidFill>
                  <a:srgbClr val="1F2D3A"/>
                </a:solidFill>
              </a:defRPr>
            </a:lvl7pPr>
            <a:lvl8pPr>
              <a:defRPr sz="2250" b="0">
                <a:solidFill>
                  <a:srgbClr val="1F2D3A"/>
                </a:solidFill>
              </a:defRPr>
            </a:lvl8pPr>
            <a:lvl9pPr>
              <a:defRPr sz="2250" b="0">
                <a:solidFill>
                  <a:srgbClr val="1F2D3A"/>
                </a:solidFill>
              </a:defRPr>
            </a:lvl9pPr>
          </a:lstStyle>
          <a:p xmlns:a="http://schemas.openxmlformats.org/drawingml/2006/main">
            <a:pPr>
              <a:defRPr sz="2250" b="0">
                <a:solidFill>
                  <a:srgbClr val="1F2D3A"/>
                </a:solidFill>
              </a:defRPr>
            </a:pPr>
            <a:r>
              <a:rPr sz="2250" b="0">
                <a:solidFill>
                  <a:srgbClr val="1F2D3A"/>
                </a:solidFill>
              </a:rPr>
              <a:t>Límites y tolerancia</a:t>
            </a:r>
          </a:p>
          <a:p xmlns:a="http://schemas.openxmlformats.org/drawingml/2006/main">
            <a:pPr>
              <a:defRPr sz="2250" b="0">
                <a:solidFill>
                  <a:srgbClr val="1F2D3A"/>
                </a:solidFill>
              </a:defRPr>
            </a:pPr>
            <a:r>
              <a:rPr sz="2250" b="0">
                <a:solidFill>
                  <a:srgbClr val="1F2D3A"/>
                </a:solidFill>
              </a:rPr>
              <a:t>breached(Reading) : boolean</a:t>
            </a:r>
          </a:p>
        </p:txBody>
      </p:sp>
      <p:sp>
        <p:nvSpPr>
          <p:cNvPr id="22" name="La misma transacción conserva lectura, estado">
            <a:extLst xmlns:a="http://schemas.openxmlformats.org/drawingml/2006/main">
              <a:ext uri="{FF2B5EF4-FFF2-40B4-BE49-F238E27FC236}">
                <a16:creationId xmlns:a16="http://schemas.microsoft.com/office/drawing/2014/main" id="{AE897F9C-3B89-474D-AE55-8BABF975101C}"/>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La misma transacción conserva lectura, estado actual y eventos pendientes de publicación.</a:t>
            </a:r>
          </a:p>
        </p:txBody>
      </p:sp>
      <p:sp>
        <p:nvSpPr>
          <p:cNvPr id="23" name="33">
            <a:extLst xmlns:a="http://schemas.openxmlformats.org/drawingml/2006/main">
              <a:ext uri="{FF2B5EF4-FFF2-40B4-BE49-F238E27FC236}">
                <a16:creationId xmlns:a16="http://schemas.microsoft.com/office/drawing/2014/main" id="{9FE8BDAF-867B-4F11-86ED-C1A5A4559152}"/>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33</a:t>
            </a:r>
          </a:p>
        </p:txBody>
      </p:sp>
    </p:spTree>
    <p:extLst>
      <p:ext uri="{BB962C8B-B14F-4D97-AF65-F5344CB8AC3E}">
        <p14:creationId xmlns:p14="http://schemas.microsoft.com/office/powerpoint/2010/main" val="203290432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0" name="Respaldo en código y pruebas del incremento">
            <a:extLst xmlns:a="http://schemas.openxmlformats.org/drawingml/2006/main">
              <a:ext uri="{FF2B5EF4-FFF2-40B4-BE49-F238E27FC236}">
                <a16:creationId xmlns:a16="http://schemas.microsoft.com/office/drawing/2014/main" id="{5A6FE175-4782-4EF7-9726-46FE0CA08B96}"/>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Respaldo en código y pruebas del incremento</a:t>
            </a:r>
          </a:p>
        </p:txBody>
      </p:sp>
      <p:sp>
        <p:nvSpPr>
          <p:cNvPr id="2" name="Monitoring · transacción de ingesta">
            <a:extLst xmlns:a="http://schemas.openxmlformats.org/drawingml/2006/main">
              <a:ext uri="{FF2B5EF4-FFF2-40B4-BE49-F238E27FC236}">
                <a16:creationId xmlns:a16="http://schemas.microsoft.com/office/drawing/2014/main" id="{48CFB785-EBE6-4643-8F85-AD2FBE0D7EE1}"/>
              </a:ext>
            </a:extLst>
          </p:cNvPr>
          <p:cNvSpPr>
            <a:spLocks xmlns:a="http://schemas.openxmlformats.org/drawingml/2006/main" noGrp="1"/>
          </p:cNvSpPr>
          <p:nvPr/>
        </p:nvSpPr>
        <p:spPr>
          <a:xfrm xmlns:a="http://schemas.openxmlformats.org/drawingml/2006/main">
            <a:off x="914400" y="2333625"/>
            <a:ext cx="7905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B7F8C"/>
                </a:solidFill>
              </a:defRPr>
            </a:defPPr>
            <a:lvl1pPr>
              <a:defRPr sz="2925" b="1">
                <a:solidFill>
                  <a:srgbClr val="1B7F8C"/>
                </a:solidFill>
              </a:defRPr>
            </a:lvl1pPr>
            <a:lvl2pPr>
              <a:defRPr sz="2925" b="1">
                <a:solidFill>
                  <a:srgbClr val="1B7F8C"/>
                </a:solidFill>
              </a:defRPr>
            </a:lvl2pPr>
            <a:lvl3pPr>
              <a:defRPr sz="2925" b="1">
                <a:solidFill>
                  <a:srgbClr val="1B7F8C"/>
                </a:solidFill>
              </a:defRPr>
            </a:lvl3pPr>
            <a:lvl4pPr>
              <a:defRPr sz="2925" b="1">
                <a:solidFill>
                  <a:srgbClr val="1B7F8C"/>
                </a:solidFill>
              </a:defRPr>
            </a:lvl4pPr>
            <a:lvl5pPr>
              <a:defRPr sz="2925" b="1">
                <a:solidFill>
                  <a:srgbClr val="1B7F8C"/>
                </a:solidFill>
              </a:defRPr>
            </a:lvl5pPr>
            <a:lvl6pPr>
              <a:defRPr sz="2925" b="1">
                <a:solidFill>
                  <a:srgbClr val="1B7F8C"/>
                </a:solidFill>
              </a:defRPr>
            </a:lvl6pPr>
            <a:lvl7pPr>
              <a:defRPr sz="2925" b="1">
                <a:solidFill>
                  <a:srgbClr val="1B7F8C"/>
                </a:solidFill>
              </a:defRPr>
            </a:lvl7pPr>
            <a:lvl8pPr>
              <a:defRPr sz="2925" b="1">
                <a:solidFill>
                  <a:srgbClr val="1B7F8C"/>
                </a:solidFill>
              </a:defRPr>
            </a:lvl8pPr>
            <a:lvl9pPr>
              <a:defRPr sz="2925" b="1">
                <a:solidFill>
                  <a:srgbClr val="1B7F8C"/>
                </a:solidFill>
              </a:defRPr>
            </a:lvl9pPr>
          </a:lstStyle>
          <a:p xmlns:a="http://schemas.openxmlformats.org/drawingml/2006/main">
            <a:pPr>
              <a:defRPr sz="2925" b="1">
                <a:solidFill>
                  <a:srgbClr val="1B7F8C"/>
                </a:solidFill>
              </a:defRPr>
            </a:pPr>
            <a:r>
              <a:rPr sz="2925" b="1">
                <a:solidFill>
                  <a:srgbClr val="1B7F8C"/>
                </a:solidFill>
              </a:rPr>
              <a:t>Monitoring · transacción de ingesta</a:t>
            </a:r>
          </a:p>
        </p:txBody>
      </p:sp>
      <p:sp>
        <p:nvSpPr>
          <p:cNvPr id="3" name="var breached = range.breached(r);&#10;long id = s">
            <a:extLst xmlns:a="http://schemas.openxmlformats.org/drawingml/2006/main">
              <a:ext uri="{FF2B5EF4-FFF2-40B4-BE49-F238E27FC236}">
                <a16:creationId xmlns:a16="http://schemas.microsoft.com/office/drawing/2014/main" id="{3EA10C44-ADAF-4151-B0E5-64D43267AC1A}"/>
              </a:ext>
            </a:extLst>
          </p:cNvPr>
          <p:cNvSpPr>
            <a:spLocks xmlns:a="http://schemas.openxmlformats.org/drawingml/2006/main" noGrp="1"/>
          </p:cNvSpPr>
          <p:nvPr/>
        </p:nvSpPr>
        <p:spPr>
          <a:xfrm xmlns:a="http://schemas.openxmlformats.org/drawingml/2006/main">
            <a:off x="914400" y="3524250"/>
            <a:ext cx="7905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0B2A43"/>
                </a:solidFill>
              </a:defRPr>
            </a:defPPr>
            <a:lvl1pPr>
              <a:defRPr sz="2175" b="0">
                <a:solidFill>
                  <a:srgbClr val="0B2A43"/>
                </a:solidFill>
              </a:defRPr>
            </a:lvl1pPr>
            <a:lvl2pPr>
              <a:defRPr sz="2175" b="0">
                <a:solidFill>
                  <a:srgbClr val="0B2A43"/>
                </a:solidFill>
              </a:defRPr>
            </a:lvl2pPr>
            <a:lvl3pPr>
              <a:defRPr sz="2175" b="0">
                <a:solidFill>
                  <a:srgbClr val="0B2A43"/>
                </a:solidFill>
              </a:defRPr>
            </a:lvl3pPr>
            <a:lvl4pPr>
              <a:defRPr sz="2175" b="0">
                <a:solidFill>
                  <a:srgbClr val="0B2A43"/>
                </a:solidFill>
              </a:defRPr>
            </a:lvl4pPr>
            <a:lvl5pPr>
              <a:defRPr sz="2175" b="0">
                <a:solidFill>
                  <a:srgbClr val="0B2A43"/>
                </a:solidFill>
              </a:defRPr>
            </a:lvl5pPr>
            <a:lvl6pPr>
              <a:defRPr sz="2175" b="0">
                <a:solidFill>
                  <a:srgbClr val="0B2A43"/>
                </a:solidFill>
              </a:defRPr>
            </a:lvl6pPr>
            <a:lvl7pPr>
              <a:defRPr sz="2175" b="0">
                <a:solidFill>
                  <a:srgbClr val="0B2A43"/>
                </a:solidFill>
              </a:defRPr>
            </a:lvl7pPr>
            <a:lvl8pPr>
              <a:defRPr sz="2175" b="0">
                <a:solidFill>
                  <a:srgbClr val="0B2A43"/>
                </a:solidFill>
              </a:defRPr>
            </a:lvl8pPr>
            <a:lvl9pPr>
              <a:defRPr sz="2175" b="0">
                <a:solidFill>
                  <a:srgbClr val="0B2A43"/>
                </a:solidFill>
              </a:defRPr>
            </a:lvl9pPr>
          </a:lstStyle>
          <a:p xmlns:a="http://schemas.openxmlformats.org/drawingml/2006/main">
            <a:pPr>
              <a:defRPr sz="2175" b="0">
                <a:solidFill>
                  <a:srgbClr val="0B2A43"/>
                </a:solidFill>
              </a:defRPr>
            </a:pPr>
            <a:r>
              <a:rPr sz="2175" b="0">
                <a:solidFill>
                  <a:srgbClr val="0B2A43"/>
                </a:solidFill>
              </a:rPr>
              <a:t>var breached = range.breached(r);</a:t>
            </a:r>
          </a:p>
          <a:p xmlns:a="http://schemas.openxmlformats.org/drawingml/2006/main">
            <a:pPr>
              <a:defRPr sz="2175" b="0">
                <a:solidFill>
                  <a:srgbClr val="0B2A43"/>
                </a:solidFill>
              </a:defRPr>
            </a:pPr>
            <a:r>
              <a:rPr sz="2175" b="0">
                <a:solidFill>
                  <a:srgbClr val="0B2A43"/>
                </a:solidFill>
              </a:rPr>
              <a:t>long id = store.insert(d, r, breached, now);</a:t>
            </a:r>
          </a:p>
          <a:p xmlns:a="http://schemas.openxmlformats.org/drawingml/2006/main">
            <a:pPr>
              <a:defRPr sz="2175" b="0">
                <a:solidFill>
                  <a:srgbClr val="0B2A43"/>
                </a:solidFill>
              </a:defRPr>
            </a:pPr>
            <a:r>
              <a:rPr sz="2175" b="0">
                <a:solidFill>
                  <a:srgbClr val="0B2A43"/>
                </a:solidFill>
              </a:rPr>
              <a:t>store.project(d, r, id, breached, now, correlation);</a:t>
            </a:r>
          </a:p>
        </p:txBody>
      </p:sp>
      <p:sp>
        <p:nvSpPr>
          <p:cNvPr id="4" name="La lectura y su estado se actualizan juntos.&#10;">
            <a:extLst xmlns:a="http://schemas.openxmlformats.org/drawingml/2006/main">
              <a:ext uri="{FF2B5EF4-FFF2-40B4-BE49-F238E27FC236}">
                <a16:creationId xmlns:a16="http://schemas.microsoft.com/office/drawing/2014/main" id="{617DA8AB-D6C9-4A89-9F9C-919AABDC88D8}"/>
              </a:ext>
            </a:extLst>
          </p:cNvPr>
          <p:cNvSpPr>
            <a:spLocks xmlns:a="http://schemas.openxmlformats.org/drawingml/2006/main" noGrp="1"/>
          </p:cNvSpPr>
          <p:nvPr/>
        </p:nvSpPr>
        <p:spPr>
          <a:xfrm xmlns:a="http://schemas.openxmlformats.org/drawingml/2006/main">
            <a:off x="914400" y="6667500"/>
            <a:ext cx="790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0">
                <a:solidFill>
                  <a:srgbClr val="1F2D3A"/>
                </a:solidFill>
              </a:defRPr>
            </a:defPPr>
            <a:lvl1pPr>
              <a:defRPr sz="2625" b="0">
                <a:solidFill>
                  <a:srgbClr val="1F2D3A"/>
                </a:solidFill>
              </a:defRPr>
            </a:lvl1pPr>
            <a:lvl2pPr>
              <a:defRPr sz="2625" b="0">
                <a:solidFill>
                  <a:srgbClr val="1F2D3A"/>
                </a:solidFill>
              </a:defRPr>
            </a:lvl2pPr>
            <a:lvl3pPr>
              <a:defRPr sz="2625" b="0">
                <a:solidFill>
                  <a:srgbClr val="1F2D3A"/>
                </a:solidFill>
              </a:defRPr>
            </a:lvl3pPr>
            <a:lvl4pPr>
              <a:defRPr sz="2625" b="0">
                <a:solidFill>
                  <a:srgbClr val="1F2D3A"/>
                </a:solidFill>
              </a:defRPr>
            </a:lvl4pPr>
            <a:lvl5pPr>
              <a:defRPr sz="2625" b="0">
                <a:solidFill>
                  <a:srgbClr val="1F2D3A"/>
                </a:solidFill>
              </a:defRPr>
            </a:lvl5pPr>
            <a:lvl6pPr>
              <a:defRPr sz="2625" b="0">
                <a:solidFill>
                  <a:srgbClr val="1F2D3A"/>
                </a:solidFill>
              </a:defRPr>
            </a:lvl6pPr>
            <a:lvl7pPr>
              <a:defRPr sz="2625" b="0">
                <a:solidFill>
                  <a:srgbClr val="1F2D3A"/>
                </a:solidFill>
              </a:defRPr>
            </a:lvl7pPr>
            <a:lvl8pPr>
              <a:defRPr sz="2625" b="0">
                <a:solidFill>
                  <a:srgbClr val="1F2D3A"/>
                </a:solidFill>
              </a:defRPr>
            </a:lvl8pPr>
            <a:lvl9pPr>
              <a:defRPr sz="2625" b="0">
                <a:solidFill>
                  <a:srgbClr val="1F2D3A"/>
                </a:solidFill>
              </a:defRPr>
            </a:lvl9pPr>
          </a:lstStyle>
          <a:p xmlns:a="http://schemas.openxmlformats.org/drawingml/2006/main">
            <a:pPr>
              <a:defRPr sz="2625" b="0">
                <a:solidFill>
                  <a:srgbClr val="1F2D3A"/>
                </a:solidFill>
              </a:defRPr>
            </a:pPr>
            <a:r>
              <a:rPr sz="2625" b="0">
                <a:solidFill>
                  <a:srgbClr val="1F2D3A"/>
                </a:solidFill>
              </a:rPr>
              <a:t>La lectura y su estado se actualizan juntos.</a:t>
            </a:r>
          </a:p>
          <a:p xmlns:a="http://schemas.openxmlformats.org/drawingml/2006/main">
            <a:pPr>
              <a:defRPr sz="2625" b="0">
                <a:solidFill>
                  <a:srgbClr val="1F2D3A"/>
                </a:solidFill>
              </a:defRPr>
            </a:pPr>
            <a:r>
              <a:rPr sz="2625" b="0">
                <a:solidFill>
                  <a:srgbClr val="1F2D3A"/>
                </a:solidFill>
              </a:rPr>
              <a:t>La misma transacción registra el evento en outbox.</a:t>
            </a:r>
          </a:p>
        </p:txBody>
      </p:sp>
      <p:sp>
        <p:nvSpPr>
          <p:cNvPr id="5" name="Alert · prueba de reconocimiento">
            <a:extLst xmlns:a="http://schemas.openxmlformats.org/drawingml/2006/main">
              <a:ext uri="{FF2B5EF4-FFF2-40B4-BE49-F238E27FC236}">
                <a16:creationId xmlns:a16="http://schemas.microsoft.com/office/drawing/2014/main" id="{6A86FFF2-5004-4CBA-B97C-598888D0BB6A}"/>
              </a:ext>
            </a:extLst>
          </p:cNvPr>
          <p:cNvSpPr>
            <a:spLocks xmlns:a="http://schemas.openxmlformats.org/drawingml/2006/main" noGrp="1"/>
          </p:cNvSpPr>
          <p:nvPr/>
        </p:nvSpPr>
        <p:spPr>
          <a:xfrm xmlns:a="http://schemas.openxmlformats.org/drawingml/2006/main">
            <a:off x="9525000" y="2333625"/>
            <a:ext cx="785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B7F8C"/>
                </a:solidFill>
              </a:defRPr>
            </a:defPPr>
            <a:lvl1pPr>
              <a:defRPr sz="2925" b="1">
                <a:solidFill>
                  <a:srgbClr val="1B7F8C"/>
                </a:solidFill>
              </a:defRPr>
            </a:lvl1pPr>
            <a:lvl2pPr>
              <a:defRPr sz="2925" b="1">
                <a:solidFill>
                  <a:srgbClr val="1B7F8C"/>
                </a:solidFill>
              </a:defRPr>
            </a:lvl2pPr>
            <a:lvl3pPr>
              <a:defRPr sz="2925" b="1">
                <a:solidFill>
                  <a:srgbClr val="1B7F8C"/>
                </a:solidFill>
              </a:defRPr>
            </a:lvl3pPr>
            <a:lvl4pPr>
              <a:defRPr sz="2925" b="1">
                <a:solidFill>
                  <a:srgbClr val="1B7F8C"/>
                </a:solidFill>
              </a:defRPr>
            </a:lvl4pPr>
            <a:lvl5pPr>
              <a:defRPr sz="2925" b="1">
                <a:solidFill>
                  <a:srgbClr val="1B7F8C"/>
                </a:solidFill>
              </a:defRPr>
            </a:lvl5pPr>
            <a:lvl6pPr>
              <a:defRPr sz="2925" b="1">
                <a:solidFill>
                  <a:srgbClr val="1B7F8C"/>
                </a:solidFill>
              </a:defRPr>
            </a:lvl6pPr>
            <a:lvl7pPr>
              <a:defRPr sz="2925" b="1">
                <a:solidFill>
                  <a:srgbClr val="1B7F8C"/>
                </a:solidFill>
              </a:defRPr>
            </a:lvl7pPr>
            <a:lvl8pPr>
              <a:defRPr sz="2925" b="1">
                <a:solidFill>
                  <a:srgbClr val="1B7F8C"/>
                </a:solidFill>
              </a:defRPr>
            </a:lvl8pPr>
            <a:lvl9pPr>
              <a:defRPr sz="2925" b="1">
                <a:solidFill>
                  <a:srgbClr val="1B7F8C"/>
                </a:solidFill>
              </a:defRPr>
            </a:lvl9pPr>
          </a:lstStyle>
          <a:p xmlns:a="http://schemas.openxmlformats.org/drawingml/2006/main">
            <a:pPr>
              <a:defRPr sz="2925" b="1">
                <a:solidFill>
                  <a:srgbClr val="1B7F8C"/>
                </a:solidFill>
              </a:defRPr>
            </a:pPr>
            <a:r>
              <a:rPr sz="2925" b="1">
                <a:solidFill>
                  <a:srgbClr val="1B7F8C"/>
                </a:solidFill>
              </a:rPr>
              <a:t>Alert · prueba de reconocimiento</a:t>
            </a:r>
          </a:p>
        </p:txBody>
      </p:sp>
      <p:sp>
        <p:nvSpPr>
          <p:cNvPr id="6" name=".andExpect(status().isOk())&#10;        .andExpec">
            <a:extLst xmlns:a="http://schemas.openxmlformats.org/drawingml/2006/main">
              <a:ext uri="{FF2B5EF4-FFF2-40B4-BE49-F238E27FC236}">
                <a16:creationId xmlns:a16="http://schemas.microsoft.com/office/drawing/2014/main" id="{2666A533-E882-4CE3-941E-1A84211B370B}"/>
              </a:ext>
            </a:extLst>
          </p:cNvPr>
          <p:cNvSpPr>
            <a:spLocks xmlns:a="http://schemas.openxmlformats.org/drawingml/2006/main" noGrp="1"/>
          </p:cNvSpPr>
          <p:nvPr/>
        </p:nvSpPr>
        <p:spPr>
          <a:xfrm xmlns:a="http://schemas.openxmlformats.org/drawingml/2006/main">
            <a:off x="9525000" y="3524250"/>
            <a:ext cx="785812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B2A43"/>
                </a:solidFill>
              </a:defRPr>
            </a:defPPr>
            <a:lvl1pPr>
              <a:defRPr sz="2025" b="0">
                <a:solidFill>
                  <a:srgbClr val="0B2A43"/>
                </a:solidFill>
              </a:defRPr>
            </a:lvl1pPr>
            <a:lvl2pPr>
              <a:defRPr sz="2025" b="0">
                <a:solidFill>
                  <a:srgbClr val="0B2A43"/>
                </a:solidFill>
              </a:defRPr>
            </a:lvl2pPr>
            <a:lvl3pPr>
              <a:defRPr sz="2025" b="0">
                <a:solidFill>
                  <a:srgbClr val="0B2A43"/>
                </a:solidFill>
              </a:defRPr>
            </a:lvl3pPr>
            <a:lvl4pPr>
              <a:defRPr sz="2025" b="0">
                <a:solidFill>
                  <a:srgbClr val="0B2A43"/>
                </a:solidFill>
              </a:defRPr>
            </a:lvl4pPr>
            <a:lvl5pPr>
              <a:defRPr sz="2025" b="0">
                <a:solidFill>
                  <a:srgbClr val="0B2A43"/>
                </a:solidFill>
              </a:defRPr>
            </a:lvl5pPr>
            <a:lvl6pPr>
              <a:defRPr sz="2025" b="0">
                <a:solidFill>
                  <a:srgbClr val="0B2A43"/>
                </a:solidFill>
              </a:defRPr>
            </a:lvl6pPr>
            <a:lvl7pPr>
              <a:defRPr sz="2025" b="0">
                <a:solidFill>
                  <a:srgbClr val="0B2A43"/>
                </a:solidFill>
              </a:defRPr>
            </a:lvl7pPr>
            <a:lvl8pPr>
              <a:defRPr sz="2025" b="0">
                <a:solidFill>
                  <a:srgbClr val="0B2A43"/>
                </a:solidFill>
              </a:defRPr>
            </a:lvl8pPr>
            <a:lvl9pPr>
              <a:defRPr sz="2025" b="0">
                <a:solidFill>
                  <a:srgbClr val="0B2A43"/>
                </a:solidFill>
              </a:defRPr>
            </a:lvl9pPr>
          </a:lstStyle>
          <a:p xmlns:a="http://schemas.openxmlformats.org/drawingml/2006/main">
            <a:pPr>
              <a:defRPr sz="2025" b="0">
                <a:solidFill>
                  <a:srgbClr val="0B2A43"/>
                </a:solidFill>
              </a:defRPr>
            </a:pPr>
            <a:r>
              <a:rPr sz="2025" b="0">
                <a:solidFill>
                  <a:srgbClr val="0B2A43"/>
                </a:solidFill>
              </a:rPr>
              <a:t>.andExpect(status().isOk())</a:t>
            </a:r>
          </a:p>
          <a:p xmlns:a="http://schemas.openxmlformats.org/drawingml/2006/main">
            <a:pPr>
              <a:defRPr sz="2025" b="0">
                <a:solidFill>
                  <a:srgbClr val="0B2A43"/>
                </a:solidFill>
              </a:defRPr>
            </a:pPr>
            <a:r>
              <a:rPr sz="2025" b="0">
                <a:solidFill>
                  <a:srgbClr val="0B2A43"/>
                </a:solidFill>
              </a:rPr>
              <a:t>        .andExpect(jsonPath("$.state").value("ACKNOWLEDGED"))</a:t>
            </a:r>
          </a:p>
          <a:p xmlns:a="http://schemas.openxmlformats.org/drawingml/2006/main">
            <a:pPr>
              <a:defRPr sz="2025" b="0">
                <a:solidFill>
                  <a:srgbClr val="0B2A43"/>
                </a:solidFill>
              </a:defRPr>
            </a:pPr>
            <a:r>
              <a:rPr sz="2025" b="0">
                <a:solidFill>
                  <a:srgbClr val="0B2A43"/>
                </a:solidFill>
              </a:rPr>
              <a:t>        .andExpect(jsonPath("$.assignee.userId").value(11));</a:t>
            </a:r>
          </a:p>
        </p:txBody>
      </p:sp>
      <p:sp>
        <p:nvSpPr>
          <p:cNvPr id="7" name="La prueba también verifica el deshacer,&#10;la ve">
            <a:extLst xmlns:a="http://schemas.openxmlformats.org/drawingml/2006/main">
              <a:ext uri="{FF2B5EF4-FFF2-40B4-BE49-F238E27FC236}">
                <a16:creationId xmlns:a16="http://schemas.microsoft.com/office/drawing/2014/main" id="{12E0D75A-F173-48F8-B163-1E078D5D0ED6}"/>
              </a:ext>
            </a:extLst>
          </p:cNvPr>
          <p:cNvSpPr>
            <a:spLocks xmlns:a="http://schemas.openxmlformats.org/drawingml/2006/main" noGrp="1"/>
          </p:cNvSpPr>
          <p:nvPr/>
        </p:nvSpPr>
        <p:spPr>
          <a:xfrm xmlns:a="http://schemas.openxmlformats.org/drawingml/2006/main">
            <a:off x="9525000" y="6667500"/>
            <a:ext cx="7858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0">
                <a:solidFill>
                  <a:srgbClr val="1F2D3A"/>
                </a:solidFill>
              </a:defRPr>
            </a:defPPr>
            <a:lvl1pPr>
              <a:defRPr sz="2625" b="0">
                <a:solidFill>
                  <a:srgbClr val="1F2D3A"/>
                </a:solidFill>
              </a:defRPr>
            </a:lvl1pPr>
            <a:lvl2pPr>
              <a:defRPr sz="2625" b="0">
                <a:solidFill>
                  <a:srgbClr val="1F2D3A"/>
                </a:solidFill>
              </a:defRPr>
            </a:lvl2pPr>
            <a:lvl3pPr>
              <a:defRPr sz="2625" b="0">
                <a:solidFill>
                  <a:srgbClr val="1F2D3A"/>
                </a:solidFill>
              </a:defRPr>
            </a:lvl3pPr>
            <a:lvl4pPr>
              <a:defRPr sz="2625" b="0">
                <a:solidFill>
                  <a:srgbClr val="1F2D3A"/>
                </a:solidFill>
              </a:defRPr>
            </a:lvl4pPr>
            <a:lvl5pPr>
              <a:defRPr sz="2625" b="0">
                <a:solidFill>
                  <a:srgbClr val="1F2D3A"/>
                </a:solidFill>
              </a:defRPr>
            </a:lvl5pPr>
            <a:lvl6pPr>
              <a:defRPr sz="2625" b="0">
                <a:solidFill>
                  <a:srgbClr val="1F2D3A"/>
                </a:solidFill>
              </a:defRPr>
            </a:lvl6pPr>
            <a:lvl7pPr>
              <a:defRPr sz="2625" b="0">
                <a:solidFill>
                  <a:srgbClr val="1F2D3A"/>
                </a:solidFill>
              </a:defRPr>
            </a:lvl7pPr>
            <a:lvl8pPr>
              <a:defRPr sz="2625" b="0">
                <a:solidFill>
                  <a:srgbClr val="1F2D3A"/>
                </a:solidFill>
              </a:defRPr>
            </a:lvl8pPr>
            <a:lvl9pPr>
              <a:defRPr sz="2625" b="0">
                <a:solidFill>
                  <a:srgbClr val="1F2D3A"/>
                </a:solidFill>
              </a:defRPr>
            </a:lvl9pPr>
          </a:lstStyle>
          <a:p xmlns:a="http://schemas.openxmlformats.org/drawingml/2006/main">
            <a:pPr>
              <a:defRPr sz="2625" b="0">
                <a:solidFill>
                  <a:srgbClr val="1F2D3A"/>
                </a:solidFill>
              </a:defRPr>
            </a:pPr>
            <a:r>
              <a:rPr sz="2625" b="0">
                <a:solidFill>
                  <a:srgbClr val="1F2D3A"/>
                </a:solidFill>
              </a:rPr>
              <a:t>La prueba también verifica el deshacer,</a:t>
            </a:r>
          </a:p>
          <a:p xmlns:a="http://schemas.openxmlformats.org/drawingml/2006/main">
            <a:pPr>
              <a:defRPr sz="2625" b="0">
                <a:solidFill>
                  <a:srgbClr val="1F2D3A"/>
                </a:solidFill>
              </a:defRPr>
            </a:pPr>
            <a:r>
              <a:rPr sz="2625" b="0">
                <a:solidFill>
                  <a:srgbClr val="1F2D3A"/>
                </a:solidFill>
              </a:rPr>
              <a:t>la ventana vencida y la autorización.</a:t>
            </a:r>
          </a:p>
        </p:txBody>
      </p:sp>
      <p:sp>
        <p:nvSpPr>
          <p:cNvPr id="8" name="Pruebas automatizadas respaldan mecanismos; c">
            <a:extLst xmlns:a="http://schemas.openxmlformats.org/drawingml/2006/main">
              <a:ext uri="{FF2B5EF4-FFF2-40B4-BE49-F238E27FC236}">
                <a16:creationId xmlns:a16="http://schemas.microsoft.com/office/drawing/2014/main" id="{8A4176D1-F001-449C-9149-C39B5723827F}"/>
              </a:ext>
            </a:extLst>
          </p:cNvPr>
          <p:cNvSpPr>
            <a:spLocks xmlns:a="http://schemas.openxmlformats.org/drawingml/2006/main" noGrp="1"/>
          </p:cNvSpPr>
          <p:nvPr/>
        </p:nvSpPr>
        <p:spPr>
          <a:xfrm xmlns:a="http://schemas.openxmlformats.org/drawingml/2006/main">
            <a:off x="914400" y="9163050"/>
            <a:ext cx="1590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B7F8C"/>
                </a:solidFill>
              </a:defRPr>
            </a:defPPr>
            <a:lvl1pPr>
              <a:defRPr sz="2100" b="1">
                <a:solidFill>
                  <a:srgbClr val="1B7F8C"/>
                </a:solidFill>
              </a:defRPr>
            </a:lvl1pPr>
            <a:lvl2pPr>
              <a:defRPr sz="2100" b="1">
                <a:solidFill>
                  <a:srgbClr val="1B7F8C"/>
                </a:solidFill>
              </a:defRPr>
            </a:lvl2pPr>
            <a:lvl3pPr>
              <a:defRPr sz="2100" b="1">
                <a:solidFill>
                  <a:srgbClr val="1B7F8C"/>
                </a:solidFill>
              </a:defRPr>
            </a:lvl3pPr>
            <a:lvl4pPr>
              <a:defRPr sz="2100" b="1">
                <a:solidFill>
                  <a:srgbClr val="1B7F8C"/>
                </a:solidFill>
              </a:defRPr>
            </a:lvl4pPr>
            <a:lvl5pPr>
              <a:defRPr sz="2100" b="1">
                <a:solidFill>
                  <a:srgbClr val="1B7F8C"/>
                </a:solidFill>
              </a:defRPr>
            </a:lvl5pPr>
            <a:lvl6pPr>
              <a:defRPr sz="2100" b="1">
                <a:solidFill>
                  <a:srgbClr val="1B7F8C"/>
                </a:solidFill>
              </a:defRPr>
            </a:lvl6pPr>
            <a:lvl7pPr>
              <a:defRPr sz="2100" b="1">
                <a:solidFill>
                  <a:srgbClr val="1B7F8C"/>
                </a:solidFill>
              </a:defRPr>
            </a:lvl7pPr>
            <a:lvl8pPr>
              <a:defRPr sz="2100" b="1">
                <a:solidFill>
                  <a:srgbClr val="1B7F8C"/>
                </a:solidFill>
              </a:defRPr>
            </a:lvl8pPr>
            <a:lvl9pPr>
              <a:defRPr sz="2100" b="1">
                <a:solidFill>
                  <a:srgbClr val="1B7F8C"/>
                </a:solidFill>
              </a:defRPr>
            </a:lvl9pPr>
          </a:lstStyle>
          <a:p xmlns:a="http://schemas.openxmlformats.org/drawingml/2006/main">
            <a:pPr>
              <a:defRPr sz="2100" b="1">
                <a:solidFill>
                  <a:srgbClr val="1B7F8C"/>
                </a:solidFill>
              </a:defRPr>
            </a:pPr>
            <a:r>
              <a:rPr sz="2100" b="1">
                <a:solidFill>
                  <a:srgbClr val="1B7F8C"/>
                </a:solidFill>
              </a:rPr>
              <a:t>Pruebas automatizadas respaldan mecanismos; carga y usabilidad exigen sus propios escenarios.</a:t>
            </a:r>
          </a:p>
        </p:txBody>
      </p:sp>
      <p:sp>
        <p:nvSpPr>
          <p:cNvPr id="9" name="34">
            <a:extLst xmlns:a="http://schemas.openxmlformats.org/drawingml/2006/main">
              <a:ext uri="{FF2B5EF4-FFF2-40B4-BE49-F238E27FC236}">
                <a16:creationId xmlns:a16="http://schemas.microsoft.com/office/drawing/2014/main" id="{71A5F8BD-2FB9-4637-978A-878C49ECB683}"/>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34</a:t>
            </a:r>
          </a:p>
        </p:txBody>
      </p:sp>
    </p:spTree>
    <p:extLst>
      <p:ext uri="{BB962C8B-B14F-4D97-AF65-F5344CB8AC3E}">
        <p14:creationId xmlns:p14="http://schemas.microsoft.com/office/powerpoint/2010/main" val="92252429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CCBAA55-75FE-4704-877C-9D0694F672D7}"/>
              </a:ext>
            </a:extLst>
          </p:cNvPr>
          <p:cNvSpPr>
            <a:spLocks xmlns:a="http://schemas.openxmlformats.org/drawingml/2006/main" noGrp="1"/>
          </p:cNvSpPr>
          <p:nvPr/>
        </p:nvSpPr>
        <p:spPr>
          <a:xfrm xmlns:a="http://schemas.openxmlformats.org/drawingml/2006/main" rot="0" flipH="0" flipV="0">
            <a:off x="914400" y="548640"/>
            <a:ext cx="16459200" cy="1188720"/>
          </a:xfrm>
          <a:custGeom xmlns:a="http://schemas.openxmlformats.org/drawingml/2006/main">
            <a:rect l="l" t="t" r="r" b="b"/>
            <a:pathLst>
              <a:path w="21945600" h="1584960">
                <a:moveTo>
                  <a:pt x="0" y="0"/>
                </a:moveTo>
                <a:lnTo>
                  <a:pt x="21945600" y="0"/>
                </a:lnTo>
                <a:lnTo>
                  <a:pt x="21945600" y="1584960"/>
                </a:lnTo>
                <a:lnTo>
                  <a:pt x="0" y="1584960"/>
                </a:lnTo>
                <a:close/>
              </a:path>
            </a:pathLst>
          </a:custGeom>
          <a:blipFill xmlns:a="http://schemas.openxmlformats.org/drawingml/2006/main">
            <a:blip xmlns:r="http://schemas.openxmlformats.org/officeDocument/2006/relationships" r:embed="R9b67cbfe10c142a2">
              <a:alphaModFix amt="0"/>
            </a:blip>
            <a:stretch>
              <a:fillRect l="0" t="-219792" r="0" b="-219792"/>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C2D4C220-9AB7-4C2D-B9E1-23ED1DEB0759}"/>
              </a:ext>
            </a:extLst>
          </p:cNvPr>
          <p:cNvSpPr>
            <a:spLocks xmlns:a="http://schemas.openxmlformats.org/drawingml/2006/main" noGrp="1"/>
          </p:cNvSpPr>
          <p:nvPr/>
        </p:nvSpPr>
        <p:spPr>
          <a:xfrm xmlns:a="http://schemas.openxmlformats.org/drawingml/2006/main" rot="0" flipH="0" flipV="0">
            <a:off x="901703" y="199898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D308F768-F4EE-4046-BD2E-C1C58F78BB68}"/>
              </a:ext>
            </a:extLst>
          </p:cNvPr>
          <p:cNvSpPr>
            <a:spLocks xmlns:a="http://schemas.openxmlformats.org/drawingml/2006/main" noGrp="1"/>
          </p:cNvSpPr>
          <p:nvPr/>
        </p:nvSpPr>
        <p:spPr>
          <a:xfrm xmlns:a="http://schemas.openxmlformats.org/drawingml/2006/main">
            <a:off x="1188720" y="217551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Frontend</a:t>
            </a:r>
          </a:p>
        </p:txBody>
      </p:sp>
      <p:sp>
        <p:nvSpPr>
          <p:cNvPr id="8" name="TextBox 8">
            <a:extLst xmlns:a="http://schemas.openxmlformats.org/drawingml/2006/main">
              <a:ext uri="{FF2B5EF4-FFF2-40B4-BE49-F238E27FC236}">
                <a16:creationId xmlns:a16="http://schemas.microsoft.com/office/drawing/2014/main" id="{7FCF9F86-0240-4F7E-AECF-7AB4E1E6CD7E}"/>
              </a:ext>
            </a:extLst>
          </p:cNvPr>
          <p:cNvSpPr>
            <a:spLocks xmlns:a="http://schemas.openxmlformats.org/drawingml/2006/main" noGrp="1"/>
          </p:cNvSpPr>
          <p:nvPr/>
        </p:nvSpPr>
        <p:spPr>
          <a:xfrm xmlns:a="http://schemas.openxmlformats.org/drawingml/2006/main">
            <a:off x="1188720" y="2924556"/>
            <a:ext cx="3383280" cy="109689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Angular y TypeScript: incremento local</a:t>
            </a:r>
          </a:p>
          <a:p xmlns:a="http://schemas.openxmlformats.org/drawingml/2006/main">
            <a:pPr algn="l">
              <a:lnSpc>
                <a:spcPts val="2879"/>
              </a:lnSpc>
              <a:buNone/>
            </a:pPr>
            <a:r>
              <a:rPr sz="2400">
                <a:solidFill>
                  <a:srgbClr val="1F2D3A"/>
                </a:solidFill>
                <a:latin typeface="Calibri (MS)"/>
                <a:ea typeface="Calibri (MS)"/>
                <a:cs typeface="Calibri (MS)"/>
              </a:rPr>
              <a:t>Firebase Hosting: objetivo</a:t>
            </a:r>
          </a:p>
        </p:txBody>
      </p:sp>
      <p:sp>
        <p:nvSpPr>
          <p:cNvPr id="10" name="Freeform 10">
            <a:extLst xmlns:a="http://schemas.openxmlformats.org/drawingml/2006/main">
              <a:ext uri="{FF2B5EF4-FFF2-40B4-BE49-F238E27FC236}">
                <a16:creationId xmlns:a16="http://schemas.microsoft.com/office/drawing/2014/main" id="{8A5E8787-9F5B-4DC6-A78E-665714A023B4}"/>
              </a:ext>
            </a:extLst>
          </p:cNvPr>
          <p:cNvSpPr>
            <a:spLocks xmlns:a="http://schemas.openxmlformats.org/drawingml/2006/main" noGrp="1"/>
          </p:cNvSpPr>
          <p:nvPr/>
        </p:nvSpPr>
        <p:spPr>
          <a:xfrm xmlns:a="http://schemas.openxmlformats.org/drawingml/2006/main" rot="0" flipH="0" flipV="0">
            <a:off x="5071367" y="199898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5C76B56C-ED19-42C3-B070-D296B04CB346}"/>
              </a:ext>
            </a:extLst>
          </p:cNvPr>
          <p:cNvSpPr>
            <a:spLocks xmlns:a="http://schemas.openxmlformats.org/drawingml/2006/main" noGrp="1"/>
          </p:cNvSpPr>
          <p:nvPr/>
        </p:nvSpPr>
        <p:spPr>
          <a:xfrm xmlns:a="http://schemas.openxmlformats.org/drawingml/2006/main">
            <a:off x="5358384" y="217551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Backend</a:t>
            </a:r>
          </a:p>
        </p:txBody>
      </p:sp>
      <p:sp>
        <p:nvSpPr>
          <p:cNvPr id="12" name="TextBox 12">
            <a:extLst xmlns:a="http://schemas.openxmlformats.org/drawingml/2006/main">
              <a:ext uri="{FF2B5EF4-FFF2-40B4-BE49-F238E27FC236}">
                <a16:creationId xmlns:a16="http://schemas.microsoft.com/office/drawing/2014/main" id="{6453C4B4-3D6E-428A-8975-EB00E5D3D1F3}"/>
              </a:ext>
            </a:extLst>
          </p:cNvPr>
          <p:cNvSpPr>
            <a:spLocks xmlns:a="http://schemas.openxmlformats.org/drawingml/2006/main" noGrp="1"/>
          </p:cNvSpPr>
          <p:nvPr/>
        </p:nvSpPr>
        <p:spPr>
          <a:xfrm xmlns:a="http://schemas.openxmlformats.org/drawingml/2006/main">
            <a:off x="5358384" y="2924556"/>
            <a:ext cx="3383280" cy="2598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Java 21 y Spring Boot</a:t>
            </a:r>
          </a:p>
          <a:p xmlns:a="http://schemas.openxmlformats.org/drawingml/2006/main">
            <a:pPr algn="l">
              <a:lnSpc>
                <a:spcPts val="2879"/>
              </a:lnSpc>
              <a:buNone/>
            </a:pPr>
            <a:r>
              <a:rPr sz="2400">
                <a:solidFill>
                  <a:srgbClr val="1F2D3A"/>
                </a:solidFill>
                <a:latin typeface="Calibri (MS)"/>
                <a:ea typeface="Calibri (MS)"/>
                <a:cs typeface="Calibri (MS)"/>
              </a:rPr>
              <a:t>Spring Cloud Gateway</a:t>
            </a:r>
          </a:p>
          <a:p xmlns:a="http://schemas.openxmlformats.org/drawingml/2006/main">
            <a:pPr algn="l">
              <a:lnSpc>
                <a:spcPts val="2879"/>
              </a:lnSpc>
              <a:buNone/>
            </a:pPr>
            <a:r>
              <a:rPr sz="2400">
                <a:solidFill>
                  <a:srgbClr val="1F2D3A"/>
                </a:solidFill>
                <a:latin typeface="Calibri (MS)"/>
                <a:ea typeface="Calibri (MS)"/>
                <a:cs typeface="Calibri (MS)"/>
              </a:rPr>
              <a:t>OpenAPI / Swagger</a:t>
            </a:r>
          </a:p>
        </p:txBody>
      </p:sp>
      <p:sp>
        <p:nvSpPr>
          <p:cNvPr id="14" name="Freeform 14">
            <a:extLst xmlns:a="http://schemas.openxmlformats.org/drawingml/2006/main">
              <a:ext uri="{FF2B5EF4-FFF2-40B4-BE49-F238E27FC236}">
                <a16:creationId xmlns:a16="http://schemas.microsoft.com/office/drawing/2014/main" id="{FCC8AF4A-E17D-4522-9F9C-04C9A96557C0}"/>
              </a:ext>
            </a:extLst>
          </p:cNvPr>
          <p:cNvSpPr>
            <a:spLocks xmlns:a="http://schemas.openxmlformats.org/drawingml/2006/main" noGrp="1"/>
          </p:cNvSpPr>
          <p:nvPr/>
        </p:nvSpPr>
        <p:spPr>
          <a:xfrm xmlns:a="http://schemas.openxmlformats.org/drawingml/2006/main" rot="0" flipH="0" flipV="0">
            <a:off x="9241031" y="199898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5" name="TextBox 15">
            <a:extLst xmlns:a="http://schemas.openxmlformats.org/drawingml/2006/main">
              <a:ext uri="{FF2B5EF4-FFF2-40B4-BE49-F238E27FC236}">
                <a16:creationId xmlns:a16="http://schemas.microsoft.com/office/drawing/2014/main" id="{EA3C37D9-A856-423F-AC97-21AE4A8DC90F}"/>
              </a:ext>
            </a:extLst>
          </p:cNvPr>
          <p:cNvSpPr>
            <a:spLocks xmlns:a="http://schemas.openxmlformats.org/drawingml/2006/main" noGrp="1"/>
          </p:cNvSpPr>
          <p:nvPr/>
        </p:nvSpPr>
        <p:spPr>
          <a:xfrm xmlns:a="http://schemas.openxmlformats.org/drawingml/2006/main">
            <a:off x="9528048" y="217551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Datos y mensajería</a:t>
            </a:r>
          </a:p>
        </p:txBody>
      </p:sp>
      <p:sp>
        <p:nvSpPr>
          <p:cNvPr id="16" name="TextBox 16">
            <a:extLst xmlns:a="http://schemas.openxmlformats.org/drawingml/2006/main">
              <a:ext uri="{FF2B5EF4-FFF2-40B4-BE49-F238E27FC236}">
                <a16:creationId xmlns:a16="http://schemas.microsoft.com/office/drawing/2014/main" id="{88C5ACE4-CBBA-42CD-8BD8-335EC1E68B2D}"/>
              </a:ext>
            </a:extLst>
          </p:cNvPr>
          <p:cNvSpPr>
            <a:spLocks xmlns:a="http://schemas.openxmlformats.org/drawingml/2006/main" noGrp="1"/>
          </p:cNvSpPr>
          <p:nvPr/>
        </p:nvSpPr>
        <p:spPr>
          <a:xfrm xmlns:a="http://schemas.openxmlformats.org/drawingml/2006/main">
            <a:off x="9528048" y="2924556"/>
            <a:ext cx="3383280" cy="14625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MySQL y emulador Pub/Sub: local</a:t>
            </a:r>
          </a:p>
          <a:p xmlns:a="http://schemas.openxmlformats.org/drawingml/2006/main">
            <a:pPr algn="l">
              <a:lnSpc>
                <a:spcPts val="2879"/>
              </a:lnSpc>
              <a:buNone/>
            </a:pPr>
            <a:r>
              <a:rPr sz="2400">
                <a:solidFill>
                  <a:srgbClr val="1F2D3A"/>
                </a:solidFill>
                <a:latin typeface="Calibri (MS)"/>
                <a:ea typeface="Calibri (MS)"/>
                <a:cs typeface="Calibri (MS)"/>
              </a:rPr>
              <a:t>Cloud SQL y Pub/Sub: objetivo</a:t>
            </a:r>
          </a:p>
        </p:txBody>
      </p:sp>
      <p:sp>
        <p:nvSpPr>
          <p:cNvPr id="18" name="Freeform 18">
            <a:extLst xmlns:a="http://schemas.openxmlformats.org/drawingml/2006/main">
              <a:ext uri="{FF2B5EF4-FFF2-40B4-BE49-F238E27FC236}">
                <a16:creationId xmlns:a16="http://schemas.microsoft.com/office/drawing/2014/main" id="{85B107C8-4F3B-4734-A427-38432AA8E96B}"/>
              </a:ext>
            </a:extLst>
          </p:cNvPr>
          <p:cNvSpPr>
            <a:spLocks xmlns:a="http://schemas.openxmlformats.org/drawingml/2006/main" noGrp="1"/>
          </p:cNvSpPr>
          <p:nvPr/>
        </p:nvSpPr>
        <p:spPr>
          <a:xfrm xmlns:a="http://schemas.openxmlformats.org/drawingml/2006/main" rot="0" flipH="0" flipV="0">
            <a:off x="13410695" y="199898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14CA1B31-4E77-446C-BB9D-810D76E47D4D}"/>
              </a:ext>
            </a:extLst>
          </p:cNvPr>
          <p:cNvSpPr>
            <a:spLocks xmlns:a="http://schemas.openxmlformats.org/drawingml/2006/main" noGrp="1"/>
          </p:cNvSpPr>
          <p:nvPr/>
        </p:nvSpPr>
        <p:spPr>
          <a:xfrm xmlns:a="http://schemas.openxmlformats.org/drawingml/2006/main">
            <a:off x="13697712" y="217551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Google Cloud</a:t>
            </a:r>
          </a:p>
        </p:txBody>
      </p:sp>
      <p:sp>
        <p:nvSpPr>
          <p:cNvPr id="20" name="TextBox 20">
            <a:extLst xmlns:a="http://schemas.openxmlformats.org/drawingml/2006/main">
              <a:ext uri="{FF2B5EF4-FFF2-40B4-BE49-F238E27FC236}">
                <a16:creationId xmlns:a16="http://schemas.microsoft.com/office/drawing/2014/main" id="{B7B6F1D5-8C91-4073-8129-EF44B9ACF05E}"/>
              </a:ext>
            </a:extLst>
          </p:cNvPr>
          <p:cNvSpPr>
            <a:spLocks xmlns:a="http://schemas.openxmlformats.org/drawingml/2006/main" noGrp="1"/>
          </p:cNvSpPr>
          <p:nvPr/>
        </p:nvSpPr>
        <p:spPr>
          <a:xfrm xmlns:a="http://schemas.openxmlformats.org/drawingml/2006/main">
            <a:off x="13697712" y="2924556"/>
            <a:ext cx="3383280" cy="255943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Objetivo pendiente de despliegue:</a:t>
            </a:r>
          </a:p>
          <a:p xmlns:a="http://schemas.openxmlformats.org/drawingml/2006/main">
            <a:pPr algn="l">
              <a:lnSpc>
                <a:spcPts val="2879"/>
              </a:lnSpc>
              <a:buNone/>
            </a:pPr>
            <a:r>
              <a:rPr sz="2400">
                <a:solidFill>
                  <a:srgbClr val="1F2D3A"/>
                </a:solidFill>
                <a:latin typeface="Calibri (MS)"/>
                <a:ea typeface="Calibri (MS)"/>
                <a:cs typeface="Calibri (MS)"/>
              </a:rPr>
              <a:t>Cloud Run y Artifact Registry</a:t>
            </a:r>
          </a:p>
          <a:p xmlns:a="http://schemas.openxmlformats.org/drawingml/2006/main">
            <a:pPr algn="l">
              <a:lnSpc>
                <a:spcPts val="2879"/>
              </a:lnSpc>
              <a:buNone/>
            </a:pPr>
            <a:r>
              <a:rPr sz="2400">
                <a:solidFill>
                  <a:srgbClr val="1F2D3A"/>
                </a:solidFill>
                <a:latin typeface="Calibri (MS)"/>
                <a:ea typeface="Calibri (MS)"/>
                <a:cs typeface="Calibri (MS)"/>
              </a:rPr>
              <a:t>Secret Manager</a:t>
            </a:r>
          </a:p>
          <a:p xmlns:a="http://schemas.openxmlformats.org/drawingml/2006/main">
            <a:pPr algn="l">
              <a:lnSpc>
                <a:spcPts val="2879"/>
              </a:lnSpc>
              <a:buNone/>
            </a:pPr>
            <a:r>
              <a:rPr sz="2400">
                <a:solidFill>
                  <a:srgbClr val="1F2D3A"/>
                </a:solidFill>
                <a:latin typeface="Calibri (MS)"/>
                <a:ea typeface="Calibri (MS)"/>
                <a:cs typeface="Calibri (MS)"/>
              </a:rPr>
              <a:t>Cloud Logging y Monitoring</a:t>
            </a:r>
          </a:p>
        </p:txBody>
      </p:sp>
      <p:sp>
        <p:nvSpPr>
          <p:cNvPr id="22" name="Freeform 22">
            <a:extLst xmlns:a="http://schemas.openxmlformats.org/drawingml/2006/main">
              <a:ext uri="{FF2B5EF4-FFF2-40B4-BE49-F238E27FC236}">
                <a16:creationId xmlns:a16="http://schemas.microsoft.com/office/drawing/2014/main" id="{07CC366A-41A6-4350-93C5-92233520ED63}"/>
              </a:ext>
            </a:extLst>
          </p:cNvPr>
          <p:cNvSpPr>
            <a:spLocks xmlns:a="http://schemas.openxmlformats.org/drawingml/2006/main" noGrp="1"/>
          </p:cNvSpPr>
          <p:nvPr/>
        </p:nvSpPr>
        <p:spPr>
          <a:xfrm xmlns:a="http://schemas.openxmlformats.org/drawingml/2006/main" rot="0" flipH="0" flipV="0">
            <a:off x="901703" y="583946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3" name="TextBox 23">
            <a:extLst xmlns:a="http://schemas.openxmlformats.org/drawingml/2006/main">
              <a:ext uri="{FF2B5EF4-FFF2-40B4-BE49-F238E27FC236}">
                <a16:creationId xmlns:a16="http://schemas.microsoft.com/office/drawing/2014/main" id="{8384C507-1B61-4CE6-9AE7-32F3C702D1F5}"/>
              </a:ext>
            </a:extLst>
          </p:cNvPr>
          <p:cNvSpPr>
            <a:spLocks xmlns:a="http://schemas.openxmlformats.org/drawingml/2006/main" noGrp="1"/>
          </p:cNvSpPr>
          <p:nvPr/>
        </p:nvSpPr>
        <p:spPr>
          <a:xfrm xmlns:a="http://schemas.openxmlformats.org/drawingml/2006/main">
            <a:off x="1188720" y="601599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Borde e IoT</a:t>
            </a:r>
          </a:p>
        </p:txBody>
      </p:sp>
      <p:sp>
        <p:nvSpPr>
          <p:cNvPr id="24" name="TextBox 24">
            <a:extLst xmlns:a="http://schemas.openxmlformats.org/drawingml/2006/main">
              <a:ext uri="{FF2B5EF4-FFF2-40B4-BE49-F238E27FC236}">
                <a16:creationId xmlns:a16="http://schemas.microsoft.com/office/drawing/2014/main" id="{D09CE55A-8A5A-425A-9303-C89D0B53500B}"/>
              </a:ext>
            </a:extLst>
          </p:cNvPr>
          <p:cNvSpPr>
            <a:spLocks xmlns:a="http://schemas.openxmlformats.org/drawingml/2006/main" noGrp="1"/>
          </p:cNvSpPr>
          <p:nvPr/>
        </p:nvSpPr>
        <p:spPr>
          <a:xfrm xmlns:a="http://schemas.openxmlformats.org/drawingml/2006/main">
            <a:off x="1188720" y="6765036"/>
            <a:ext cx="3383280" cy="2598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Sensores por MQTT</a:t>
            </a:r>
          </a:p>
          <a:p xmlns:a="http://schemas.openxmlformats.org/drawingml/2006/main">
            <a:pPr algn="l">
              <a:lnSpc>
                <a:spcPts val="2879"/>
              </a:lnSpc>
              <a:buNone/>
            </a:pPr>
            <a:r>
              <a:rPr sz="2400">
                <a:solidFill>
                  <a:srgbClr val="1F2D3A"/>
                </a:solidFill>
                <a:latin typeface="Calibri (MS)"/>
                <a:ea typeface="Calibri (MS)"/>
                <a:cs typeface="Calibri (MS)"/>
              </a:rPr>
              <a:t>SQLite local</a:t>
            </a:r>
          </a:p>
          <a:p xmlns:a="http://schemas.openxmlformats.org/drawingml/2006/main">
            <a:pPr algn="l">
              <a:lnSpc>
                <a:spcPts val="2879"/>
              </a:lnSpc>
              <a:buNone/>
            </a:pPr>
            <a:r>
              <a:rPr sz="2400">
                <a:solidFill>
                  <a:srgbClr val="1F2D3A"/>
                </a:solidFill>
                <a:latin typeface="Calibri (MS)"/>
                <a:ea typeface="Calibri (MS)"/>
                <a:cs typeface="Calibri (MS)"/>
              </a:rPr>
              <a:t>Simulador en Python del Edge Gateway Agent</a:t>
            </a:r>
          </a:p>
        </p:txBody>
      </p:sp>
      <p:sp>
        <p:nvSpPr>
          <p:cNvPr id="26" name="Freeform 26">
            <a:extLst xmlns:a="http://schemas.openxmlformats.org/drawingml/2006/main">
              <a:ext uri="{FF2B5EF4-FFF2-40B4-BE49-F238E27FC236}">
                <a16:creationId xmlns:a16="http://schemas.microsoft.com/office/drawing/2014/main" id="{F802A25E-81EF-4C1C-B7E8-FEC0BF309DDB}"/>
              </a:ext>
            </a:extLst>
          </p:cNvPr>
          <p:cNvSpPr>
            <a:spLocks xmlns:a="http://schemas.openxmlformats.org/drawingml/2006/main" noGrp="1"/>
          </p:cNvSpPr>
          <p:nvPr/>
        </p:nvSpPr>
        <p:spPr>
          <a:xfrm xmlns:a="http://schemas.openxmlformats.org/drawingml/2006/main" rot="0" flipH="0" flipV="0">
            <a:off x="5071367" y="583946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27" name="TextBox 27">
            <a:extLst xmlns:a="http://schemas.openxmlformats.org/drawingml/2006/main">
              <a:ext uri="{FF2B5EF4-FFF2-40B4-BE49-F238E27FC236}">
                <a16:creationId xmlns:a16="http://schemas.microsoft.com/office/drawing/2014/main" id="{B7FEC07E-63C2-4FEF-AAD5-2099F8AD361B}"/>
              </a:ext>
            </a:extLst>
          </p:cNvPr>
          <p:cNvSpPr>
            <a:spLocks xmlns:a="http://schemas.openxmlformats.org/drawingml/2006/main" noGrp="1"/>
          </p:cNvSpPr>
          <p:nvPr/>
        </p:nvSpPr>
        <p:spPr>
          <a:xfrm xmlns:a="http://schemas.openxmlformats.org/drawingml/2006/main">
            <a:off x="5358384" y="601599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Integraciones</a:t>
            </a:r>
          </a:p>
        </p:txBody>
      </p:sp>
      <p:sp>
        <p:nvSpPr>
          <p:cNvPr id="28" name="TextBox 28">
            <a:extLst xmlns:a="http://schemas.openxmlformats.org/drawingml/2006/main">
              <a:ext uri="{FF2B5EF4-FFF2-40B4-BE49-F238E27FC236}">
                <a16:creationId xmlns:a16="http://schemas.microsoft.com/office/drawing/2014/main" id="{864B4AE8-F548-4D04-87A7-94B01B6B52DE}"/>
              </a:ext>
            </a:extLst>
          </p:cNvPr>
          <p:cNvSpPr>
            <a:spLocks xmlns:a="http://schemas.openxmlformats.org/drawingml/2006/main" noGrp="1"/>
          </p:cNvSpPr>
          <p:nvPr/>
        </p:nvSpPr>
        <p:spPr>
          <a:xfrm xmlns:a="http://schemas.openxmlformats.org/drawingml/2006/main">
            <a:off x="5358384" y="6765036"/>
            <a:ext cx="3383280" cy="182816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Integraciones previstas: Stripe, OAuth/OIDC, Spring AI, SendGrid, FCM y WhatsApp. No todas verificadas en Sprint 1.</a:t>
            </a:r>
          </a:p>
        </p:txBody>
      </p:sp>
      <p:sp>
        <p:nvSpPr>
          <p:cNvPr id="30" name="Freeform 30">
            <a:extLst xmlns:a="http://schemas.openxmlformats.org/drawingml/2006/main">
              <a:ext uri="{FF2B5EF4-FFF2-40B4-BE49-F238E27FC236}">
                <a16:creationId xmlns:a16="http://schemas.microsoft.com/office/drawing/2014/main" id="{1F03B7E4-4C4A-45B7-AB82-E1EB6E871309}"/>
              </a:ext>
            </a:extLst>
          </p:cNvPr>
          <p:cNvSpPr>
            <a:spLocks xmlns:a="http://schemas.openxmlformats.org/drawingml/2006/main" noGrp="1"/>
          </p:cNvSpPr>
          <p:nvPr/>
        </p:nvSpPr>
        <p:spPr>
          <a:xfrm xmlns:a="http://schemas.openxmlformats.org/drawingml/2006/main" rot="0" flipH="0" flipV="0">
            <a:off x="9241031" y="583946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31" name="TextBox 31">
            <a:extLst xmlns:a="http://schemas.openxmlformats.org/drawingml/2006/main">
              <a:ext uri="{FF2B5EF4-FFF2-40B4-BE49-F238E27FC236}">
                <a16:creationId xmlns:a16="http://schemas.microsoft.com/office/drawing/2014/main" id="{C79567CD-4B27-4D2B-A34E-A46D4A0200ED}"/>
              </a:ext>
            </a:extLst>
          </p:cNvPr>
          <p:cNvSpPr>
            <a:spLocks xmlns:a="http://schemas.openxmlformats.org/drawingml/2006/main" noGrp="1"/>
          </p:cNvSpPr>
          <p:nvPr/>
        </p:nvSpPr>
        <p:spPr>
          <a:xfrm xmlns:a="http://schemas.openxmlformats.org/drawingml/2006/main">
            <a:off x="9528048" y="601599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DevOps y pruebas</a:t>
            </a:r>
          </a:p>
        </p:txBody>
      </p:sp>
      <p:sp>
        <p:nvSpPr>
          <p:cNvPr id="32" name="TextBox 32">
            <a:extLst xmlns:a="http://schemas.openxmlformats.org/drawingml/2006/main">
              <a:ext uri="{FF2B5EF4-FFF2-40B4-BE49-F238E27FC236}">
                <a16:creationId xmlns:a16="http://schemas.microsoft.com/office/drawing/2014/main" id="{E4D8B924-67DB-471B-8915-D47A56480E7A}"/>
              </a:ext>
            </a:extLst>
          </p:cNvPr>
          <p:cNvSpPr>
            <a:spLocks xmlns:a="http://schemas.openxmlformats.org/drawingml/2006/main" noGrp="1"/>
          </p:cNvSpPr>
          <p:nvPr/>
        </p:nvSpPr>
        <p:spPr>
          <a:xfrm xmlns:a="http://schemas.openxmlformats.org/drawingml/2006/main">
            <a:off x="9528048" y="6765036"/>
            <a:ext cx="3383280" cy="2598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Docker, GitHub y GitFlow, GitHub Actions</a:t>
            </a:r>
          </a:p>
          <a:p xmlns:a="http://schemas.openxmlformats.org/drawingml/2006/main">
            <a:pPr algn="l">
              <a:lnSpc>
                <a:spcPts val="2879"/>
              </a:lnSpc>
              <a:buNone/>
            </a:pPr>
            <a:r>
              <a:rPr sz="2400">
                <a:solidFill>
                  <a:srgbClr val="1F2D3A"/>
                </a:solidFill>
                <a:latin typeface="Calibri (MS)"/>
                <a:ea typeface="Calibri (MS)"/>
                <a:cs typeface="Calibri (MS)"/>
              </a:rPr>
              <a:t>JUnit 5, Mockito, Testcontainers, Cucumber, Postman</a:t>
            </a:r>
          </a:p>
        </p:txBody>
      </p:sp>
      <p:sp>
        <p:nvSpPr>
          <p:cNvPr id="34" name="Freeform 34">
            <a:extLst xmlns:a="http://schemas.openxmlformats.org/drawingml/2006/main">
              <a:ext uri="{FF2B5EF4-FFF2-40B4-BE49-F238E27FC236}">
                <a16:creationId xmlns:a16="http://schemas.microsoft.com/office/drawing/2014/main" id="{CCC775E3-3778-4F07-8B03-EACCBCE5434D}"/>
              </a:ext>
            </a:extLst>
          </p:cNvPr>
          <p:cNvSpPr>
            <a:spLocks xmlns:a="http://schemas.openxmlformats.org/drawingml/2006/main" noGrp="1"/>
          </p:cNvSpPr>
          <p:nvPr/>
        </p:nvSpPr>
        <p:spPr>
          <a:xfrm xmlns:a="http://schemas.openxmlformats.org/drawingml/2006/main" rot="0" flipH="0" flipV="0">
            <a:off x="13410695" y="5839463"/>
            <a:ext cx="3957351" cy="3683031"/>
          </a:xfrm>
          <a:custGeom xmlns:a="http://schemas.openxmlformats.org/drawingml/2006/main">
            <a:rect l="l" t="t" r="r" b="b"/>
            <a:pathLst>
              <a:path w="5276469" h="4910709">
                <a:moveTo>
                  <a:pt x="0" y="0"/>
                </a:moveTo>
                <a:lnTo>
                  <a:pt x="5276469" y="0"/>
                </a:lnTo>
                <a:lnTo>
                  <a:pt x="5276469" y="4910709"/>
                </a:lnTo>
                <a:lnTo>
                  <a:pt x="0" y="4910709"/>
                </a:lnTo>
                <a:close/>
              </a:path>
            </a:pathLst>
          </a:custGeom>
          <a:solidFill xmlns:a="http://schemas.openxmlformats.org/drawingml/2006/main">
            <a:srgbClr val="EAF3F6"/>
          </a:solidFill>
          <a:ln xmlns:a="http://schemas.openxmlformats.org/drawingml/2006/main" w="25400" cap="sq">
            <a:solidFill>
              <a:srgbClr val="EAF3F6"/>
            </a:solidFill>
            <a:prstDash val="solid"/>
            <a:miter/>
          </a:ln>
        </p:spPr>
        <p:txBody>
          <a:bodyPr xmlns:a="http://schemas.openxmlformats.org/drawingml/2006/main"/>
          <a:lstStyle xmlns:a="http://schemas.openxmlformats.org/drawingml/2006/main"/>
          <a:p xmlns:a="http://schemas.openxmlformats.org/drawingml/2006/main">
            <a:endParaRPr/>
          </a:p>
        </p:txBody>
      </p:sp>
      <p:sp>
        <p:nvSpPr>
          <p:cNvPr id="35" name="TextBox 35">
            <a:extLst xmlns:a="http://schemas.openxmlformats.org/drawingml/2006/main">
              <a:ext uri="{FF2B5EF4-FFF2-40B4-BE49-F238E27FC236}">
                <a16:creationId xmlns:a16="http://schemas.microsoft.com/office/drawing/2014/main" id="{F4F3A3AD-6BDD-4FEB-9196-D18BD0FA57C9}"/>
              </a:ext>
            </a:extLst>
          </p:cNvPr>
          <p:cNvSpPr>
            <a:spLocks xmlns:a="http://schemas.openxmlformats.org/drawingml/2006/main" noGrp="1"/>
          </p:cNvSpPr>
          <p:nvPr/>
        </p:nvSpPr>
        <p:spPr>
          <a:xfrm xmlns:a="http://schemas.openxmlformats.org/drawingml/2006/main">
            <a:off x="13697712" y="6015990"/>
            <a:ext cx="3383280" cy="7505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00"/>
              </a:lnSpc>
              <a:buNone/>
            </a:pPr>
            <a:r>
              <a:rPr sz="3000" b="1">
                <a:solidFill>
                  <a:srgbClr val="0B2A43"/>
                </a:solidFill>
                <a:latin typeface="Cambria Bold"/>
                <a:ea typeface="Cambria Bold"/>
                <a:cs typeface="Cambria Bold"/>
              </a:rPr>
              <a:t>Diseño y gestión</a:t>
            </a:r>
          </a:p>
        </p:txBody>
      </p:sp>
      <p:sp>
        <p:nvSpPr>
          <p:cNvPr id="36" name="TextBox 36">
            <a:extLst xmlns:a="http://schemas.openxmlformats.org/drawingml/2006/main">
              <a:ext uri="{FF2B5EF4-FFF2-40B4-BE49-F238E27FC236}">
                <a16:creationId xmlns:a16="http://schemas.microsoft.com/office/drawing/2014/main" id="{E049AC21-FA81-4E4C-BD03-8C232A6355F8}"/>
              </a:ext>
            </a:extLst>
          </p:cNvPr>
          <p:cNvSpPr>
            <a:spLocks xmlns:a="http://schemas.openxmlformats.org/drawingml/2006/main" noGrp="1"/>
          </p:cNvSpPr>
          <p:nvPr/>
        </p:nvSpPr>
        <p:spPr>
          <a:xfrm xmlns:a="http://schemas.openxmlformats.org/drawingml/2006/main">
            <a:off x="13697712" y="6765036"/>
            <a:ext cx="3383280" cy="2598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879"/>
              </a:lnSpc>
              <a:buNone/>
            </a:pPr>
            <a:r>
              <a:rPr sz="2400">
                <a:solidFill>
                  <a:srgbClr val="1F2D3A"/>
                </a:solidFill>
                <a:latin typeface="Calibri (MS)"/>
                <a:ea typeface="Calibri (MS)"/>
                <a:cs typeface="Calibri (MS)"/>
              </a:rPr>
              <a:t>Structurizr (C4)</a:t>
            </a:r>
          </a:p>
          <a:p xmlns:a="http://schemas.openxmlformats.org/drawingml/2006/main">
            <a:pPr algn="l">
              <a:lnSpc>
                <a:spcPts val="2879"/>
              </a:lnSpc>
              <a:buNone/>
            </a:pPr>
            <a:r>
              <a:rPr sz="2400">
                <a:solidFill>
                  <a:srgbClr val="1F2D3A"/>
                </a:solidFill>
                <a:latin typeface="Calibri (MS)"/>
                <a:ea typeface="Calibri (MS)"/>
                <a:cs typeface="Calibri (MS)"/>
              </a:rPr>
              <a:t>LucidChart y Miro (UML)</a:t>
            </a:r>
          </a:p>
          <a:p xmlns:a="http://schemas.openxmlformats.org/drawingml/2006/main">
            <a:pPr algn="l">
              <a:lnSpc>
                <a:spcPts val="2879"/>
              </a:lnSpc>
              <a:buNone/>
            </a:pPr>
            <a:r>
              <a:rPr sz="2400">
                <a:solidFill>
                  <a:srgbClr val="1F2D3A"/>
                </a:solidFill>
                <a:latin typeface="Calibri (MS)"/>
                <a:ea typeface="Calibri (MS)"/>
                <a:cs typeface="Calibri (MS)"/>
              </a:rPr>
              <a:t>UXPressia y Trello</a:t>
            </a:r>
          </a:p>
        </p:txBody>
      </p:sp>
      <p:sp>
        <p:nvSpPr>
          <p:cNvPr id="37" name="TextBox 37">
            <a:extLst xmlns:a="http://schemas.openxmlformats.org/drawingml/2006/main">
              <a:ext uri="{FF2B5EF4-FFF2-40B4-BE49-F238E27FC236}">
                <a16:creationId xmlns:a16="http://schemas.microsoft.com/office/drawing/2014/main" id="{FBBF400B-D713-4A5A-AA87-D735A0890D0B}"/>
              </a:ext>
            </a:extLst>
          </p:cNvPr>
          <p:cNvSpPr>
            <a:spLocks xmlns:a="http://schemas.openxmlformats.org/drawingml/2006/main" noGrp="1"/>
          </p:cNvSpPr>
          <p:nvPr/>
        </p:nvSpPr>
        <p:spPr>
          <a:xfrm xmlns:a="http://schemas.openxmlformats.org/drawingml/2006/main">
            <a:off x="16916400" y="9608820"/>
            <a:ext cx="731520" cy="304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00"/>
              </a:lnSpc>
              <a:buNone/>
            </a:pPr>
            <a:r>
              <a:rPr sz="2000">
                <a:solidFill>
                  <a:srgbClr val="7A8B99"/>
                </a:solidFill>
                <a:latin typeface="Calibri (MS)"/>
                <a:ea typeface="Calibri (MS)"/>
                <a:cs typeface="Calibri (MS)"/>
              </a:rPr>
              <a:t>35</a:t>
            </a:r>
          </a:p>
        </p:txBody>
      </p:sp>
      <p:sp>
        <p:nvSpPr>
          <p:cNvPr id="38" name="Tecnología: incremento y arquitectura objetiv">
            <a:extLst xmlns:a="http://schemas.openxmlformats.org/drawingml/2006/main">
              <a:ext uri="{FF2B5EF4-FFF2-40B4-BE49-F238E27FC236}">
                <a16:creationId xmlns:a16="http://schemas.microsoft.com/office/drawing/2014/main" id="{592FCEE3-BA85-4B23-9B26-F2CD5F580BAC}"/>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0B2A43"/>
                </a:solidFill>
              </a:defRPr>
            </a:defPPr>
            <a:lvl1pPr>
              <a:defRPr sz="5100" b="1">
                <a:solidFill>
                  <a:srgbClr val="0B2A43"/>
                </a:solidFill>
              </a:defRPr>
            </a:lvl1pPr>
            <a:lvl2pPr>
              <a:defRPr sz="5100" b="1">
                <a:solidFill>
                  <a:srgbClr val="0B2A43"/>
                </a:solidFill>
              </a:defRPr>
            </a:lvl2pPr>
            <a:lvl3pPr>
              <a:defRPr sz="5100" b="1">
                <a:solidFill>
                  <a:srgbClr val="0B2A43"/>
                </a:solidFill>
              </a:defRPr>
            </a:lvl3pPr>
            <a:lvl4pPr>
              <a:defRPr sz="5100" b="1">
                <a:solidFill>
                  <a:srgbClr val="0B2A43"/>
                </a:solidFill>
              </a:defRPr>
            </a:lvl4pPr>
            <a:lvl5pPr>
              <a:defRPr sz="5100" b="1">
                <a:solidFill>
                  <a:srgbClr val="0B2A43"/>
                </a:solidFill>
              </a:defRPr>
            </a:lvl5pPr>
            <a:lvl6pPr>
              <a:defRPr sz="5100" b="1">
                <a:solidFill>
                  <a:srgbClr val="0B2A43"/>
                </a:solidFill>
              </a:defRPr>
            </a:lvl6pPr>
            <a:lvl7pPr>
              <a:defRPr sz="5100" b="1">
                <a:solidFill>
                  <a:srgbClr val="0B2A43"/>
                </a:solidFill>
              </a:defRPr>
            </a:lvl7pPr>
            <a:lvl8pPr>
              <a:defRPr sz="5100" b="1">
                <a:solidFill>
                  <a:srgbClr val="0B2A43"/>
                </a:solidFill>
              </a:defRPr>
            </a:lvl8pPr>
            <a:lvl9pPr>
              <a:defRPr sz="5100" b="1">
                <a:solidFill>
                  <a:srgbClr val="0B2A43"/>
                </a:solidFill>
              </a:defRPr>
            </a:lvl9pPr>
          </a:lstStyle>
          <a:p xmlns:a="http://schemas.openxmlformats.org/drawingml/2006/main">
            <a:pPr>
              <a:defRPr sz="5100" b="1">
                <a:solidFill>
                  <a:srgbClr val="0B2A43"/>
                </a:solidFill>
              </a:defRPr>
            </a:pPr>
            <a:r>
              <a:rPr sz="5100" b="1">
                <a:solidFill>
                  <a:srgbClr val="0B2A43"/>
                </a:solidFill>
              </a:rPr>
              <a:t>Tecnología: incremento y arquitectura objetivo</a:t>
            </a:r>
          </a:p>
        </p:txBody>
      </p:sp>
    </p:spTree>
    <p:extLst>
      <p:ext uri="{BB962C8B-B14F-4D97-AF65-F5344CB8AC3E}">
        <p14:creationId xmlns:p14="http://schemas.microsoft.com/office/powerpoint/2010/main" val="563095990"/>
      </p:ext>
    </p:extLst>
  </p:cSld>
</p:sld>
</file>

<file path=ppt/slides/slide36.xml><?xml version="1.0" encoding="utf-8"?>
<p:sld xmlns:p="http://schemas.openxmlformats.org/presentationml/2006/main" show="0">
  <p:cSld>
    <p:spTree>
      <p:nvGrpSpPr>
        <p:cNvPr id="1" name=""/>
        <p:cNvGrpSpPr/>
        <p:nvPr/>
      </p:nvGrpSpPr>
      <p:grpSpPr>
        <a:xfrm xmlns:a="http://schemas.openxmlformats.org/drawingml/2006/main"/>
      </p:grpSpPr>
      <p:sp>
        <p:nvSpPr>
          <p:cNvPr id="4" name="Apoyo: visión general del dominio">
            <a:extLst xmlns:a="http://schemas.openxmlformats.org/drawingml/2006/main">
              <a:ext uri="{FF2B5EF4-FFF2-40B4-BE49-F238E27FC236}">
                <a16:creationId xmlns:a16="http://schemas.microsoft.com/office/drawing/2014/main" id="{41DA83F5-ED31-479C-806F-C9B074D75D3A}"/>
              </a:ext>
            </a:extLst>
          </p:cNvPr>
          <p:cNvSpPr>
            <a:spLocks xmlns:a="http://schemas.openxmlformats.org/drawingml/2006/main" noGrp="1"/>
          </p:cNvSpPr>
          <p:nvPr/>
        </p:nvSpPr>
        <p:spPr>
          <a:xfrm xmlns:a="http://schemas.openxmlformats.org/drawingml/2006/main">
            <a:off x="914400" y="552450"/>
            <a:ext cx="1645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1">
                <a:solidFill>
                  <a:srgbClr val="0B2A43"/>
                </a:solidFill>
              </a:defRPr>
            </a:defPPr>
            <a:lvl1pPr>
              <a:defRPr sz="5250" b="1">
                <a:solidFill>
                  <a:srgbClr val="0B2A43"/>
                </a:solidFill>
              </a:defRPr>
            </a:lvl1pPr>
            <a:lvl2pPr>
              <a:defRPr sz="5250" b="1">
                <a:solidFill>
                  <a:srgbClr val="0B2A43"/>
                </a:solidFill>
              </a:defRPr>
            </a:lvl2pPr>
            <a:lvl3pPr>
              <a:defRPr sz="5250" b="1">
                <a:solidFill>
                  <a:srgbClr val="0B2A43"/>
                </a:solidFill>
              </a:defRPr>
            </a:lvl3pPr>
            <a:lvl4pPr>
              <a:defRPr sz="5250" b="1">
                <a:solidFill>
                  <a:srgbClr val="0B2A43"/>
                </a:solidFill>
              </a:defRPr>
            </a:lvl4pPr>
            <a:lvl5pPr>
              <a:defRPr sz="5250" b="1">
                <a:solidFill>
                  <a:srgbClr val="0B2A43"/>
                </a:solidFill>
              </a:defRPr>
            </a:lvl5pPr>
            <a:lvl6pPr>
              <a:defRPr sz="5250" b="1">
                <a:solidFill>
                  <a:srgbClr val="0B2A43"/>
                </a:solidFill>
              </a:defRPr>
            </a:lvl6pPr>
            <a:lvl7pPr>
              <a:defRPr sz="5250" b="1">
                <a:solidFill>
                  <a:srgbClr val="0B2A43"/>
                </a:solidFill>
              </a:defRPr>
            </a:lvl7pPr>
            <a:lvl8pPr>
              <a:defRPr sz="5250" b="1">
                <a:solidFill>
                  <a:srgbClr val="0B2A43"/>
                </a:solidFill>
              </a:defRPr>
            </a:lvl8pPr>
            <a:lvl9pPr>
              <a:defRPr sz="5250" b="1">
                <a:solidFill>
                  <a:srgbClr val="0B2A43"/>
                </a:solidFill>
              </a:defRPr>
            </a:lvl9pPr>
          </a:lstStyle>
          <a:p xmlns:a="http://schemas.openxmlformats.org/drawingml/2006/main">
            <a:pPr>
              <a:defRPr sz="5250" b="1">
                <a:solidFill>
                  <a:srgbClr val="0B2A43"/>
                </a:solidFill>
              </a:defRPr>
            </a:pPr>
            <a:r>
              <a:rPr sz="5250" b="1">
                <a:solidFill>
                  <a:srgbClr val="0B2A43"/>
                </a:solidFill>
              </a:rPr>
              <a:t>Apoyo: visión general del dominio</a:t>
            </a:r>
          </a:p>
        </p:txBody>
      </p:sp>
      <p:pic>
        <p:nvPicPr>
          <p:cNvPr id="2" name="">
            <a:extLst xmlns:a="http://schemas.openxmlformats.org/drawingml/2006/main">
              <a:ext uri="{FF2B5EF4-FFF2-40B4-BE49-F238E27FC236}">
                <a16:creationId xmlns:a16="http://schemas.microsoft.com/office/drawing/2014/main" id="{1F340C7B-A7BC-4484-AA79-573836A30E5D}"/>
              </a:ext>
            </a:extLst>
          </p:cNvPr>
          <p:cNvPicPr>
            <a:picLocks xmlns:a="http://schemas.openxmlformats.org/drawingml/2006/main" noChangeAspect="1"/>
          </p:cNvPicPr>
          <p:nvPr/>
        </p:nvPicPr>
        <p:blipFill>
          <a:blip xmlns:r="http://schemas.openxmlformats.org/officeDocument/2006/relationships" xmlns:a="http://schemas.openxmlformats.org/drawingml/2006/main" r:embed="Re7f22053b15e445d"/>
          <a:stretch xmlns:a="http://schemas.openxmlformats.org/drawingml/2006/main"/>
        </p:blipFill>
        <p:spPr>
          <a:xfrm xmlns:a="http://schemas.openxmlformats.org/drawingml/2006/main">
            <a:off x="1817581" y="2047875"/>
            <a:ext cx="14652838" cy="7048500"/>
          </a:xfrm>
          <a:prstGeom xmlns:a="http://schemas.openxmlformats.org/drawingml/2006/main" prst="rect">
            <a:avLst/>
          </a:prstGeom>
        </p:spPr>
      </p:pic>
      <p:sp>
        <p:nvSpPr>
          <p:cNvPr id="3" name="Apoyo">
            <a:extLst xmlns:a="http://schemas.openxmlformats.org/drawingml/2006/main">
              <a:ext uri="{FF2B5EF4-FFF2-40B4-BE49-F238E27FC236}">
                <a16:creationId xmlns:a16="http://schemas.microsoft.com/office/drawing/2014/main" id="{3FB2BBD9-E0A8-44F8-9E7D-1927637C7209}"/>
              </a:ext>
            </a:extLst>
          </p:cNvPr>
          <p:cNvSpPr>
            <a:spLocks xmlns:a="http://schemas.openxmlformats.org/drawingml/2006/main" noGrp="1"/>
          </p:cNvSpPr>
          <p:nvPr/>
        </p:nvSpPr>
        <p:spPr>
          <a:xfrm xmlns:a="http://schemas.openxmlformats.org/drawingml/2006/main">
            <a:off x="16916400" y="9610725"/>
            <a:ext cx="100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A8B99"/>
                </a:solidFill>
              </a:defRPr>
            </a:defPPr>
            <a:lvl1pPr>
              <a:defRPr sz="1950" b="0">
                <a:solidFill>
                  <a:srgbClr val="7A8B99"/>
                </a:solidFill>
              </a:defRPr>
            </a:lvl1pPr>
            <a:lvl2pPr>
              <a:defRPr sz="1950" b="0">
                <a:solidFill>
                  <a:srgbClr val="7A8B99"/>
                </a:solidFill>
              </a:defRPr>
            </a:lvl2pPr>
            <a:lvl3pPr>
              <a:defRPr sz="1950" b="0">
                <a:solidFill>
                  <a:srgbClr val="7A8B99"/>
                </a:solidFill>
              </a:defRPr>
            </a:lvl3pPr>
            <a:lvl4pPr>
              <a:defRPr sz="1950" b="0">
                <a:solidFill>
                  <a:srgbClr val="7A8B99"/>
                </a:solidFill>
              </a:defRPr>
            </a:lvl4pPr>
            <a:lvl5pPr>
              <a:defRPr sz="1950" b="0">
                <a:solidFill>
                  <a:srgbClr val="7A8B99"/>
                </a:solidFill>
              </a:defRPr>
            </a:lvl5pPr>
            <a:lvl6pPr>
              <a:defRPr sz="1950" b="0">
                <a:solidFill>
                  <a:srgbClr val="7A8B99"/>
                </a:solidFill>
              </a:defRPr>
            </a:lvl6pPr>
            <a:lvl7pPr>
              <a:defRPr sz="1950" b="0">
                <a:solidFill>
                  <a:srgbClr val="7A8B99"/>
                </a:solidFill>
              </a:defRPr>
            </a:lvl7pPr>
            <a:lvl8pPr>
              <a:defRPr sz="1950" b="0">
                <a:solidFill>
                  <a:srgbClr val="7A8B99"/>
                </a:solidFill>
              </a:defRPr>
            </a:lvl8pPr>
            <a:lvl9pPr>
              <a:defRPr sz="1950" b="0">
                <a:solidFill>
                  <a:srgbClr val="7A8B99"/>
                </a:solidFill>
              </a:defRPr>
            </a:lvl9pPr>
          </a:lstStyle>
          <a:p xmlns:a="http://schemas.openxmlformats.org/drawingml/2006/main">
            <a:pPr>
              <a:defRPr sz="1950" b="0">
                <a:solidFill>
                  <a:srgbClr val="7A8B99"/>
                </a:solidFill>
              </a:defRPr>
            </a:pPr>
            <a:r>
              <a:rPr sz="1950" b="0">
                <a:solidFill>
                  <a:srgbClr val="7A8B99"/>
                </a:solidFill>
              </a:rPr>
              <a:t>Apoyo</a:t>
            </a:r>
          </a:p>
        </p:txBody>
      </p:sp>
    </p:spTree>
    <p:extLst>
      <p:ext uri="{BB962C8B-B14F-4D97-AF65-F5344CB8AC3E}">
        <p14:creationId xmlns:p14="http://schemas.microsoft.com/office/powerpoint/2010/main" val="190889861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2026-10-22T22:54:51.4320000Z</dcterms:created>
  <dcterms:modified xsi:type="dcterms:W3CDTF">2026-10-22T22:54:51.4320000Z</dcterms:modified>
</coreProperties>
</file>